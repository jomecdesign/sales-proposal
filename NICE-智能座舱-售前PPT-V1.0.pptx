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NICE SMART CABIN · 体验舱整包项目 · 售前方案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NICE 智能座舱体验舱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515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把华翔的核心技术，变成观众</a:t>
            </a:r>
            <a:r>
              <a:rPr sz="240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记得住的品牌体验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297680"/>
            <a:ext cx="2926080" cy="18288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1:1 可进入 · 可试乘 · 可交互 · 可循环演示 · 可持续迭代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上海卓迈 JOMEC</a:t>
            </a:r>
            <a:r>
              <a:rPr sz="11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   |     首展目标 2027.04 上海车展     |     2026.06     |     机密·仅限指定收件方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64008" cy="91440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47088"/>
            <a:ext cx="12801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856231"/>
            <a:ext cx="45720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命题与答案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56231"/>
            <a:ext cx="5120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为什么做 · 体验舱概念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16352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16352"/>
            <a:ext cx="64008" cy="91440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26080"/>
            <a:ext cx="12801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35224"/>
            <a:ext cx="45720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四大体验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935224"/>
            <a:ext cx="5120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S1–S4 沉浸场景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95344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895344"/>
            <a:ext cx="64008" cy="9144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05072"/>
            <a:ext cx="12801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C87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014215"/>
            <a:ext cx="45720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凭什么是我们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014215"/>
            <a:ext cx="5120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一站式能力 · 标杆案例 · 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74336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974336"/>
            <a:ext cx="64008" cy="91440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84064"/>
            <a:ext cx="12801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093207"/>
            <a:ext cx="45720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如何交付与合作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093207"/>
            <a:ext cx="5120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计划 · 风险 · 商务 · 下一步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2926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1B2A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82296" cy="100584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为什么做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892040"/>
            <a:ext cx="9144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WHY NICE,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NICE 智能座舱体验舱 · 售前方案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2027,华翔站上车展中央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THE STAGE &amp; THE 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01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64008" cy="320040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2743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舞台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926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2027 上海车展及全球巡展。同台的是 CES 与一线展商——这是一场关于"技术领先形象"的较量。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37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64008" cy="320040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65960"/>
            <a:ext cx="2743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97480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诉求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46120"/>
            <a:ext cx="2926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华翔要的不是一台静态模型，而是一个能被观众记住、能对外讲述的品牌体验与技术名片。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64008" cy="320040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2743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命题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46120"/>
            <a:ext cx="2926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把健康监测、智能表面、空气与舒适等核心零部件技术，变成可进入、可交互、可循环的体验。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华翔不缺技术，缺的是把技术"演成体验"的舞台能力。</a:t>
            </a:r>
            <a:r>
              <a:rPr sz="16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 这正是我们要交付的价值。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我们的答案:1:1 智能座舱体验舱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OUR ANSWER · THE EXPERIENCE CABIN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01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937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主题:</a:t>
            </a: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健康舒适 + 智能表面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862072"/>
            <a:ext cx="128016" cy="12801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可进入 — 支持 4 人同时试乘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456432"/>
            <a:ext cx="128016" cy="12801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79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可试乘 — 4 套零重力座椅(前排含 180° 旋转)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050791"/>
            <a:ext cx="128016" cy="128016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977639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可交互 — 语音 + 多屏触控 + 实体按键多模态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645152"/>
            <a:ext cx="128016" cy="12801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57200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可循环 — 日连续运行 ≥10 小时无 A 类故障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239512"/>
            <a:ext cx="128016" cy="12801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16636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可迭代 — 预留扩展，支撑后续全球巡展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737360"/>
            <a:ext cx="4754880" cy="4206240"/>
          </a:xfrm>
          <a:prstGeom prst="roundRect">
            <a:avLst>
              <a:gd name="adj" fmla="val 4000"/>
            </a:avLst>
          </a:prstGeom>
          <a:solidFill>
            <a:srgbClr val="0F1426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47548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〔 体验舱效果图占位 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6908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建议替换为造型渲染图 / 案例实拍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2926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1B2A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82296" cy="100584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体验什么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892040"/>
            <a:ext cx="9144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FOUR IMMERSIVE 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NICE 智能座舱体验舱 · 售前方案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一次进入,四重惊艳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ONE ENTRY, FOUR WOW MOMENTS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02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5120640" cy="1874519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64008" cy="1874519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38528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2024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S1 </a:t>
            </a: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迎宾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993391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79"/>
            <a:ext cx="82296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4572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走近即点亮——星河迎宾 + 氛围灯流水 + 星空天幕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5120640" cy="1874519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64008" cy="1874519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92024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S2 </a:t>
            </a: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健康舒适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1993391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2011679"/>
            <a:ext cx="82296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51760"/>
            <a:ext cx="4572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坐下被照顾——零重力 + 健康可视化 + 全车加热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86200"/>
            <a:ext cx="5120640" cy="1874519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886200"/>
            <a:ext cx="64008" cy="1874519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87368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06908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C87DFF"/>
                </a:solidFill>
                <a:latin typeface="Arial"/>
                <a:ea typeface="Arial"/>
                <a:cs typeface="Arial"/>
              </a:rPr>
              <a:t>S3 </a:t>
            </a: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智能表面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14223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160520"/>
            <a:ext cx="82296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00600"/>
            <a:ext cx="4572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无屏即屏——IMSE 膜 + 自发光缝线 + 材质质感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86200"/>
            <a:ext cx="5120640" cy="1874519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886200"/>
            <a:ext cx="64008" cy="1874519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87368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069080"/>
            <a:ext cx="2743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S4 </a:t>
            </a: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智能空间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414223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4160520"/>
            <a:ext cx="82296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00600"/>
            <a:ext cx="4572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一键变形——Console 展开 + 座椅 180° 旋转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S1 迎宾场景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WELCOME · THE RITUAL OF ARRIVAL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02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9144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932688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P0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4114800" cy="420624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64008" cy="420624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观众感受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36576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人还没走到车边，整舱已经"醒来"——这是品牌给观众的第一声问候。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核心技术:</a:t>
            </a:r>
            <a:r>
              <a:rPr sz="12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星空天幕 · P-HUD 迎宾动画 · 氛围灯迎宾模式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83080"/>
            <a:ext cx="5943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系统响应序列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2286000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304288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04288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P-HUD 播放带字标星河迎宾动画(15–20s)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2999232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017520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017520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整车氛围灯由外向内渐亮，暖白→品牌色，≥8 分区流水</a:t>
            </a:r>
          </a:p>
        </p:txBody>
      </p:sp>
      <p:sp>
        <p:nvSpPr>
          <p:cNvPr id="22" name="Oval 21"/>
          <p:cNvSpPr/>
          <p:nvPr/>
        </p:nvSpPr>
        <p:spPr>
          <a:xfrm>
            <a:off x="5212080" y="3712464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730752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730752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发光字标点亮 + 星空天幕(光纤)激活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4425696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24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443983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443983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语音播报「您好，欢迎乘坐 NICE 智能座舱」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S2 健康舒适场景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HEALTH &amp; COMFORT · BEING CARED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02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9144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932688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P0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4114800" cy="420624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64008" cy="420624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观众感受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36576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一坐下，座舱就开始"照顾"你——把健康监测变成看得见的安心。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核心技术:</a:t>
            </a:r>
            <a:r>
              <a:rPr sz="12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健康监测可视化 · 零重力座椅 · 全车加热 · 空气净化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83080"/>
            <a:ext cx="5943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系统响应序列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2286000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304288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04288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健康监测采集(甲供摄像头数据源，乙方域控取流)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2999232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017520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017520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魔术屏/PAD/吸顶屏显示红外画面 + 心率/HRV/血压/血氧</a:t>
            </a:r>
          </a:p>
        </p:txBody>
      </p:sp>
      <p:sp>
        <p:nvSpPr>
          <p:cNvPr id="22" name="Oval 21"/>
          <p:cNvSpPr/>
          <p:nvPr/>
        </p:nvSpPr>
        <p:spPr>
          <a:xfrm>
            <a:off x="5212080" y="3712464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730752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730752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座椅自动进入零重力(靠背 + 腿托联动)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4425696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443983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443983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全车加热膜分区控温(≤70℃) + 空调富氧净化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S3 智能表面场景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SMART SURFACE · TECH IN THE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02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9144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932688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P1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4114800" cy="420624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64008" cy="420624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观众感受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36576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所有屏幕熄灭的那一刻，科技藏进了材料本身——"无屏即屏"。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核心技术:</a:t>
            </a:r>
            <a:r>
              <a:rPr sz="12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IMSE 膜 · 自发光缝线 · 真木/真铝/碳纤维饰条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83080"/>
            <a:ext cx="5943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系统响应序列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2286000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C8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304288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7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04288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P-HUD/魔术屏/吸顶屏全部熄屏，体现消隐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2999232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C8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017520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7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017520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星空顶关闭、扬声器下降收纳</a:t>
            </a:r>
          </a:p>
        </p:txBody>
      </p:sp>
      <p:sp>
        <p:nvSpPr>
          <p:cNvPr id="22" name="Oval 21"/>
          <p:cNvSpPr/>
          <p:nvPr/>
        </p:nvSpPr>
        <p:spPr>
          <a:xfrm>
            <a:off x="5212080" y="3712464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C8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730752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7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730752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IMSE 膜激活(隐藏触控 + 背光图案)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4425696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C8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443983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7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443983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自发光缝线独立发光 + 多材质饰条低光质感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S4 智能空间场景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SMART SPACE · THE CABIN TRANSFORMS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02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9144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00B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932688"/>
            <a:ext cx="9144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P1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4114800" cy="420624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64008" cy="420624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3566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1BDF"/>
                </a:solidFill>
                <a:latin typeface="微软雅黑"/>
                <a:ea typeface="微软雅黑"/>
                <a:cs typeface="微软雅黑"/>
              </a:rPr>
              <a:t>观众感受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365760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方向盘收起、座椅转身、中控展开——座舱在你眼前"变形"成第三空间。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核心技术:</a:t>
            </a:r>
            <a:r>
              <a:rPr sz="12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Console 组合机构 · 方向盘伸缩 · 座椅旋转 · 吸顶屏联动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83080"/>
            <a:ext cx="5943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系统响应序列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2286000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304288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04288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Console Body1 旋转出 + Body2 滑出展开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2999232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017520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017520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方向盘向前/上折叠收缩(模拟 L4 接管)</a:t>
            </a:r>
          </a:p>
        </p:txBody>
      </p:sp>
      <p:sp>
        <p:nvSpPr>
          <p:cNvPr id="22" name="Oval 21"/>
          <p:cNvSpPr/>
          <p:nvPr/>
        </p:nvSpPr>
        <p:spPr>
          <a:xfrm>
            <a:off x="5212080" y="3712464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730752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730752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前排座椅 180° 旋转面向后排(≤15s，有提示音)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4425696"/>
            <a:ext cx="384048" cy="384048"/>
          </a:xfrm>
          <a:prstGeom prst="ellipse">
            <a:avLst/>
          </a:prstGeom>
          <a:solidFill>
            <a:srgbClr val="0F1426"/>
          </a:solidFill>
          <a:ln w="15240">
            <a:solidFill>
              <a:srgbClr val="5A1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443983"/>
            <a:ext cx="38404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1B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443983"/>
            <a:ext cx="55778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吸顶屏旋转 + 后排屏接管 + P-HUD 切自动驾驶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2926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1B2A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82296" cy="100584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凭什么是我们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892040"/>
            <a:ext cx="9144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WHY JOMEC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NICE 智能座舱体验舱 · 售前方案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国内唯一第三方"一站式"智能座舱开发商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ONE-STOP COCKPIT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03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1627632" cy="109728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627632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造型设计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148840"/>
            <a:ext cx="274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60904" y="1920240"/>
            <a:ext cx="1627632" cy="109728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0904" y="2103120"/>
            <a:ext cx="1627632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UX / 交互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148840"/>
            <a:ext cx="274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4568" y="1920240"/>
            <a:ext cx="1627632" cy="109728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103120"/>
            <a:ext cx="1627632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软硬件开发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48840"/>
            <a:ext cx="274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8231" y="1920240"/>
            <a:ext cx="1627632" cy="109728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103120"/>
            <a:ext cx="1627632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机电机构
(自有专利)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3" y="2148840"/>
            <a:ext cx="274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11896" y="1920240"/>
            <a:ext cx="1627632" cy="109728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103120"/>
            <a:ext cx="1627632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模型试制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148840"/>
            <a:ext cx="274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920240"/>
            <a:ext cx="1627632" cy="109728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2103120"/>
            <a:ext cx="1627632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智能总成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六环闭环 = 一支队伍打通设计到交付，责任清晰、协同零内耗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023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251960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纯模型厂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00600"/>
            <a:ext cx="29260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只做外壳，不懂电气/软件/机构集成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023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251960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纯集成商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800600"/>
            <a:ext cx="29260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能拼系统，但缺造型与体验设计基因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02336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7D3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4023360"/>
            <a:ext cx="64008" cy="18288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251960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卓迈 JOMEC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00600"/>
            <a:ext cx="29260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造型 + 工程 + 软硬件 + 机构 + 总成一体，且有红点获奖同类座舱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标杆①:iX-2024 —— 红点奖座舱,几乎就是 NICE 同款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BENCHMARK · iX-2024 RED DOT AWARD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03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0F1426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5120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〔 iX-2024 座舱实拍占位 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9659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F1426"/>
          </a:solidFill>
          <a:ln w="12700">
            <a:solidFill>
              <a:srgbClr val="C8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84248"/>
            <a:ext cx="237744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🏆 2024 德国红点概念设计大奖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64008" cy="420624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D3CFF"/>
                </a:solidFill>
                <a:latin typeface="微软雅黑"/>
                <a:ea typeface="微软雅黑"/>
                <a:cs typeface="微软雅黑"/>
              </a:rPr>
              <a:t>与 NICE 高度重合的功能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578608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514600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智能健康监测方向盘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090672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026664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前排可旋转座椅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602736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538728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后排零重力座椅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114800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050791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电动升降音响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626864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562856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隐藏式电动长滑轨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138928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5074920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智能移动副仪表盘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53212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客户:常熟汽饰</a:t>
            </a:r>
            <a:r>
              <a:rPr sz="10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〔客户名先标〕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标杆②③:从国家级舞台到复杂总成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BENCHMARK · APOLLO &amp; MARINE COCKPIT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03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64008" cy="420624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百度 Apollo 无人驾驶机器人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卓迈承担底盘改制·造型·工程·智能硬件集成·HMI·样车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264408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央视《百度世界》直播亮相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13048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2022 冬奥会火炬手传递圣火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361688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80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十三五科技会议受习近平主席检阅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910328"/>
            <a:ext cx="118872" cy="118872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作品被北京汽车博物馆收藏陈列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3736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37360"/>
            <a:ext cx="64008" cy="420624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船舶智慧驾驶舱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高度智能化船舶驾驶舱，复杂总成集成标杆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264408"/>
            <a:ext cx="118872" cy="118872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200400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七屏智能中枢 + 数字孪生(国内首创)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813048"/>
            <a:ext cx="118872" cy="118872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749039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人脸识别 / 手势 / 无感健康监测 / AI 语音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361688"/>
            <a:ext cx="118872" cy="118872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297680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滑动方向舵 · 智慧海图桌 · 180° 旋转座椅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910328"/>
            <a:ext cx="118872" cy="118872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846320"/>
            <a:ext cx="43891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多通道安全冗余 + 自适应氛围灯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更多案例与生态背书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PORTFOLIO &amp;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03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5120640" cy="1024128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64008" cy="10241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83664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JoySpace+ 沉浸座舱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40864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客户:均胜电子 · 折叠方向盘/星空顶/电子后视镜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120640" cy="1024128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64008" cy="1024128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83664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德赛西威 Smart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40864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全息 + AR-HUD + 游戏座舱解决方案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26080"/>
            <a:ext cx="5120640" cy="1024128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926080"/>
            <a:ext cx="64008" cy="1024128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072384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银河未来空间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29584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无人驾驶概念 · 可旋转移动座椅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26080"/>
            <a:ext cx="5120640" cy="1024128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64008" cy="1024128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72384"/>
            <a:ext cx="4663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隐藏式椅背磁吸总成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29584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JOMEC 自有专利 · 客户:捷豹路虎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战略资源 / 生态合作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5488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92040"/>
            <a:ext cx="1965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丰田通商
世界 500 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53512" y="475488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53512" y="4892040"/>
            <a:ext cx="1965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科思创
高科技材料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84064" y="475488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4064" y="4892040"/>
            <a:ext cx="1965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百度生态
燎原计划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14616" y="475488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14616" y="4892040"/>
            <a:ext cx="1965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CP-VELA
工程服务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45168" y="4754880"/>
            <a:ext cx="1965960" cy="105156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5168" y="4892040"/>
            <a:ext cx="1965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成立 2011
5 大基地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做大总包的底气:团队与产能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TEAM &amp;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03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核心团队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5486400" cy="804672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11680"/>
            <a:ext cx="64008" cy="80467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30552"/>
            <a:ext cx="14630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严 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30552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中国美院客座教授 · 创新领军 · 江苏双创人才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44368"/>
            <a:ext cx="5486400" cy="804672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44368"/>
            <a:ext cx="64008" cy="80467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14630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徐康聪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63240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德国布伦瑞克博士后 · 两获中国汽车工业科学进步奖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77056"/>
            <a:ext cx="5486400" cy="804672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877056"/>
            <a:ext cx="64008" cy="80467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995928"/>
            <a:ext cx="14630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黄 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995928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前泛亚汽车技术中心设计执行总监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09744"/>
            <a:ext cx="5486400" cy="804672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09744"/>
            <a:ext cx="64008" cy="804672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928616"/>
            <a:ext cx="14630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德籍设计总监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928616"/>
            <a:ext cx="36576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前 EDAG 资深设计师 · 服务宝马/奥迪/大众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五大基地 · 四大中心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075688"/>
            <a:ext cx="128016" cy="12801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01168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上海 — </a:t>
            </a: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前瞻中心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642616"/>
            <a:ext cx="128016" cy="12801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578608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昆山 — </a:t>
            </a: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创新研发 &amp; 试制中心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209544"/>
            <a:ext cx="128016" cy="128016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145536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柳州 — </a:t>
            </a: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数字化中心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776472"/>
            <a:ext cx="128016" cy="128016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3712464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杭州 — </a:t>
            </a: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JOMEC &amp; CAA 联合工作室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343400"/>
            <a:ext cx="128016" cy="12801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279392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宁波 — </a:t>
            </a: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产品生产基地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5029200"/>
            <a:ext cx="4663440" cy="77724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7D3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5029200"/>
            <a:ext cx="64008" cy="77724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5138928"/>
            <a:ext cx="4297680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造型 / 产品 / 运营 / 试制 </a:t>
            </a:r>
            <a:r>
              <a:rPr sz="12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四中心 + 总工程师，IATF16949 体系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承诺有出处:工程硬实力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ENGINEERING CREDIBILITY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03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64008" cy="182880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93391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4572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六层架构 + CAN FD 五域 + 硬件安全回路(独立于软件)，量产级方法治理复杂度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64008" cy="182880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993391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模块测试台架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4572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总线/线束/氛围灯/机构/多屏/散热/多模态/识别 全项联调——支撑"≥10h、100 次、一键复位"承诺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40479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840479"/>
            <a:ext cx="64008" cy="182880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59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096511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机电机构专利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79"/>
            <a:ext cx="4572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伸缩折叠方向盘已装车联调过整车测试 · 隐藏长滑轨/椅背磁吸自有专利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79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840479"/>
            <a:ext cx="64008" cy="182880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023359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096511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A1BDF"/>
                </a:solidFill>
                <a:latin typeface="微软雅黑"/>
                <a:ea typeface="微软雅黑"/>
                <a:cs typeface="微软雅黑"/>
              </a:rPr>
              <a:t>IATF16949 + V 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54879"/>
            <a:ext cx="4572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产品与软件双流程体系，交付有纪律、过程可追溯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2926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1B2A5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82296" cy="100584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如何交付与合作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892040"/>
            <a:ext cx="9144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DELIVERY &amp; PARTNERSHIP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NICE 智能座舱体验舱 · 售前方案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 周,交付确定性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30-WEEK DELIVERY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04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2026.07.01 启动 → 2027.01 终验收 · 并行工程 · 测试 W18 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1557866" cy="310896"/>
          </a:xfrm>
          <a:prstGeom prst="rect">
            <a:avLst/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75104"/>
            <a:ext cx="155786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0D5E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80826" y="1965960"/>
            <a:ext cx="1557866" cy="310896"/>
          </a:xfrm>
          <a:prstGeom prst="rect">
            <a:avLst/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0826" y="1975104"/>
            <a:ext cx="155786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0D5E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8693" y="1965960"/>
            <a:ext cx="1557866" cy="310896"/>
          </a:xfrm>
          <a:prstGeom prst="rect">
            <a:avLst/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8693" y="1975104"/>
            <a:ext cx="155786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0D5E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96560" y="1965960"/>
            <a:ext cx="1557866" cy="310896"/>
          </a:xfrm>
          <a:prstGeom prst="rect">
            <a:avLst/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6560" y="1975104"/>
            <a:ext cx="155786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0D5E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4426" y="1965960"/>
            <a:ext cx="1557866" cy="310896"/>
          </a:xfrm>
          <a:prstGeom prst="rect">
            <a:avLst/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4426" y="1975104"/>
            <a:ext cx="155786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0D5E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12293" y="1965960"/>
            <a:ext cx="1557866" cy="310896"/>
          </a:xfrm>
          <a:prstGeom prst="rect">
            <a:avLst/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2293" y="1975104"/>
            <a:ext cx="1557866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0D5E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70160" y="1965960"/>
            <a:ext cx="1168400" cy="310896"/>
          </a:xfrm>
          <a:prstGeom prst="rect">
            <a:avLst/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0160" y="1975104"/>
            <a:ext cx="116840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0D5E2"/>
                </a:solidFill>
                <a:latin typeface="Arial"/>
                <a:ea typeface="Arial"/>
                <a:cs typeface="Arial"/>
              </a:rPr>
              <a:t>2027.01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514600"/>
            <a:ext cx="1463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造型/CAS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2587752"/>
            <a:ext cx="4659782" cy="237744"/>
          </a:xfrm>
          <a:prstGeom prst="round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990088"/>
            <a:ext cx="1463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硬件开发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94329" y="3063240"/>
            <a:ext cx="6631228" cy="237744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465576"/>
            <a:ext cx="1463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软件开发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1219" y="3538728"/>
            <a:ext cx="7168896" cy="237744"/>
          </a:xfrm>
          <a:prstGeom prst="round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41064"/>
            <a:ext cx="1463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展车模型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9664" y="4014216"/>
            <a:ext cx="7168896" cy="23774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416552"/>
            <a:ext cx="1463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动画/交互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" y="4489704"/>
            <a:ext cx="6452006" cy="237744"/>
          </a:xfrm>
          <a:prstGeom prst="round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92040"/>
            <a:ext cx="1463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测试(前置)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54112" y="4965192"/>
            <a:ext cx="3584448" cy="23774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4983480" y="2423160"/>
            <a:ext cx="164592" cy="164592"/>
          </a:xfrm>
          <a:prstGeom prst="diamond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25696" y="5532120"/>
            <a:ext cx="1280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M4 骨架
9-30</a:t>
            </a:r>
          </a:p>
        </p:txBody>
      </p:sp>
      <p:sp>
        <p:nvSpPr>
          <p:cNvPr id="37" name="Diamond 36"/>
          <p:cNvSpPr/>
          <p:nvPr/>
        </p:nvSpPr>
        <p:spPr>
          <a:xfrm>
            <a:off x="8209483" y="2423160"/>
            <a:ext cx="164592" cy="164592"/>
          </a:xfrm>
          <a:prstGeom prst="diamond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51699" y="5532120"/>
            <a:ext cx="1280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M6 预验收
12-23</a:t>
            </a:r>
          </a:p>
        </p:txBody>
      </p:sp>
      <p:sp>
        <p:nvSpPr>
          <p:cNvPr id="39" name="Diamond 38"/>
          <p:cNvSpPr/>
          <p:nvPr/>
        </p:nvSpPr>
        <p:spPr>
          <a:xfrm>
            <a:off x="10628985" y="2423160"/>
            <a:ext cx="164592" cy="164592"/>
          </a:xfrm>
          <a:prstGeom prst="diamond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1201" y="5532120"/>
            <a:ext cx="1280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M7 终验收
1-20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◆ 里程碑 · 执行计划口径(合同关键节点以正式合同为准)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风险,我们已经想到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RISK, ANTICIPATED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04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64008" cy="1828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38528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3F5E"/>
                </a:solidFill>
                <a:latin typeface="Arial"/>
                <a:ea typeface="Arial"/>
                <a:cs typeface="Arial"/>
              </a:rPr>
              <a:t>⚠  </a:t>
            </a: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座椅 180° 旋转安全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39"/>
            <a:ext cx="4572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3F5E"/>
                </a:solidFill>
                <a:latin typeface="微软雅黑"/>
                <a:ea typeface="微软雅黑"/>
                <a:cs typeface="微软雅黑"/>
              </a:rPr>
              <a:t>应对:</a:t>
            </a: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机械+电气双限位、提示音、≥100 次可靠性测试、现场工程师待命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64008" cy="182880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38528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⚠  </a:t>
            </a: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多屏多设备联动稳定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39"/>
            <a:ext cx="4572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46BFF"/>
                </a:solidFill>
                <a:latin typeface="微软雅黑"/>
                <a:ea typeface="微软雅黑"/>
                <a:cs typeface="微软雅黑"/>
              </a:rPr>
              <a:t>应对:</a:t>
            </a: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域控算力留余量、异步解耦、单场景压测后联调、视频备用兜底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40479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840479"/>
            <a:ext cx="64008" cy="182880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41647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⚠  </a:t>
            </a: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健康数据真实性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09159"/>
            <a:ext cx="4572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应对:</a:t>
            </a: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方案阶段定 A/B 边界，实测不稳即用模拟数据替代(书面确认)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79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79"/>
            <a:ext cx="64008" cy="182880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041647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87DFF"/>
                </a:solidFill>
                <a:latin typeface="Arial"/>
                <a:ea typeface="Arial"/>
                <a:cs typeface="Arial"/>
              </a:rPr>
              <a:t>⚠  </a:t>
            </a: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展会断电恢复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59"/>
            <a:ext cx="4572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应对:</a:t>
            </a:r>
            <a:r>
              <a:rPr sz="12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断电自锁 + 上电自动回零 + 参数记忆，≤5 分钟恢复可演示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不是一次性,而是可迭代平台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A PLATFORM, NOT A ONE-OFF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04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64008" cy="137160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246888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首展
2027 上海车展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23160"/>
            <a:ext cx="27432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9456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194560"/>
            <a:ext cx="64008" cy="137160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60"/>
            <a:ext cx="246888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增项改造
≥2 次(功能/产品替换)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23160"/>
            <a:ext cx="27432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9456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194560"/>
            <a:ext cx="64008" cy="137160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246888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软件迭代
OTA 持续升级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423160"/>
            <a:ext cx="27432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9456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142652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94560"/>
            <a:ext cx="64008" cy="1371600"/>
          </a:xfrm>
          <a:prstGeom prst="rect">
            <a:avLst/>
          </a:prstGeom>
          <a:solidFill>
            <a:srgbClr val="5A1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423160"/>
            <a:ext cx="246888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全球巡展
持续对外传播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一次投入，长期资产。</a:t>
            </a:r>
            <a:r>
              <a:rPr sz="15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体验舱预留扩展、产品替换与软件迭代接口，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既是 2027 首展的名片，也是华翔面向未来车展的可持续品牌平台。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82296" cy="566928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36576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商务与服务范围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9264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COMMERCIAL &amp; SERVICE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04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325880"/>
            <a:ext cx="10972800" cy="10972"/>
          </a:xfrm>
          <a:prstGeom prst="rect">
            <a:avLst/>
          </a:prstGeom>
          <a:solidFill>
            <a:srgbClr val="2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微软雅黑"/>
                <a:ea typeface="微软雅黑"/>
                <a:cs typeface="微软雅黑"/>
              </a:rPr>
              <a:t>服务承诺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29967"/>
            <a:ext cx="128016" cy="12801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免费质保期 ≥ 1 年(非人为损坏免费维修)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78608"/>
            <a:ext cx="128016" cy="12801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展会驻场 ≥ 2 名工程师 · A 类故障响应 ≤15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27247"/>
            <a:ext cx="128016" cy="128016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39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远程支持 7×24 · 响应 ≤2 小时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675887"/>
            <a:ext cx="128016" cy="12801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79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质保期内免费软件迭代 ≤3 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224528"/>
            <a:ext cx="128016" cy="128016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6052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关键易损件供应保障 ≥3 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773168"/>
            <a:ext cx="128016" cy="128016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0916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质保期内展会现场支持(不少于 10 次 / 16 天)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920240"/>
            <a:ext cx="4754880" cy="365760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1920240"/>
            <a:ext cx="64008" cy="3657600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103120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报价结构(占位)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97480"/>
            <a:ext cx="2926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造型与 CMF 设计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2743200"/>
            <a:ext cx="1005840" cy="237744"/>
          </a:xfrm>
          <a:prstGeom prst="rect">
            <a:avLst/>
          </a:prstGeom>
          <a:solidFill>
            <a:srgbClr val="0F1426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743200"/>
            <a:ext cx="100584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〔 待报 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118104"/>
            <a:ext cx="2926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工程与展车制作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163824"/>
            <a:ext cx="1005840" cy="237744"/>
          </a:xfrm>
          <a:prstGeom prst="rect">
            <a:avLst/>
          </a:prstGeom>
          <a:solidFill>
            <a:srgbClr val="0F1426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163824"/>
            <a:ext cx="100584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〔 待报 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538728"/>
            <a:ext cx="2926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电子电器与机构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3584448"/>
            <a:ext cx="1005840" cy="237744"/>
          </a:xfrm>
          <a:prstGeom prst="rect">
            <a:avLst/>
          </a:prstGeom>
          <a:solidFill>
            <a:srgbClr val="0F1426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3584448"/>
            <a:ext cx="100584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〔 待报 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959352"/>
            <a:ext cx="2926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软件 / HMI / 集成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4005072"/>
            <a:ext cx="1005840" cy="237744"/>
          </a:xfrm>
          <a:prstGeom prst="rect">
            <a:avLst/>
          </a:prstGeom>
          <a:solidFill>
            <a:srgbClr val="0F1426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4005072"/>
            <a:ext cx="100584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〔 待报 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379976"/>
            <a:ext cx="2926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动画与传播内容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4425696"/>
            <a:ext cx="1005840" cy="237744"/>
          </a:xfrm>
          <a:prstGeom prst="rect">
            <a:avLst/>
          </a:prstGeom>
          <a:solidFill>
            <a:srgbClr val="0F1426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4425696"/>
            <a:ext cx="100584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〔 待报 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800600"/>
            <a:ext cx="2926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0D5E2"/>
                </a:solidFill>
                <a:latin typeface="微软雅黑"/>
                <a:ea typeface="微软雅黑"/>
                <a:cs typeface="微软雅黑"/>
              </a:rPr>
              <a:t>展会保障与售后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4846320"/>
            <a:ext cx="1005840" cy="237744"/>
          </a:xfrm>
          <a:prstGeom prst="rect">
            <a:avLst/>
          </a:prstGeom>
          <a:solidFill>
            <a:srgbClr val="0F1426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4846320"/>
            <a:ext cx="100584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〔 待报 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25780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* 详细报价与付款里程碑另行提供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卓迈 JOMEC</a:t>
            </a:r>
            <a:r>
              <a:rPr sz="900" b="0" i="0">
                <a:solidFill>
                  <a:srgbClr val="373B46"/>
                </a:solidFill>
                <a:latin typeface="微软雅黑"/>
                <a:ea typeface="微软雅黑"/>
                <a:cs typeface="微软雅黑"/>
              </a:rPr>
              <a:t>  ·  NICE 智能座舱体验舱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5566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73B46"/>
                </a:solidFill>
                <a:latin typeface="Arial"/>
                <a:ea typeface="Arial"/>
                <a:cs typeface="Arial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D3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下一步,一起把它做出来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3291840" cy="155448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64008" cy="1554480"/>
          </a:xfrm>
          <a:prstGeom prst="rect">
            <a:avLst/>
          </a:prstGeom>
          <a:solidFill>
            <a:srgbClr val="24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46B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项目启动会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26280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确认需求、甲乙供边界、项目计划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291840"/>
            <a:ext cx="3291840" cy="155448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3291840"/>
            <a:ext cx="64008" cy="1554480"/>
          </a:xfrm>
          <a:prstGeom prst="rect">
            <a:avLst/>
          </a:prstGeom>
          <a:solidFill>
            <a:srgbClr val="00B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474720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0B5E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69080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甲供件样件移交计划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526280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明确清单/状态/到货时间(T0 冻结)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291840"/>
            <a:ext cx="3291840" cy="1554480"/>
          </a:xfrm>
          <a:prstGeom prst="roundRect">
            <a:avLst>
              <a:gd name="adj" fmla="val 4000"/>
            </a:avLst>
          </a:prstGeom>
          <a:solidFill>
            <a:srgbClr val="102044"/>
          </a:solidFill>
          <a:ln w="12700">
            <a:solidFill>
              <a:srgbClr val="2B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291840"/>
            <a:ext cx="64008" cy="1554480"/>
          </a:xfrm>
          <a:prstGeom prst="rect">
            <a:avLst/>
          </a:prstGeom>
          <a:solidFill>
            <a:srgbClr val="C8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914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87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69080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决策时间线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26280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锁定关键节点，启动并行工程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上海卓迈汽车技术有限公司  JOMEC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EBAD6"/>
                </a:solidFill>
                <a:latin typeface="微软雅黑"/>
                <a:ea typeface="微软雅黑"/>
                <a:cs typeface="微软雅黑"/>
              </a:rPr>
              <a:t>严 艇 17740838008  tim@jomecdesign.com    |    李成龙 15000763365  jason@jomecdesign.com    |    www.jomec-auto.com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87DFF"/>
                </a:solidFill>
                <a:latin typeface="微软雅黑"/>
                <a:ea typeface="微软雅黑"/>
                <a:cs typeface="微软雅黑"/>
              </a:rPr>
              <a:t>THANK YOU · 期待与华翔共同打造 NICE 智能座舱体验舱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
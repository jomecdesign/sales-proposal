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Relationship Id="rId4" Type="http://schemas.openxmlformats.org/officeDocument/2006/relationships/image" Target="../media/image18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1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27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071433"/>
              </a:gs>
              <a:gs pos="100000">
                <a:srgbClr val="1A1240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760720" y="-457200"/>
            <a:ext cx="4114800" cy="4114800"/>
          </a:xfrm>
          <a:prstGeom prst="ellipse">
            <a:avLst/>
          </a:prstGeom>
          <a:noFill/>
          <a:ln w="12700">
            <a:solidFill>
              <a:srgbClr val="24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949440" y="1280160"/>
            <a:ext cx="3291840" cy="3291840"/>
          </a:xfrm>
          <a:prstGeom prst="ellipse">
            <a:avLst/>
          </a:prstGeom>
          <a:noFill/>
          <a:ln w="12700">
            <a:solidFill>
              <a:srgbClr val="5A1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736592"/>
            <a:ext cx="9144000" cy="10972"/>
          </a:xfrm>
          <a:prstGeom prst="rect">
            <a:avLst/>
          </a:prstGeom>
          <a:solidFill>
            <a:srgbClr val="24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0" y="0"/>
            <a:ext cx="10972" cy="5143500"/>
          </a:xfrm>
          <a:prstGeom prst="rect">
            <a:avLst/>
          </a:prstGeom>
          <a:solidFill>
            <a:srgbClr val="162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36208" y="0"/>
            <a:ext cx="10972" cy="5143500"/>
          </a:xfrm>
          <a:prstGeom prst="rect">
            <a:avLst/>
          </a:prstGeom>
          <a:solidFill>
            <a:srgbClr val="162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03136" y="0"/>
            <a:ext cx="10972" cy="5143500"/>
          </a:xfrm>
          <a:prstGeom prst="rect">
            <a:avLst/>
          </a:prstGeom>
          <a:solidFill>
            <a:srgbClr val="162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70064" y="0"/>
            <a:ext cx="10972" cy="5143500"/>
          </a:xfrm>
          <a:prstGeom prst="rect">
            <a:avLst/>
          </a:prstGeom>
          <a:solidFill>
            <a:srgbClr val="162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36992" y="0"/>
            <a:ext cx="10972" cy="5143500"/>
          </a:xfrm>
          <a:prstGeom prst="rect">
            <a:avLst/>
          </a:prstGeom>
          <a:solidFill>
            <a:srgbClr val="162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03920" y="0"/>
            <a:ext cx="10972" cy="5143500"/>
          </a:xfrm>
          <a:prstGeom prst="rect">
            <a:avLst/>
          </a:prstGeom>
          <a:solidFill>
            <a:srgbClr val="162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7D3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5061204"/>
            <a:ext cx="9144000" cy="82296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987552"/>
            <a:ext cx="73152" cy="457200"/>
          </a:xfrm>
          <a:prstGeom prst="rect">
            <a:avLst/>
          </a:prstGeom>
          <a:solidFill>
            <a:srgbClr val="00B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960120"/>
            <a:ext cx="731520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0B5E3"/>
                </a:solidFill>
                <a:latin typeface="Arial"/>
                <a:ea typeface="Arial"/>
                <a:cs typeface="Arial"/>
              </a:rPr>
              <a:t>JOMEC ｜ 卓迈   ·   智能座舱创新 DEMO 样机解决方案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1554480"/>
            <a:ext cx="4937760" cy="13716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把硬件优势,变成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主机厂面前的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100" b="1" i="0">
                <a:solidFill>
                  <a:srgbClr val="C87DFF"/>
                </a:solidFill>
                <a:latin typeface="微软雅黑"/>
                <a:ea typeface="微软雅黑"/>
                <a:cs typeface="微软雅黑"/>
              </a:rPr>
              <a:t>体验话语权</a:t>
            </a:r>
          </a:p>
        </p:txBody>
      </p:sp>
      <p:pic>
        <p:nvPicPr>
          <p:cNvPr id="17" name="Picture 16" descr="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417320"/>
            <a:ext cx="3566160" cy="2468880"/>
          </a:xfrm>
          <a:prstGeom prst="rect">
            <a:avLst/>
          </a:prstGeom>
          <a:ln w="15240">
            <a:solidFill>
              <a:srgbClr val="354680"/>
            </a:solidFill>
          </a:ln>
          <a:effectLst>
            <a:outerShdw blurRad="80000" dist="30000" dir="5400000" rotWithShape="0">
              <a:srgbClr val="17244A">
                <a:alpha val="78000"/>
              </a:srgbClr>
            </a:outerShdw>
          </a:effectLst>
        </p:spPr>
      </p:pic>
      <p:sp>
        <p:nvSpPr>
          <p:cNvPr id="18" name="TextBox 17"/>
          <p:cNvSpPr txBox="1"/>
          <p:nvPr/>
        </p:nvSpPr>
        <p:spPr>
          <a:xfrm>
            <a:off x="5120640" y="3913632"/>
            <a:ext cx="356616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00B5E3"/>
                </a:solidFill>
                <a:latin typeface="微软雅黑"/>
                <a:ea typeface="微软雅黑"/>
                <a:cs typeface="微软雅黑"/>
              </a:rPr>
              <a:t>卓迈 iX-2024 · 红点奖座舱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383280"/>
            <a:ext cx="457200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NICE 智能座舱体验舱 · 整包样机方案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3840480"/>
            <a:ext cx="2377440" cy="22860"/>
          </a:xfrm>
          <a:prstGeom prst="rect">
            <a:avLst/>
          </a:prstGeom>
          <a:solidFill>
            <a:srgbClr val="35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160520"/>
            <a:ext cx="457200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呈送:宁波华翔</a:t>
            </a:r>
            <a:r>
              <a:rPr sz="1100" b="0" i="0">
                <a:solidFill>
                  <a:srgbClr val="959FB5"/>
                </a:solidFill>
                <a:latin typeface="微软雅黑"/>
                <a:ea typeface="微软雅黑"/>
                <a:cs typeface="微软雅黑"/>
              </a:rPr>
              <a:t>   面向 Tier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590288"/>
            <a:ext cx="804672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959FB5"/>
                </a:solidFill>
                <a:latin typeface="微软雅黑"/>
                <a:ea typeface="微软雅黑"/>
                <a:cs typeface="微软雅黑"/>
              </a:rPr>
              <a:t>上海卓迈 JOMEC   |   2026.06   |   机密·仅限指定收件方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gradFill>
            <a:gsLst>
              <a:gs pos="0">
                <a:srgbClr val="0A1A3D"/>
              </a:gs>
              <a:gs pos="100000">
                <a:srgbClr val="1B448E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841248" cy="841248"/>
          </a:xfrm>
          <a:prstGeom prst="rect">
            <a:avLst/>
          </a:prstGeom>
          <a:solidFill>
            <a:srgbClr val="0A1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0"/>
            <a:ext cx="41148" cy="841248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841248" cy="8412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146304"/>
            <a:ext cx="6766560" cy="4114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目录:六段旅程,一条完整说服链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48640"/>
            <a:ext cx="6766560" cy="2286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8FB2F0"/>
                </a:solidFill>
                <a:latin typeface="Arial"/>
                <a:ea typeface="Arial"/>
                <a:cs typeface="Arial"/>
              </a:rPr>
              <a:t>CONTENTS · THE WINNING PATH</a:t>
            </a:r>
          </a:p>
        </p:txBody>
      </p:sp>
      <p:sp>
        <p:nvSpPr>
          <p:cNvPr id="9" name="Oval 8"/>
          <p:cNvSpPr/>
          <p:nvPr/>
        </p:nvSpPr>
        <p:spPr>
          <a:xfrm>
            <a:off x="7818120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64424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110728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57032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03336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49640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818120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964424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110728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57032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03336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49640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818120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964424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110728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57032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403336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549640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836676"/>
            <a:ext cx="9144000" cy="27432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02920" y="1097280"/>
            <a:ext cx="4023360" cy="9326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3"/>
            </a:solidFill>
          </a:ln>
          <a:effectLst>
            <a:outerShdw blurRad="80000" dist="30000" dir="5400000" rotWithShape="0">
              <a:srgbClr val="17244A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2648" y="1097280"/>
            <a:ext cx="3803904" cy="45720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49807" y="1261872"/>
            <a:ext cx="603504" cy="603504"/>
          </a:xfrm>
          <a:prstGeom prst="ellipse">
            <a:avLst/>
          </a:prstGeom>
          <a:gradFill>
            <a:gsLst>
              <a:gs pos="0">
                <a:srgbClr val="246BFF"/>
              </a:gs>
              <a:gs pos="100000">
                <a:srgbClr val="5A1BDF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w-14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648" y="1406712"/>
            <a:ext cx="313822" cy="31382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490472" y="1243584"/>
            <a:ext cx="237744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46BFF"/>
                </a:solidFill>
                <a:latin typeface="Arial"/>
                <a:ea typeface="Arial"/>
                <a:cs typeface="Arial"/>
              </a:rPr>
              <a:t>01  </a:t>
            </a:r>
            <a:r>
              <a:rPr sz="1400" b="1" i="0">
                <a:solidFill>
                  <a:srgbClr val="0A1A3D"/>
                </a:solidFill>
                <a:latin typeface="微软雅黑"/>
                <a:ea typeface="微软雅黑"/>
                <a:cs typeface="微软雅黑"/>
              </a:rPr>
              <a:t>你的处境与机会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90472" y="1645919"/>
            <a:ext cx="2926080" cy="3200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主机厂要求抬升 · L1→L4 能力阶梯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17720" y="1097280"/>
            <a:ext cx="4023360" cy="9326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3"/>
            </a:solidFill>
          </a:ln>
          <a:effectLst>
            <a:outerShdw blurRad="80000" dist="30000" dir="5400000" rotWithShape="0">
              <a:srgbClr val="17244A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727448" y="1097280"/>
            <a:ext cx="3803904" cy="45720"/>
          </a:xfrm>
          <a:prstGeom prst="rect">
            <a:avLst/>
          </a:prstGeom>
          <a:solidFill>
            <a:srgbClr val="00B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864607" y="1261872"/>
            <a:ext cx="603504" cy="603504"/>
          </a:xfrm>
          <a:prstGeom prst="ellipse">
            <a:avLst/>
          </a:prstGeom>
          <a:gradFill>
            <a:gsLst>
              <a:gs pos="0">
                <a:srgbClr val="00B5E3"/>
              </a:gs>
              <a:gs pos="100000">
                <a:srgbClr val="246BFF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w-26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9448" y="1406712"/>
            <a:ext cx="313822" cy="313822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605272" y="1243584"/>
            <a:ext cx="237744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0B5E3"/>
                </a:solidFill>
                <a:latin typeface="Arial"/>
                <a:ea typeface="Arial"/>
                <a:cs typeface="Arial"/>
              </a:rPr>
              <a:t>02  </a:t>
            </a:r>
            <a:r>
              <a:rPr sz="1400" b="1" i="0">
                <a:solidFill>
                  <a:srgbClr val="0A1A3D"/>
                </a:solidFill>
                <a:latin typeface="微软雅黑"/>
                <a:ea typeface="微软雅黑"/>
                <a:cs typeface="微软雅黑"/>
              </a:rPr>
              <a:t>我们是谁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05272" y="1645919"/>
            <a:ext cx="2926080" cy="3200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一站式责任主体 · 德系×中国速度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2194560"/>
            <a:ext cx="4023360" cy="9326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3"/>
            </a:solidFill>
          </a:ln>
          <a:effectLst>
            <a:outerShdw blurRad="80000" dist="30000" dir="5400000" rotWithShape="0">
              <a:srgbClr val="17244A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2648" y="2194560"/>
            <a:ext cx="3803904" cy="45720"/>
          </a:xfrm>
          <a:prstGeom prst="rect">
            <a:avLst/>
          </a:prstGeom>
          <a:solidFill>
            <a:srgbClr val="7D3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49807" y="2359152"/>
            <a:ext cx="603504" cy="603504"/>
          </a:xfrm>
          <a:prstGeom prst="ellipse">
            <a:avLst/>
          </a:prstGeom>
          <a:gradFill>
            <a:gsLst>
              <a:gs pos="0">
                <a:srgbClr val="7D3CFF"/>
              </a:gs>
              <a:gs pos="100000">
                <a:srgbClr val="5A1BDF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w-8-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648" y="2503992"/>
            <a:ext cx="313822" cy="313822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490472" y="2340864"/>
            <a:ext cx="237744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7D3CFF"/>
                </a:solidFill>
                <a:latin typeface="Arial"/>
                <a:ea typeface="Arial"/>
                <a:cs typeface="Arial"/>
              </a:rPr>
              <a:t>03  </a:t>
            </a:r>
            <a:r>
              <a:rPr sz="1400" b="1" i="0">
                <a:solidFill>
                  <a:srgbClr val="0A1A3D"/>
                </a:solidFill>
                <a:latin typeface="微软雅黑"/>
                <a:ea typeface="微软雅黑"/>
                <a:cs typeface="微软雅黑"/>
              </a:rPr>
              <a:t>样机解决方案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90472" y="2743200"/>
            <a:ext cx="2926080" cy="3200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样机真假 · 量产级工程底座 · 专利库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617720" y="2194560"/>
            <a:ext cx="4023360" cy="9326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3"/>
            </a:solidFill>
          </a:ln>
          <a:effectLst>
            <a:outerShdw blurRad="80000" dist="30000" dir="5400000" rotWithShape="0">
              <a:srgbClr val="17244A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727448" y="2194560"/>
            <a:ext cx="3803904" cy="45720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864607" y="2359152"/>
            <a:ext cx="603504" cy="603504"/>
          </a:xfrm>
          <a:prstGeom prst="ellipse">
            <a:avLst/>
          </a:prstGeom>
          <a:gradFill>
            <a:gsLst>
              <a:gs pos="0">
                <a:srgbClr val="246BFF"/>
              </a:gs>
              <a:gs pos="100000">
                <a:srgbClr val="00B5E3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w-19-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9448" y="2503992"/>
            <a:ext cx="313822" cy="313822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5605272" y="2340864"/>
            <a:ext cx="237744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46BFF"/>
                </a:solidFill>
                <a:latin typeface="Arial"/>
                <a:ea typeface="Arial"/>
                <a:cs typeface="Arial"/>
              </a:rPr>
              <a:t>04  </a:t>
            </a:r>
            <a:r>
              <a:rPr sz="1400" b="1" i="0">
                <a:solidFill>
                  <a:srgbClr val="0A1A3D"/>
                </a:solidFill>
                <a:latin typeface="微软雅黑"/>
                <a:ea typeface="微软雅黑"/>
                <a:cs typeface="微软雅黑"/>
              </a:rPr>
              <a:t>落到 NICE 体验舱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05272" y="2743200"/>
            <a:ext cx="2926080" cy="3200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4 场景 · 系统架构 · 30 周计划 · 商务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02920" y="3291839"/>
            <a:ext cx="4023360" cy="9326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3"/>
            </a:solidFill>
          </a:ln>
          <a:effectLst>
            <a:outerShdw blurRad="80000" dist="30000" dir="5400000" rotWithShape="0">
              <a:srgbClr val="17244A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12648" y="3291839"/>
            <a:ext cx="3803904" cy="45720"/>
          </a:xfrm>
          <a:prstGeom prst="rect">
            <a:avLst/>
          </a:prstGeom>
          <a:solidFill>
            <a:srgbClr val="00B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49807" y="3456431"/>
            <a:ext cx="603504" cy="603504"/>
          </a:xfrm>
          <a:prstGeom prst="ellipse">
            <a:avLst/>
          </a:prstGeom>
          <a:gradFill>
            <a:gsLst>
              <a:gs pos="0">
                <a:srgbClr val="00B5E3"/>
              </a:gs>
              <a:gs pos="100000">
                <a:srgbClr val="246BFF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w-22-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4648" y="3601272"/>
            <a:ext cx="313822" cy="313822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490472" y="3438144"/>
            <a:ext cx="237744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0B5E3"/>
                </a:solidFill>
                <a:latin typeface="Arial"/>
                <a:ea typeface="Arial"/>
                <a:cs typeface="Arial"/>
              </a:rPr>
              <a:t>05  </a:t>
            </a:r>
            <a:r>
              <a:rPr sz="1400" b="1" i="0">
                <a:solidFill>
                  <a:srgbClr val="0A1A3D"/>
                </a:solidFill>
                <a:latin typeface="微软雅黑"/>
                <a:ea typeface="微软雅黑"/>
                <a:cs typeface="微软雅黑"/>
              </a:rPr>
              <a:t>验证过的赢法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490472" y="3840479"/>
            <a:ext cx="2926080" cy="3200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案例证据链 · 红点/宝马/Apollo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617720" y="3291839"/>
            <a:ext cx="4023360" cy="9326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3"/>
            </a:solidFill>
          </a:ln>
          <a:effectLst>
            <a:outerShdw blurRad="80000" dist="30000" dir="5400000" rotWithShape="0">
              <a:srgbClr val="17244A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727448" y="3291839"/>
            <a:ext cx="3803904" cy="45720"/>
          </a:xfrm>
          <a:prstGeom prst="rect">
            <a:avLst/>
          </a:prstGeom>
          <a:solidFill>
            <a:srgbClr val="5A1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4864607" y="3456431"/>
            <a:ext cx="603504" cy="603504"/>
          </a:xfrm>
          <a:prstGeom prst="ellipse">
            <a:avLst/>
          </a:prstGeom>
          <a:gradFill>
            <a:gsLst>
              <a:gs pos="0">
                <a:srgbClr val="5A1BDF"/>
              </a:gs>
              <a:gs pos="100000">
                <a:srgbClr val="7D3CFF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w-30-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9448" y="3601272"/>
            <a:ext cx="313822" cy="313822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5605272" y="3438144"/>
            <a:ext cx="237744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A1BDF"/>
                </a:solidFill>
                <a:latin typeface="Arial"/>
                <a:ea typeface="Arial"/>
                <a:cs typeface="Arial"/>
              </a:rPr>
              <a:t>06  </a:t>
            </a:r>
            <a:r>
              <a:rPr sz="1400" b="1" i="0">
                <a:solidFill>
                  <a:srgbClr val="0A1A3D"/>
                </a:solidFill>
                <a:latin typeface="微软雅黑"/>
                <a:ea typeface="微软雅黑"/>
                <a:cs typeface="微软雅黑"/>
              </a:rPr>
              <a:t>你将得到什么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05272" y="3840479"/>
            <a:ext cx="2926080" cy="3200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12 个月后状态 · 投资逻辑 · 下一步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02920" y="4846320"/>
            <a:ext cx="8138160" cy="10972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22960" y="4873752"/>
            <a:ext cx="6400800" cy="21945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6A7896"/>
                </a:solidFill>
                <a:latin typeface="微软雅黑"/>
                <a:ea typeface="微软雅黑"/>
                <a:cs typeface="微软雅黑"/>
              </a:rPr>
              <a:t>卓迈 JOMEC</a:t>
            </a:r>
            <a:r>
              <a:rPr sz="800" b="0" i="0">
                <a:solidFill>
                  <a:srgbClr val="959FB5"/>
                </a:solidFill>
                <a:latin typeface="微软雅黑"/>
                <a:ea typeface="微软雅黑"/>
                <a:cs typeface="微软雅黑"/>
              </a:rPr>
              <a:t>  ·  NICE 智能座舱体验舱 · 把硬件优势变成体验话语权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955279" y="4873752"/>
            <a:ext cx="685800" cy="21945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6A789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0B1024"/>
              </a:gs>
              <a:gs pos="100000">
                <a:srgbClr val="16123A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760720" y="-457200"/>
            <a:ext cx="4114800" cy="4114800"/>
          </a:xfrm>
          <a:prstGeom prst="ellipse">
            <a:avLst/>
          </a:prstGeom>
          <a:noFill/>
          <a:ln w="12700">
            <a:solidFill>
              <a:srgbClr val="24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949440" y="1280160"/>
            <a:ext cx="3291840" cy="3291840"/>
          </a:xfrm>
          <a:prstGeom prst="ellipse">
            <a:avLst/>
          </a:prstGeom>
          <a:noFill/>
          <a:ln w="12700">
            <a:solidFill>
              <a:srgbClr val="5A1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736592"/>
            <a:ext cx="9144000" cy="10972"/>
          </a:xfrm>
          <a:prstGeom prst="rect">
            <a:avLst/>
          </a:prstGeom>
          <a:solidFill>
            <a:srgbClr val="24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0" y="0"/>
            <a:ext cx="10972" cy="5143500"/>
          </a:xfrm>
          <a:prstGeom prst="rect">
            <a:avLst/>
          </a:prstGeom>
          <a:solidFill>
            <a:srgbClr val="162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36208" y="0"/>
            <a:ext cx="10972" cy="5143500"/>
          </a:xfrm>
          <a:prstGeom prst="rect">
            <a:avLst/>
          </a:prstGeom>
          <a:solidFill>
            <a:srgbClr val="162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03136" y="0"/>
            <a:ext cx="10972" cy="5143500"/>
          </a:xfrm>
          <a:prstGeom prst="rect">
            <a:avLst/>
          </a:prstGeom>
          <a:solidFill>
            <a:srgbClr val="162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70064" y="0"/>
            <a:ext cx="10972" cy="5143500"/>
          </a:xfrm>
          <a:prstGeom prst="rect">
            <a:avLst/>
          </a:prstGeom>
          <a:solidFill>
            <a:srgbClr val="162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36992" y="0"/>
            <a:ext cx="10972" cy="5143500"/>
          </a:xfrm>
          <a:prstGeom prst="rect">
            <a:avLst/>
          </a:prstGeom>
          <a:solidFill>
            <a:srgbClr val="162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03920" y="0"/>
            <a:ext cx="10972" cy="5143500"/>
          </a:xfrm>
          <a:prstGeom prst="rect">
            <a:avLst/>
          </a:prstGeom>
          <a:solidFill>
            <a:srgbClr val="162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0" y="274320"/>
            <a:ext cx="3657600" cy="32918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0" b="1" i="0">
                <a:solidFill>
                  <a:srgbClr val="16244E"/>
                </a:solidFill>
                <a:latin typeface="Arial Black"/>
                <a:ea typeface="Arial Black"/>
                <a:cs typeface="Arial Black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777240"/>
            <a:ext cx="274320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7D3CFF"/>
                </a:solidFill>
                <a:latin typeface="Arial"/>
                <a:ea typeface="Arial"/>
                <a:cs typeface="Arial"/>
              </a:rPr>
              <a:t>PART 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463040"/>
            <a:ext cx="73152" cy="1371600"/>
          </a:xfrm>
          <a:prstGeom prst="rect">
            <a:avLst/>
          </a:prstGeom>
          <a:solidFill>
            <a:srgbClr val="7D3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1371600"/>
            <a:ext cx="731520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0B5E3"/>
                </a:solidFill>
                <a:latin typeface="Arial"/>
                <a:ea typeface="Arial"/>
                <a:cs typeface="Arial"/>
              </a:rPr>
              <a:t>THE NEW STANDARD FROM OEMs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1783080"/>
            <a:ext cx="7680960" cy="8229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你的处境与机会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2971800"/>
            <a:ext cx="6949440" cy="914400"/>
          </a:xfrm>
          <a:prstGeom prst="roundRect">
            <a:avLst>
              <a:gd name="adj" fmla="val 8000"/>
            </a:avLst>
          </a:prstGeom>
          <a:solidFill>
            <a:srgbClr val="10224A"/>
          </a:solidFill>
          <a:ln w="9525">
            <a:solidFill>
              <a:srgbClr val="2B3A66"/>
            </a:solidFill>
          </a:ln>
          <a:effectLst>
            <a:outerShdw blurRad="80000" dist="30000" dir="5400000" rotWithShape="0">
              <a:srgbClr val="17244A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8680" y="3044952"/>
            <a:ext cx="54864" cy="768096"/>
          </a:xfrm>
          <a:prstGeom prst="rect">
            <a:avLst/>
          </a:prstGeom>
          <a:solidFill>
            <a:srgbClr val="00B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568" y="2971800"/>
            <a:ext cx="6583680" cy="9144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主机厂正把『用户体验创新』写进定点评判标准,并向内外饰一级供应商传导。补齐『前瞻造型—交互—电子软硬件—可落地样机』这条能力链,已不是加分项,而是守住订单的前提。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gradFill>
            <a:gsLst>
              <a:gs pos="0">
                <a:srgbClr val="0A1A3D"/>
              </a:gs>
              <a:gs pos="100000">
                <a:srgbClr val="1B448E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841248" cy="841248"/>
          </a:xfrm>
          <a:prstGeom prst="rect">
            <a:avLst/>
          </a:prstGeom>
          <a:solidFill>
            <a:srgbClr val="0A1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0"/>
            <a:ext cx="41148" cy="841248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841248" cy="8412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146304"/>
            <a:ext cx="6766560" cy="4114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行业拐点:主机厂要求,从『供零件』走向『供体验』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48640"/>
            <a:ext cx="6766560" cy="2286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8FB2F0"/>
                </a:solidFill>
                <a:latin typeface="Arial"/>
                <a:ea typeface="Arial"/>
                <a:cs typeface="Arial"/>
              </a:rPr>
              <a:t>THE BAR IS RISING</a:t>
            </a:r>
          </a:p>
        </p:txBody>
      </p:sp>
      <p:sp>
        <p:nvSpPr>
          <p:cNvPr id="9" name="Oval 8"/>
          <p:cNvSpPr/>
          <p:nvPr/>
        </p:nvSpPr>
        <p:spPr>
          <a:xfrm>
            <a:off x="7818120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64424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110728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57032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03336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49640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818120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964424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110728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57032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03336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49640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818120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964424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110728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57032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403336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549640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836676"/>
            <a:ext cx="9144000" cy="27432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02920" y="987552"/>
            <a:ext cx="8138160" cy="548640"/>
          </a:xfrm>
          <a:prstGeom prst="roundRect">
            <a:avLst>
              <a:gd name="adj" fmla="val 12000"/>
            </a:avLst>
          </a:prstGeom>
          <a:solidFill>
            <a:srgbClr val="F5F8FD"/>
          </a:solidFill>
          <a:ln w="9525">
            <a:solidFill>
              <a:srgbClr val="E2E8F3"/>
            </a:solidFill>
          </a:ln>
          <a:effectLst>
            <a:outerShdw blurRad="50000" dist="18000" dir="5400000" rotWithShape="0">
              <a:srgbClr val="17244A">
                <a:alpha val="8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1060704"/>
            <a:ext cx="54864" cy="402335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" y="987552"/>
            <a:ext cx="7772400" cy="5486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46BFF"/>
                </a:solidFill>
                <a:latin typeface="微软雅黑"/>
                <a:ea typeface="微软雅黑"/>
                <a:cs typeface="微软雅黑"/>
              </a:rPr>
              <a:t>趋势 · </a:t>
            </a:r>
            <a:r>
              <a:rPr sz="100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老轮机长贴着机舱壁一听就知道哪个缸不对——主机厂的『耳朵』也在变:从听质量,到听你懂不懂体验。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1719072"/>
            <a:ext cx="1938528" cy="21214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3"/>
            </a:solidFill>
          </a:ln>
          <a:effectLst>
            <a:outerShdw blurRad="80000" dist="30000" dir="5400000" rotWithShape="0">
              <a:srgbClr val="17244A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648" y="1719072"/>
            <a:ext cx="1719072" cy="45720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1865376"/>
            <a:ext cx="1572768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246BFF"/>
                </a:solidFill>
                <a:latin typeface="Arial Black"/>
                <a:ea typeface="Arial Black"/>
                <a:cs typeface="Arial Black"/>
              </a:rPr>
              <a:t>L1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2359152"/>
            <a:ext cx="1572768" cy="3200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A1A3D"/>
                </a:solidFill>
                <a:latin typeface="微软雅黑"/>
                <a:ea typeface="微软雅黑"/>
                <a:cs typeface="微软雅黑"/>
              </a:rPr>
              <a:t>供零件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2724912"/>
            <a:ext cx="1572768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按图交付合格零部件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3419856"/>
            <a:ext cx="1572768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246BFF"/>
                </a:solidFill>
                <a:latin typeface="微软雅黑"/>
                <a:ea typeface="微软雅黑"/>
                <a:cs typeface="微软雅黑"/>
              </a:rPr>
              <a:t>成本·质量·交期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587752" y="1719072"/>
            <a:ext cx="1938528" cy="21214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3"/>
            </a:solidFill>
          </a:ln>
          <a:effectLst>
            <a:outerShdw blurRad="80000" dist="30000" dir="5400000" rotWithShape="0">
              <a:srgbClr val="17244A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697480" y="1719072"/>
            <a:ext cx="1719072" cy="45720"/>
          </a:xfrm>
          <a:prstGeom prst="rect">
            <a:avLst/>
          </a:prstGeom>
          <a:solidFill>
            <a:srgbClr val="00B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70632" y="1865376"/>
            <a:ext cx="1572768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00B5E3"/>
                </a:solidFill>
                <a:latin typeface="Arial Black"/>
                <a:ea typeface="Arial Black"/>
                <a:cs typeface="Arial Black"/>
              </a:rPr>
              <a:t>L2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70632" y="2359152"/>
            <a:ext cx="1572768" cy="3200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A1A3D"/>
                </a:solidFill>
                <a:latin typeface="微软雅黑"/>
                <a:ea typeface="微软雅黑"/>
                <a:cs typeface="微软雅黑"/>
              </a:rPr>
              <a:t>供模块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70632" y="2724912"/>
            <a:ext cx="1572768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交付集成化总成模块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70632" y="3419856"/>
            <a:ext cx="1572768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00B5E3"/>
                </a:solidFill>
                <a:latin typeface="微软雅黑"/>
                <a:ea typeface="微软雅黑"/>
                <a:cs typeface="微软雅黑"/>
              </a:rPr>
              <a:t>集成度·可靠性·降本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672584" y="1719072"/>
            <a:ext cx="1938528" cy="21214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3"/>
            </a:solidFill>
          </a:ln>
          <a:effectLst>
            <a:outerShdw blurRad="80000" dist="30000" dir="5400000" rotWithShape="0">
              <a:srgbClr val="17244A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782312" y="1719072"/>
            <a:ext cx="1719072" cy="45720"/>
          </a:xfrm>
          <a:prstGeom prst="rect">
            <a:avLst/>
          </a:prstGeom>
          <a:solidFill>
            <a:srgbClr val="7D3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672584" y="1719072"/>
            <a:ext cx="1938528" cy="2121408"/>
          </a:xfrm>
          <a:prstGeom prst="roundRect">
            <a:avLst>
              <a:gd name="adj" fmla="val 5000"/>
            </a:avLst>
          </a:prstGeom>
          <a:noFill/>
          <a:ln w="17780">
            <a:solidFill>
              <a:srgbClr val="7D3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55464" y="1865376"/>
            <a:ext cx="1572768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7D3CFF"/>
                </a:solidFill>
                <a:latin typeface="Arial Black"/>
                <a:ea typeface="Arial Black"/>
                <a:cs typeface="Arial Black"/>
              </a:rPr>
              <a:t>L3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55464" y="2359152"/>
            <a:ext cx="1572768" cy="3200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A1A3D"/>
                </a:solidFill>
                <a:latin typeface="微软雅黑"/>
                <a:ea typeface="微软雅黑"/>
                <a:cs typeface="微软雅黑"/>
              </a:rPr>
              <a:t>供体验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55464" y="2724912"/>
            <a:ext cx="1572768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参与定义座舱体验创新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55464" y="3419856"/>
            <a:ext cx="1572768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7D3CFF"/>
                </a:solidFill>
                <a:latin typeface="微软雅黑"/>
                <a:ea typeface="微软雅黑"/>
                <a:cs typeface="微软雅黑"/>
              </a:rPr>
              <a:t>前瞻造型·交互·电子·机构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757416" y="1719072"/>
            <a:ext cx="1938528" cy="21214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3"/>
            </a:solidFill>
          </a:ln>
          <a:effectLst>
            <a:outerShdw blurRad="80000" dist="30000" dir="5400000" rotWithShape="0">
              <a:srgbClr val="17244A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867144" y="1719072"/>
            <a:ext cx="1719072" cy="45720"/>
          </a:xfrm>
          <a:prstGeom prst="rect">
            <a:avLst/>
          </a:prstGeom>
          <a:solidFill>
            <a:srgbClr val="5A1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757416" y="1719072"/>
            <a:ext cx="1938528" cy="2121408"/>
          </a:xfrm>
          <a:prstGeom prst="roundRect">
            <a:avLst>
              <a:gd name="adj" fmla="val 5000"/>
            </a:avLst>
          </a:prstGeom>
          <a:noFill/>
          <a:ln w="17780">
            <a:solidFill>
              <a:srgbClr val="7D3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40296" y="1865376"/>
            <a:ext cx="1572768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5A1BDF"/>
                </a:solidFill>
                <a:latin typeface="Arial Black"/>
                <a:ea typeface="Arial Black"/>
                <a:cs typeface="Arial Black"/>
              </a:rPr>
              <a:t>L4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40296" y="2359152"/>
            <a:ext cx="1572768" cy="3200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A1A3D"/>
                </a:solidFill>
                <a:latin typeface="微软雅黑"/>
                <a:ea typeface="微软雅黑"/>
                <a:cs typeface="微软雅黑"/>
              </a:rPr>
              <a:t>供创新合作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40296" y="2724912"/>
            <a:ext cx="1572768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成为主机厂共创伙伴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40296" y="3419856"/>
            <a:ext cx="1572768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5A1BDF"/>
                </a:solidFill>
                <a:latin typeface="微软雅黑"/>
                <a:ea typeface="微软雅黑"/>
                <a:cs typeface="微软雅黑"/>
              </a:rPr>
              <a:t>主导话题·带样机进评审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02920" y="3986784"/>
            <a:ext cx="8138160" cy="585216"/>
          </a:xfrm>
          <a:prstGeom prst="roundRect">
            <a:avLst>
              <a:gd name="adj" fmla="val 12000"/>
            </a:avLst>
          </a:prstGeom>
          <a:gradFill>
            <a:gsLst>
              <a:gs pos="0">
                <a:srgbClr val="0A1A3D"/>
              </a:gs>
              <a:gs pos="100000">
                <a:srgbClr val="291C5E"/>
              </a:gs>
            </a:gsLst>
            <a:lin ang="0" scaled="1"/>
          </a:gradFill>
          <a:ln>
            <a:noFill/>
          </a:ln>
          <a:effectLst>
            <a:outerShdw blurRad="80000" dist="30000" dir="5400000" rotWithShape="0">
              <a:srgbClr val="17244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02920" y="4114800"/>
            <a:ext cx="54864" cy="329184"/>
          </a:xfrm>
          <a:prstGeom prst="rect">
            <a:avLst/>
          </a:prstGeom>
          <a:solidFill>
            <a:srgbClr val="00B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95528" y="3986784"/>
            <a:ext cx="7589520" cy="58521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华翔今天正卡在 L2 → L3 的台阶上</a:t>
            </a:r>
            <a:r>
              <a:rPr sz="1100" b="0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  制造与模块能力扎实,但『供体验』所需的综合能力,正是缺口。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2920" y="4846320"/>
            <a:ext cx="8138160" cy="10972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22960" y="4873752"/>
            <a:ext cx="6400800" cy="21945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6A7896"/>
                </a:solidFill>
                <a:latin typeface="微软雅黑"/>
                <a:ea typeface="微软雅黑"/>
                <a:cs typeface="微软雅黑"/>
              </a:rPr>
              <a:t>卓迈 JOMEC</a:t>
            </a:r>
            <a:r>
              <a:rPr sz="800" b="0" i="0">
                <a:solidFill>
                  <a:srgbClr val="959FB5"/>
                </a:solidFill>
                <a:latin typeface="微软雅黑"/>
                <a:ea typeface="微软雅黑"/>
                <a:cs typeface="微软雅黑"/>
              </a:rPr>
              <a:t>  ·  NICE 智能座舱体验舱 · 把硬件优势变成体验话语权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955279" y="4873752"/>
            <a:ext cx="685800" cy="21945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6A789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gradFill>
            <a:gsLst>
              <a:gs pos="0">
                <a:srgbClr val="0A1A3D"/>
              </a:gs>
              <a:gs pos="100000">
                <a:srgbClr val="1B448E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841248" cy="841248"/>
          </a:xfrm>
          <a:prstGeom prst="rect">
            <a:avLst/>
          </a:prstGeom>
          <a:solidFill>
            <a:srgbClr val="0A1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0"/>
            <a:ext cx="41148" cy="841248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841248" cy="8412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146304"/>
            <a:ext cx="6766560" cy="4114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迈向『供体验』:你要补齐的四块 + 一个保障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48640"/>
            <a:ext cx="6766560" cy="2286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8FB2F0"/>
                </a:solidFill>
                <a:latin typeface="Arial"/>
                <a:ea typeface="Arial"/>
                <a:cs typeface="Arial"/>
              </a:rPr>
              <a:t>THE GAP &amp; HOW JOMEC FILLS IT</a:t>
            </a:r>
          </a:p>
        </p:txBody>
      </p:sp>
      <p:sp>
        <p:nvSpPr>
          <p:cNvPr id="9" name="Oval 8"/>
          <p:cNvSpPr/>
          <p:nvPr/>
        </p:nvSpPr>
        <p:spPr>
          <a:xfrm>
            <a:off x="7818120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64424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110728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57032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03336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49640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818120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964424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110728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57032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03336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49640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818120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964424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110728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57032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403336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549640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836676"/>
            <a:ext cx="9144000" cy="27432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34440" y="1024128"/>
            <a:ext cx="219456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959FB5"/>
                </a:solidFill>
                <a:latin typeface="微软雅黑"/>
                <a:ea typeface="微软雅黑"/>
                <a:cs typeface="微软雅黑"/>
              </a:rPr>
              <a:t>要补的能力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1024128"/>
            <a:ext cx="274320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46BFF"/>
                </a:solidFill>
                <a:latin typeface="微软雅黑"/>
                <a:ea typeface="微软雅黑"/>
                <a:cs typeface="微软雅黑"/>
              </a:rPr>
              <a:t>JOMEC 补齐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1024128"/>
            <a:ext cx="246888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7D3CFF"/>
                </a:solidFill>
                <a:latin typeface="微软雅黑"/>
                <a:ea typeface="微软雅黑"/>
                <a:cs typeface="微软雅黑"/>
              </a:rPr>
              <a:t>对你意味着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1325880"/>
            <a:ext cx="8138160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3"/>
            </a:solidFill>
          </a:ln>
          <a:effectLst>
            <a:outerShdw blurRad="80000" dist="30000" dir="5400000" rotWithShape="0">
              <a:srgbClr val="17244A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648" y="1325880"/>
            <a:ext cx="7918704" cy="45720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9224" y="1371600"/>
            <a:ext cx="384048" cy="384048"/>
          </a:xfrm>
          <a:prstGeom prst="ellipse">
            <a:avLst/>
          </a:prstGeom>
          <a:gradFill>
            <a:gsLst>
              <a:gs pos="0">
                <a:srgbClr val="246BFF"/>
              </a:gs>
              <a:gs pos="100000">
                <a:srgbClr val="00B5E3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w-8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395" y="1463771"/>
            <a:ext cx="199704" cy="19970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188720" y="1325880"/>
            <a:ext cx="2194560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A1A3D"/>
                </a:solidFill>
                <a:latin typeface="微软雅黑"/>
                <a:ea typeface="微软雅黑"/>
                <a:cs typeface="微软雅黑"/>
              </a:rPr>
              <a:t>前瞻造型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83280" y="1325880"/>
            <a:ext cx="2743200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德系履历造型团队 + CAS 快速建模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1325880"/>
            <a:ext cx="2377440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拿得出让主机厂眼前一亮的造型语言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1860804"/>
            <a:ext cx="8138160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3"/>
            </a:solidFill>
          </a:ln>
          <a:effectLst>
            <a:outerShdw blurRad="80000" dist="30000" dir="5400000" rotWithShape="0">
              <a:srgbClr val="17244A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2648" y="1860804"/>
            <a:ext cx="7918704" cy="45720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49224" y="1906524"/>
            <a:ext cx="384048" cy="384048"/>
          </a:xfrm>
          <a:prstGeom prst="ellipse">
            <a:avLst/>
          </a:prstGeom>
          <a:gradFill>
            <a:gsLst>
              <a:gs pos="0">
                <a:srgbClr val="246BFF"/>
              </a:gs>
              <a:gs pos="100000">
                <a:srgbClr val="00B5E3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w-8-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395" y="1998695"/>
            <a:ext cx="199704" cy="19970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188720" y="1860804"/>
            <a:ext cx="2194560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A1A3D"/>
                </a:solidFill>
                <a:latin typeface="微软雅黑"/>
                <a:ea typeface="微软雅黑"/>
                <a:cs typeface="微软雅黑"/>
              </a:rPr>
              <a:t>交互 / UI / UX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83280" y="1860804"/>
            <a:ext cx="2743200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完整交互系统开发(UI/UX/动效/VR)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1860804"/>
            <a:ext cx="2377440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正中主机厂体验创新的新需求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" y="2395728"/>
            <a:ext cx="8138160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3"/>
            </a:solidFill>
          </a:ln>
          <a:effectLst>
            <a:outerShdw blurRad="80000" dist="30000" dir="5400000" rotWithShape="0">
              <a:srgbClr val="17244A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12648" y="2395728"/>
            <a:ext cx="7918704" cy="45720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49224" y="2441448"/>
            <a:ext cx="384048" cy="384048"/>
          </a:xfrm>
          <a:prstGeom prst="ellipse">
            <a:avLst/>
          </a:prstGeom>
          <a:gradFill>
            <a:gsLst>
              <a:gs pos="0">
                <a:srgbClr val="246BFF"/>
              </a:gs>
              <a:gs pos="100000">
                <a:srgbClr val="00B5E3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w-13-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395" y="2533619"/>
            <a:ext cx="199704" cy="199704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188720" y="2395728"/>
            <a:ext cx="2194560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A1A3D"/>
                </a:solidFill>
                <a:latin typeface="微软雅黑"/>
                <a:ea typeface="微软雅黑"/>
                <a:cs typeface="微软雅黑"/>
              </a:rPr>
              <a:t>电子软硬件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83280" y="2395728"/>
            <a:ext cx="2743200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自研车规级控制器 + 嵌入式集成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7920" y="2395728"/>
            <a:ext cx="2377440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软硬件自主可控,不被第三方卡脖子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02920" y="2930652"/>
            <a:ext cx="8138160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3"/>
            </a:solidFill>
          </a:ln>
          <a:effectLst>
            <a:outerShdw blurRad="80000" dist="30000" dir="5400000" rotWithShape="0">
              <a:srgbClr val="17244A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12648" y="2930652"/>
            <a:ext cx="7918704" cy="45720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49224" y="2976372"/>
            <a:ext cx="384048" cy="384048"/>
          </a:xfrm>
          <a:prstGeom prst="ellipse">
            <a:avLst/>
          </a:prstGeom>
          <a:gradFill>
            <a:gsLst>
              <a:gs pos="0">
                <a:srgbClr val="246BFF"/>
              </a:gs>
              <a:gs pos="100000">
                <a:srgbClr val="00B5E3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w-24-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395" y="3068543"/>
            <a:ext cx="199704" cy="19970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188720" y="2930652"/>
            <a:ext cx="2194560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A1A3D"/>
                </a:solidFill>
                <a:latin typeface="微软雅黑"/>
                <a:ea typeface="微软雅黑"/>
                <a:cs typeface="微软雅黑"/>
              </a:rPr>
              <a:t>运动机构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383280" y="2930652"/>
            <a:ext cx="2743200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量产级机构(折叠方向盘达上汽量产)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17920" y="2930652"/>
            <a:ext cx="2377440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最难的机构有人兜底,还能上车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02920" y="3465576"/>
            <a:ext cx="8138160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3"/>
            </a:solidFill>
          </a:ln>
          <a:effectLst>
            <a:outerShdw blurRad="80000" dist="30000" dir="5400000" rotWithShape="0">
              <a:srgbClr val="17244A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12648" y="3465576"/>
            <a:ext cx="7918704" cy="45720"/>
          </a:xfrm>
          <a:prstGeom prst="rect">
            <a:avLst/>
          </a:prstGeom>
          <a:solidFill>
            <a:srgbClr val="7D3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49224" y="3511296"/>
            <a:ext cx="384048" cy="384048"/>
          </a:xfrm>
          <a:prstGeom prst="ellipse">
            <a:avLst/>
          </a:prstGeom>
          <a:gradFill>
            <a:gsLst>
              <a:gs pos="0">
                <a:srgbClr val="7D3CFF"/>
              </a:gs>
              <a:gs pos="100000">
                <a:srgbClr val="5A1BDF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w-26-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395" y="3603467"/>
            <a:ext cx="199704" cy="199704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1188720" y="3465576"/>
            <a:ext cx="2194560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A1A3D"/>
                </a:solidFill>
                <a:latin typeface="微软雅黑"/>
                <a:ea typeface="微软雅黑"/>
                <a:cs typeface="微软雅黑"/>
              </a:rPr>
              <a:t>责任归属(保障)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383280" y="3465576"/>
            <a:ext cx="2743200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五位一体单一责任主体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17920" y="3465576"/>
            <a:ext cx="2377440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7D3CFF"/>
                </a:solidFill>
                <a:latin typeface="微软雅黑"/>
                <a:ea typeface="微软雅黑"/>
                <a:cs typeface="微软雅黑"/>
              </a:rPr>
              <a:t>你只对接一家,不背协同的锅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2920" y="4846320"/>
            <a:ext cx="8138160" cy="10972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22960" y="4873752"/>
            <a:ext cx="6400800" cy="21945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6A7896"/>
                </a:solidFill>
                <a:latin typeface="微软雅黑"/>
                <a:ea typeface="微软雅黑"/>
                <a:cs typeface="微软雅黑"/>
              </a:rPr>
              <a:t>卓迈 JOMEC</a:t>
            </a:r>
            <a:r>
              <a:rPr sz="800" b="0" i="0">
                <a:solidFill>
                  <a:srgbClr val="959FB5"/>
                </a:solidFill>
                <a:latin typeface="微软雅黑"/>
                <a:ea typeface="微软雅黑"/>
                <a:cs typeface="微软雅黑"/>
              </a:rPr>
              <a:t>  ·  NICE 智能座舱体验舱 · 把硬件优势变成体验话语权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4873752"/>
            <a:ext cx="685800" cy="21945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6A789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0B1024"/>
              </a:gs>
              <a:gs pos="100000">
                <a:srgbClr val="16123A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760720" y="-457200"/>
            <a:ext cx="4114800" cy="4114800"/>
          </a:xfrm>
          <a:prstGeom prst="ellipse">
            <a:avLst/>
          </a:prstGeom>
          <a:noFill/>
          <a:ln w="12700">
            <a:solidFill>
              <a:srgbClr val="24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949440" y="1280160"/>
            <a:ext cx="3291840" cy="3291840"/>
          </a:xfrm>
          <a:prstGeom prst="ellipse">
            <a:avLst/>
          </a:prstGeom>
          <a:noFill/>
          <a:ln w="12700">
            <a:solidFill>
              <a:srgbClr val="5A1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736592"/>
            <a:ext cx="9144000" cy="10972"/>
          </a:xfrm>
          <a:prstGeom prst="rect">
            <a:avLst/>
          </a:prstGeom>
          <a:solidFill>
            <a:srgbClr val="24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0" y="0"/>
            <a:ext cx="10972" cy="5143500"/>
          </a:xfrm>
          <a:prstGeom prst="rect">
            <a:avLst/>
          </a:prstGeom>
          <a:solidFill>
            <a:srgbClr val="162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36208" y="0"/>
            <a:ext cx="10972" cy="5143500"/>
          </a:xfrm>
          <a:prstGeom prst="rect">
            <a:avLst/>
          </a:prstGeom>
          <a:solidFill>
            <a:srgbClr val="162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03136" y="0"/>
            <a:ext cx="10972" cy="5143500"/>
          </a:xfrm>
          <a:prstGeom prst="rect">
            <a:avLst/>
          </a:prstGeom>
          <a:solidFill>
            <a:srgbClr val="162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70064" y="0"/>
            <a:ext cx="10972" cy="5143500"/>
          </a:xfrm>
          <a:prstGeom prst="rect">
            <a:avLst/>
          </a:prstGeom>
          <a:solidFill>
            <a:srgbClr val="162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36992" y="0"/>
            <a:ext cx="10972" cy="5143500"/>
          </a:xfrm>
          <a:prstGeom prst="rect">
            <a:avLst/>
          </a:prstGeom>
          <a:solidFill>
            <a:srgbClr val="162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03920" y="0"/>
            <a:ext cx="10972" cy="5143500"/>
          </a:xfrm>
          <a:prstGeom prst="rect">
            <a:avLst/>
          </a:prstGeom>
          <a:solidFill>
            <a:srgbClr val="162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0" y="274320"/>
            <a:ext cx="3657600" cy="32918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0" b="1" i="0">
                <a:solidFill>
                  <a:srgbClr val="16244E"/>
                </a:solidFill>
                <a:latin typeface="Arial Black"/>
                <a:ea typeface="Arial Black"/>
                <a:cs typeface="Arial Black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777240"/>
            <a:ext cx="274320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7D3CFF"/>
                </a:solidFill>
                <a:latin typeface="Arial"/>
                <a:ea typeface="Arial"/>
                <a:cs typeface="Arial"/>
              </a:rPr>
              <a:t>PART 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463040"/>
            <a:ext cx="73152" cy="1371600"/>
          </a:xfrm>
          <a:prstGeom prst="rect">
            <a:avLst/>
          </a:prstGeom>
          <a:solidFill>
            <a:srgbClr val="7D3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1371600"/>
            <a:ext cx="731520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0B5E3"/>
                </a:solidFill>
                <a:latin typeface="Arial"/>
                <a:ea typeface="Arial"/>
                <a:cs typeface="Arial"/>
              </a:rPr>
              <a:t>COMPANY &amp; CAPABILITIES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1783080"/>
            <a:ext cx="7680960" cy="8229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我们是谁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2971800"/>
            <a:ext cx="6949440" cy="914400"/>
          </a:xfrm>
          <a:prstGeom prst="roundRect">
            <a:avLst>
              <a:gd name="adj" fmla="val 8000"/>
            </a:avLst>
          </a:prstGeom>
          <a:solidFill>
            <a:srgbClr val="10224A"/>
          </a:solidFill>
          <a:ln w="9525">
            <a:solidFill>
              <a:srgbClr val="2B3A66"/>
            </a:solidFill>
          </a:ln>
          <a:effectLst>
            <a:outerShdw blurRad="80000" dist="30000" dir="5400000" rotWithShape="0">
              <a:srgbClr val="17244A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8680" y="3044952"/>
            <a:ext cx="54864" cy="768096"/>
          </a:xfrm>
          <a:prstGeom prst="rect">
            <a:avLst/>
          </a:prstGeom>
          <a:solidFill>
            <a:srgbClr val="00B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568" y="2971800"/>
            <a:ext cx="6583680" cy="9144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卓迈 JOMEC,国内少数能同时交付造型、交互、电子与量产级机构的创新公司。成立于 2011 年,核心团队来自国内主流车企与科技公司,既懂德系高标准,又懂中国量产节奏。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gradFill>
            <a:gsLst>
              <a:gs pos="0">
                <a:srgbClr val="0A1A3D"/>
              </a:gs>
              <a:gs pos="100000">
                <a:srgbClr val="1B448E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841248" cy="841248"/>
          </a:xfrm>
          <a:prstGeom prst="rect">
            <a:avLst/>
          </a:prstGeom>
          <a:solidFill>
            <a:srgbClr val="0A1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0"/>
            <a:ext cx="41148" cy="841248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841248" cy="8412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146304"/>
            <a:ext cx="6766560" cy="4114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公司概况:造型 + 交互 + 电子 + 量产级机构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48640"/>
            <a:ext cx="6766560" cy="2286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8FB2F0"/>
                </a:solidFill>
                <a:latin typeface="Arial"/>
                <a:ea typeface="Arial"/>
                <a:cs typeface="Arial"/>
              </a:rPr>
              <a:t>COMPANY PROFILE</a:t>
            </a:r>
          </a:p>
        </p:txBody>
      </p:sp>
      <p:sp>
        <p:nvSpPr>
          <p:cNvPr id="9" name="Oval 8"/>
          <p:cNvSpPr/>
          <p:nvPr/>
        </p:nvSpPr>
        <p:spPr>
          <a:xfrm>
            <a:off x="7818120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64424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110728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57032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03336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49640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818120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964424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110728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57032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03336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49640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818120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964424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110728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57032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403336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549640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836676"/>
            <a:ext cx="9144000" cy="27432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987552"/>
            <a:ext cx="813816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46BFF"/>
                </a:solidFill>
                <a:latin typeface="微软雅黑"/>
                <a:ea typeface="微软雅黑"/>
                <a:cs typeface="微软雅黑"/>
              </a:rPr>
              <a:t>五大基地 · 一条龙能力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1298448"/>
            <a:ext cx="1554480" cy="11704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3"/>
            </a:solidFill>
          </a:ln>
          <a:effectLst>
            <a:outerShdw blurRad="80000" dist="30000" dir="5400000" rotWithShape="0">
              <a:srgbClr val="17244A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2648" y="1298448"/>
            <a:ext cx="1335024" cy="45720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51560" y="1472184"/>
            <a:ext cx="457200" cy="457200"/>
          </a:xfrm>
          <a:prstGeom prst="ellipse">
            <a:avLst/>
          </a:prstGeom>
          <a:gradFill>
            <a:gsLst>
              <a:gs pos="0">
                <a:srgbClr val="246BFF"/>
              </a:gs>
              <a:gs pos="100000">
                <a:srgbClr val="5A1BDF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w-7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288" y="1581912"/>
            <a:ext cx="237744" cy="23774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02920" y="1993392"/>
            <a:ext cx="155448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A1A3D"/>
                </a:solidFill>
                <a:latin typeface="微软雅黑"/>
                <a:ea typeface="微软雅黑"/>
                <a:cs typeface="微软雅黑"/>
              </a:rPr>
              <a:t>上海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6072" y="2249424"/>
            <a:ext cx="1408176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前瞻中心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130552" y="1298448"/>
            <a:ext cx="1554480" cy="11704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3"/>
            </a:solidFill>
          </a:ln>
          <a:effectLst>
            <a:outerShdw blurRad="80000" dist="30000" dir="5400000" rotWithShape="0">
              <a:srgbClr val="17244A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240280" y="1298448"/>
            <a:ext cx="1335024" cy="45720"/>
          </a:xfrm>
          <a:prstGeom prst="rect">
            <a:avLst/>
          </a:prstGeom>
          <a:solidFill>
            <a:srgbClr val="00B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679192" y="1472184"/>
            <a:ext cx="457200" cy="457200"/>
          </a:xfrm>
          <a:prstGeom prst="ellipse">
            <a:avLst/>
          </a:prstGeom>
          <a:gradFill>
            <a:gsLst>
              <a:gs pos="0">
                <a:srgbClr val="00B5E3"/>
              </a:gs>
              <a:gs pos="100000">
                <a:srgbClr val="5A1BDF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w-7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1581912"/>
            <a:ext cx="237744" cy="23774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2130552" y="1993392"/>
            <a:ext cx="155448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A1A3D"/>
                </a:solidFill>
                <a:latin typeface="微软雅黑"/>
                <a:ea typeface="微软雅黑"/>
                <a:cs typeface="微软雅黑"/>
              </a:rPr>
              <a:t>昆山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03704" y="2249424"/>
            <a:ext cx="1408176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创新研发&amp;试制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758184" y="1298448"/>
            <a:ext cx="1554480" cy="11704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3"/>
            </a:solidFill>
          </a:ln>
          <a:effectLst>
            <a:outerShdw blurRad="80000" dist="30000" dir="5400000" rotWithShape="0">
              <a:srgbClr val="17244A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867912" y="1298448"/>
            <a:ext cx="1335024" cy="45720"/>
          </a:xfrm>
          <a:prstGeom prst="rect">
            <a:avLst/>
          </a:prstGeom>
          <a:solidFill>
            <a:srgbClr val="5A1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306824" y="1472184"/>
            <a:ext cx="457200" cy="457200"/>
          </a:xfrm>
          <a:prstGeom prst="ellipse">
            <a:avLst/>
          </a:prstGeom>
          <a:gradFill>
            <a:gsLst>
              <a:gs pos="0">
                <a:srgbClr val="5A1BDF"/>
              </a:gs>
              <a:gs pos="100000">
                <a:srgbClr val="5A1BDF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w-7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6552" y="1581912"/>
            <a:ext cx="237744" cy="237744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3758184" y="1993392"/>
            <a:ext cx="155448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A1A3D"/>
                </a:solidFill>
                <a:latin typeface="微软雅黑"/>
                <a:ea typeface="微软雅黑"/>
                <a:cs typeface="微软雅黑"/>
              </a:rPr>
              <a:t>柳州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31336" y="2249424"/>
            <a:ext cx="1408176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数字化中心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385816" y="1298448"/>
            <a:ext cx="1554480" cy="11704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3"/>
            </a:solidFill>
          </a:ln>
          <a:effectLst>
            <a:outerShdw blurRad="80000" dist="30000" dir="5400000" rotWithShape="0">
              <a:srgbClr val="17244A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495544" y="1298448"/>
            <a:ext cx="1335024" cy="45720"/>
          </a:xfrm>
          <a:prstGeom prst="rect">
            <a:avLst/>
          </a:prstGeom>
          <a:solidFill>
            <a:srgbClr val="7D3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934455" y="1472184"/>
            <a:ext cx="457200" cy="457200"/>
          </a:xfrm>
          <a:prstGeom prst="ellipse">
            <a:avLst/>
          </a:prstGeom>
          <a:gradFill>
            <a:gsLst>
              <a:gs pos="0">
                <a:srgbClr val="7D3CFF"/>
              </a:gs>
              <a:gs pos="100000">
                <a:srgbClr val="5A1BDF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w-7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4183" y="1581912"/>
            <a:ext cx="237744" cy="237744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5385816" y="1993392"/>
            <a:ext cx="155448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A1A3D"/>
                </a:solidFill>
                <a:latin typeface="微软雅黑"/>
                <a:ea typeface="微软雅黑"/>
                <a:cs typeface="微软雅黑"/>
              </a:rPr>
              <a:t>杭州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58968" y="2249424"/>
            <a:ext cx="1408176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JOMEC×CAA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013448" y="1298448"/>
            <a:ext cx="1554480" cy="11704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3"/>
            </a:solidFill>
          </a:ln>
          <a:effectLst>
            <a:outerShdw blurRad="80000" dist="30000" dir="5400000" rotWithShape="0">
              <a:srgbClr val="17244A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123176" y="1298448"/>
            <a:ext cx="1335024" cy="45720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562088" y="1472184"/>
            <a:ext cx="457200" cy="457200"/>
          </a:xfrm>
          <a:prstGeom prst="ellipse">
            <a:avLst/>
          </a:prstGeom>
          <a:gradFill>
            <a:gsLst>
              <a:gs pos="0">
                <a:srgbClr val="246BFF"/>
              </a:gs>
              <a:gs pos="100000">
                <a:srgbClr val="5A1BDF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w-7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1815" y="1581912"/>
            <a:ext cx="237744" cy="237744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7013448" y="1993392"/>
            <a:ext cx="155448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A1A3D"/>
                </a:solidFill>
                <a:latin typeface="微软雅黑"/>
                <a:ea typeface="微软雅黑"/>
                <a:cs typeface="微软雅黑"/>
              </a:rPr>
              <a:t>宁波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86600" y="2249424"/>
            <a:ext cx="1408176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产品生产基地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02920" y="2670048"/>
            <a:ext cx="3977639" cy="12070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3"/>
            </a:solidFill>
          </a:ln>
          <a:effectLst>
            <a:outerShdw blurRad="80000" dist="30000" dir="5400000" rotWithShape="0">
              <a:srgbClr val="17244A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12648" y="2670048"/>
            <a:ext cx="3758183" cy="45720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1520" y="2816352"/>
            <a:ext cx="3566160" cy="3200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46BFF"/>
                </a:solidFill>
                <a:latin typeface="微软雅黑"/>
                <a:ea typeface="微软雅黑"/>
                <a:cs typeface="微软雅黑"/>
              </a:rPr>
              <a:t>开发业务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1520" y="3154680"/>
            <a:ext cx="3566160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未来出行造型开发 · 交互设计 · 智能座舱创新开发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663440" y="2670048"/>
            <a:ext cx="3977639" cy="12070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3"/>
            </a:solidFill>
          </a:ln>
          <a:effectLst>
            <a:outerShdw blurRad="80000" dist="30000" dir="5400000" rotWithShape="0">
              <a:srgbClr val="17244A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773168" y="2670048"/>
            <a:ext cx="3758183" cy="45720"/>
          </a:xfrm>
          <a:prstGeom prst="rect">
            <a:avLst/>
          </a:prstGeom>
          <a:solidFill>
            <a:srgbClr val="00B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892040" y="2816352"/>
            <a:ext cx="3566160" cy="3200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0B5E3"/>
                </a:solidFill>
                <a:latin typeface="微软雅黑"/>
                <a:ea typeface="微软雅黑"/>
                <a:cs typeface="微软雅黑"/>
              </a:rPr>
              <a:t>产品业务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892040" y="3154680"/>
            <a:ext cx="3566160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座舱智能总成产品研发及供货 · 量产交付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02920" y="3986784"/>
            <a:ext cx="8138160" cy="585216"/>
          </a:xfrm>
          <a:prstGeom prst="roundRect">
            <a:avLst>
              <a:gd name="adj" fmla="val 12000"/>
            </a:avLst>
          </a:prstGeom>
          <a:gradFill>
            <a:gsLst>
              <a:gs pos="0">
                <a:srgbClr val="0A1A3D"/>
              </a:gs>
              <a:gs pos="100000">
                <a:srgbClr val="291C5E"/>
              </a:gs>
            </a:gsLst>
            <a:lin ang="0" scaled="1"/>
          </a:gradFill>
          <a:ln>
            <a:noFill/>
          </a:ln>
          <a:effectLst>
            <a:outerShdw blurRad="80000" dist="30000" dir="5400000" rotWithShape="0">
              <a:srgbClr val="17244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02920" y="4114800"/>
            <a:ext cx="54864" cy="329184"/>
          </a:xfrm>
          <a:prstGeom prst="rect">
            <a:avLst/>
          </a:prstGeom>
          <a:solidFill>
            <a:srgbClr val="00B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95528" y="3986784"/>
            <a:ext cx="7589520" cy="58521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卓迈使命:塑造更美好的未来生活</a:t>
            </a:r>
            <a:r>
              <a:rPr sz="1100" b="0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  始终创业 · 求真务实 · 敢为极致 · 共同成长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02920" y="4846320"/>
            <a:ext cx="8138160" cy="10972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22960" y="4873752"/>
            <a:ext cx="6400800" cy="21945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6A7896"/>
                </a:solidFill>
                <a:latin typeface="微软雅黑"/>
                <a:ea typeface="微软雅黑"/>
                <a:cs typeface="微软雅黑"/>
              </a:rPr>
              <a:t>卓迈 JOMEC</a:t>
            </a:r>
            <a:r>
              <a:rPr sz="800" b="0" i="0">
                <a:solidFill>
                  <a:srgbClr val="959FB5"/>
                </a:solidFill>
                <a:latin typeface="微软雅黑"/>
                <a:ea typeface="微软雅黑"/>
                <a:cs typeface="微软雅黑"/>
              </a:rPr>
              <a:t>  ·  NICE 智能座舱体验舱 · 把硬件优势变成体验话语权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955279" y="4873752"/>
            <a:ext cx="685800" cy="21945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6A789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gradFill>
            <a:gsLst>
              <a:gs pos="0">
                <a:srgbClr val="0A1A3D"/>
              </a:gs>
              <a:gs pos="100000">
                <a:srgbClr val="1B448E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841248" cy="841248"/>
          </a:xfrm>
          <a:prstGeom prst="rect">
            <a:avLst/>
          </a:prstGeom>
          <a:solidFill>
            <a:srgbClr val="0A1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0"/>
            <a:ext cx="41148" cy="841248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841248" cy="8412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146304"/>
            <a:ext cx="6766560" cy="4114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服务全景:从调研到生产,覆盖创新开发全链条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48640"/>
            <a:ext cx="6766560" cy="2286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8FB2F0"/>
                </a:solidFill>
                <a:latin typeface="Arial"/>
                <a:ea typeface="Arial"/>
                <a:cs typeface="Arial"/>
              </a:rPr>
              <a:t>OUR SERVICES</a:t>
            </a:r>
          </a:p>
        </p:txBody>
      </p:sp>
      <p:sp>
        <p:nvSpPr>
          <p:cNvPr id="9" name="Oval 8"/>
          <p:cNvSpPr/>
          <p:nvPr/>
        </p:nvSpPr>
        <p:spPr>
          <a:xfrm>
            <a:off x="7818120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64424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110728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57032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03336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49640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818120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964424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110728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57032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03336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49640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818120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964424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110728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57032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403336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549640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836676"/>
            <a:ext cx="9144000" cy="27432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02920" y="1298448"/>
            <a:ext cx="1572768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3"/>
            </a:solidFill>
          </a:ln>
          <a:effectLst>
            <a:outerShdw blurRad="80000" dist="30000" dir="5400000" rotWithShape="0">
              <a:srgbClr val="17244A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2648" y="1298448"/>
            <a:ext cx="1353312" cy="45720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87552" y="1545336"/>
            <a:ext cx="603504" cy="603504"/>
          </a:xfrm>
          <a:prstGeom prst="ellipse">
            <a:avLst/>
          </a:prstGeom>
          <a:gradFill>
            <a:gsLst>
              <a:gs pos="0">
                <a:srgbClr val="246BFF"/>
              </a:gs>
              <a:gs pos="100000">
                <a:srgbClr val="5A1BDF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w-8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92" y="1690176"/>
            <a:ext cx="313822" cy="31382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57784" y="2258568"/>
            <a:ext cx="146304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46BFF"/>
                </a:solidFill>
                <a:latin typeface="Arial"/>
                <a:ea typeface="Arial"/>
                <a:cs typeface="Arial"/>
              </a:rPr>
              <a:t>01 </a:t>
            </a:r>
            <a:r>
              <a:rPr sz="1050" b="1" i="0">
                <a:solidFill>
                  <a:srgbClr val="0A1A3D"/>
                </a:solidFill>
                <a:latin typeface="微软雅黑"/>
                <a:ea typeface="微软雅黑"/>
                <a:cs typeface="微软雅黑"/>
              </a:rPr>
              <a:t>交通工具调研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784" y="2761488"/>
            <a:ext cx="1463040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竞品·趋势·用户·策略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57400" y="1755648"/>
            <a:ext cx="18288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959FB5"/>
                </a:solidFill>
                <a:latin typeface="Arial"/>
                <a:ea typeface="Arial"/>
                <a:cs typeface="Arial"/>
              </a:rPr>
              <a:t>▸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203704" y="1298448"/>
            <a:ext cx="1572768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3"/>
            </a:solidFill>
          </a:ln>
          <a:effectLst>
            <a:outerShdw blurRad="80000" dist="30000" dir="5400000" rotWithShape="0">
              <a:srgbClr val="17244A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313432" y="1298448"/>
            <a:ext cx="1353312" cy="45720"/>
          </a:xfrm>
          <a:prstGeom prst="rect">
            <a:avLst/>
          </a:prstGeom>
          <a:solidFill>
            <a:srgbClr val="00B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688336" y="1545336"/>
            <a:ext cx="603504" cy="603504"/>
          </a:xfrm>
          <a:prstGeom prst="ellipse">
            <a:avLst/>
          </a:prstGeom>
          <a:gradFill>
            <a:gsLst>
              <a:gs pos="0">
                <a:srgbClr val="00B5E3"/>
              </a:gs>
              <a:gs pos="100000">
                <a:srgbClr val="5A1BDF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w-8-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3176" y="1690176"/>
            <a:ext cx="313822" cy="313822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2258568" y="2258568"/>
            <a:ext cx="146304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00B5E3"/>
                </a:solidFill>
                <a:latin typeface="Arial"/>
                <a:ea typeface="Arial"/>
                <a:cs typeface="Arial"/>
              </a:rPr>
              <a:t>02 </a:t>
            </a:r>
            <a:r>
              <a:rPr sz="1050" b="1" i="0">
                <a:solidFill>
                  <a:srgbClr val="0A1A3D"/>
                </a:solidFill>
                <a:latin typeface="微软雅黑"/>
                <a:ea typeface="微软雅黑"/>
                <a:cs typeface="微软雅黑"/>
              </a:rPr>
              <a:t>交通工具设计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58568" y="2761488"/>
            <a:ext cx="1463040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概念·内外饰·CMF·A级曲面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58184" y="1755648"/>
            <a:ext cx="18288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959FB5"/>
                </a:solidFill>
                <a:latin typeface="Arial"/>
                <a:ea typeface="Arial"/>
                <a:cs typeface="Arial"/>
              </a:rPr>
              <a:t>▸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904488" y="1298448"/>
            <a:ext cx="1572768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3"/>
            </a:solidFill>
          </a:ln>
          <a:effectLst>
            <a:outerShdw blurRad="80000" dist="30000" dir="5400000" rotWithShape="0">
              <a:srgbClr val="17244A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014216" y="1298448"/>
            <a:ext cx="1353312" cy="45720"/>
          </a:xfrm>
          <a:prstGeom prst="rect">
            <a:avLst/>
          </a:prstGeom>
          <a:solidFill>
            <a:srgbClr val="5A1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389120" y="1545336"/>
            <a:ext cx="603504" cy="603504"/>
          </a:xfrm>
          <a:prstGeom prst="ellipse">
            <a:avLst/>
          </a:prstGeom>
          <a:gradFill>
            <a:gsLst>
              <a:gs pos="0">
                <a:srgbClr val="5A1BDF"/>
              </a:gs>
              <a:gs pos="100000">
                <a:srgbClr val="5A1BDF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w-8-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3960" y="1690176"/>
            <a:ext cx="313822" cy="313822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3959352" y="2258568"/>
            <a:ext cx="146304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5A1BDF"/>
                </a:solidFill>
                <a:latin typeface="Arial"/>
                <a:ea typeface="Arial"/>
                <a:cs typeface="Arial"/>
              </a:rPr>
              <a:t>03 </a:t>
            </a:r>
            <a:r>
              <a:rPr sz="1050" b="1" i="0">
                <a:solidFill>
                  <a:srgbClr val="0A1A3D"/>
                </a:solidFill>
                <a:latin typeface="微软雅黑"/>
                <a:ea typeface="微软雅黑"/>
                <a:cs typeface="微软雅黑"/>
              </a:rPr>
              <a:t>展车与原型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59352" y="2761488"/>
            <a:ext cx="1463040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CNC·3D打印·油泥·功能样机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58968" y="1755648"/>
            <a:ext cx="18288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959FB5"/>
                </a:solidFill>
                <a:latin typeface="Arial"/>
                <a:ea typeface="Arial"/>
                <a:cs typeface="Arial"/>
              </a:rPr>
              <a:t>▸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605272" y="1298448"/>
            <a:ext cx="1572768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3"/>
            </a:solidFill>
          </a:ln>
          <a:effectLst>
            <a:outerShdw blurRad="80000" dist="30000" dir="5400000" rotWithShape="0">
              <a:srgbClr val="17244A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715000" y="1298448"/>
            <a:ext cx="1353312" cy="45720"/>
          </a:xfrm>
          <a:prstGeom prst="rect">
            <a:avLst/>
          </a:prstGeom>
          <a:solidFill>
            <a:srgbClr val="7D3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089904" y="1545336"/>
            <a:ext cx="603504" cy="603504"/>
          </a:xfrm>
          <a:prstGeom prst="ellipse">
            <a:avLst/>
          </a:prstGeom>
          <a:gradFill>
            <a:gsLst>
              <a:gs pos="0">
                <a:srgbClr val="7D3CFF"/>
              </a:gs>
              <a:gs pos="100000">
                <a:srgbClr val="5A1BDF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w-8-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4744" y="1690176"/>
            <a:ext cx="313822" cy="313822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5660136" y="2258568"/>
            <a:ext cx="146304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7D3CFF"/>
                </a:solidFill>
                <a:latin typeface="Arial"/>
                <a:ea typeface="Arial"/>
                <a:cs typeface="Arial"/>
              </a:rPr>
              <a:t>04 </a:t>
            </a:r>
            <a:r>
              <a:rPr sz="1050" b="1" i="0">
                <a:solidFill>
                  <a:srgbClr val="0A1A3D"/>
                </a:solidFill>
                <a:latin typeface="微软雅黑"/>
                <a:ea typeface="微软雅黑"/>
                <a:cs typeface="微软雅黑"/>
              </a:rPr>
              <a:t>UX-UI 设计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0136" y="2761488"/>
            <a:ext cx="1463040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HMI·体验·动效·软件·VR/AR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59752" y="1755648"/>
            <a:ext cx="18288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959FB5"/>
                </a:solidFill>
                <a:latin typeface="Arial"/>
                <a:ea typeface="Arial"/>
                <a:cs typeface="Arial"/>
              </a:rPr>
              <a:t>▸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306056" y="1298448"/>
            <a:ext cx="1572768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3"/>
            </a:solidFill>
          </a:ln>
          <a:effectLst>
            <a:outerShdw blurRad="80000" dist="30000" dir="5400000" rotWithShape="0">
              <a:srgbClr val="17244A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415783" y="1298448"/>
            <a:ext cx="1353312" cy="45720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790688" y="1545336"/>
            <a:ext cx="603504" cy="603504"/>
          </a:xfrm>
          <a:prstGeom prst="ellipse">
            <a:avLst/>
          </a:prstGeom>
          <a:gradFill>
            <a:gsLst>
              <a:gs pos="0">
                <a:srgbClr val="246BFF"/>
              </a:gs>
              <a:gs pos="100000">
                <a:srgbClr val="5A1BDF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w-8-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5528" y="1690176"/>
            <a:ext cx="313822" cy="313822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7360920" y="2258568"/>
            <a:ext cx="146304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46BFF"/>
                </a:solidFill>
                <a:latin typeface="Arial"/>
                <a:ea typeface="Arial"/>
                <a:cs typeface="Arial"/>
              </a:rPr>
              <a:t>05 </a:t>
            </a:r>
            <a:r>
              <a:rPr sz="1050" b="1" i="0">
                <a:solidFill>
                  <a:srgbClr val="0A1A3D"/>
                </a:solidFill>
                <a:latin typeface="微软雅黑"/>
                <a:ea typeface="微软雅黑"/>
                <a:cs typeface="微软雅黑"/>
              </a:rPr>
              <a:t>生产制造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60920" y="2761488"/>
            <a:ext cx="1463040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快速原型·功能样件·量产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02920" y="3986784"/>
            <a:ext cx="8138160" cy="585216"/>
          </a:xfrm>
          <a:prstGeom prst="roundRect">
            <a:avLst>
              <a:gd name="adj" fmla="val 12000"/>
            </a:avLst>
          </a:prstGeom>
          <a:gradFill>
            <a:gsLst>
              <a:gs pos="0">
                <a:srgbClr val="0A1A3D"/>
              </a:gs>
              <a:gs pos="100000">
                <a:srgbClr val="291C5E"/>
              </a:gs>
            </a:gsLst>
            <a:lin ang="0" scaled="1"/>
          </a:gradFill>
          <a:ln>
            <a:noFill/>
          </a:ln>
          <a:effectLst>
            <a:outerShdw blurRad="80000" dist="30000" dir="5400000" rotWithShape="0">
              <a:srgbClr val="17244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02920" y="4114800"/>
            <a:ext cx="54864" cy="329184"/>
          </a:xfrm>
          <a:prstGeom prst="rect">
            <a:avLst/>
          </a:prstGeom>
          <a:solidFill>
            <a:srgbClr val="00B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95528" y="3986784"/>
            <a:ext cx="7589520" cy="58521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调研 → 设计 → 原型 → 体验 → 制造</a:t>
            </a:r>
            <a:r>
              <a:rPr sz="1100" b="0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  创新不会断在任何一个交接环节。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02920" y="4846320"/>
            <a:ext cx="8138160" cy="10972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22960" y="4873752"/>
            <a:ext cx="6400800" cy="21945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6A7896"/>
                </a:solidFill>
                <a:latin typeface="微软雅黑"/>
                <a:ea typeface="微软雅黑"/>
                <a:cs typeface="微软雅黑"/>
              </a:rPr>
              <a:t>卓迈 JOMEC</a:t>
            </a:r>
            <a:r>
              <a:rPr sz="800" b="0" i="0">
                <a:solidFill>
                  <a:srgbClr val="959FB5"/>
                </a:solidFill>
                <a:latin typeface="微软雅黑"/>
                <a:ea typeface="微软雅黑"/>
                <a:cs typeface="微软雅黑"/>
              </a:rPr>
              <a:t>  ·  NICE 智能座舱体验舱 · 把硬件优势变成体验话语权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955279" y="4873752"/>
            <a:ext cx="685800" cy="21945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6A789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gradFill>
            <a:gsLst>
              <a:gs pos="0">
                <a:srgbClr val="0A1A3D"/>
              </a:gs>
              <a:gs pos="100000">
                <a:srgbClr val="1B448E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841248" cy="841248"/>
          </a:xfrm>
          <a:prstGeom prst="rect">
            <a:avLst/>
          </a:prstGeom>
          <a:solidFill>
            <a:srgbClr val="0A1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0"/>
            <a:ext cx="41148" cy="841248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841248" cy="8412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146304"/>
            <a:ext cx="6766560" cy="4114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团队:德系深度 × 中国速度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48640"/>
            <a:ext cx="6766560" cy="2286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8FB2F0"/>
                </a:solidFill>
                <a:latin typeface="Arial"/>
                <a:ea typeface="Arial"/>
                <a:cs typeface="Arial"/>
              </a:rPr>
              <a:t>TEAM</a:t>
            </a:r>
          </a:p>
        </p:txBody>
      </p:sp>
      <p:sp>
        <p:nvSpPr>
          <p:cNvPr id="9" name="Oval 8"/>
          <p:cNvSpPr/>
          <p:nvPr/>
        </p:nvSpPr>
        <p:spPr>
          <a:xfrm>
            <a:off x="7818120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64424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110728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57032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03336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49640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818120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964424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110728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57032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03336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49640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818120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964424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110728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57032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403336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549640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836676"/>
            <a:ext cx="9144000" cy="27432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02920" y="1051560"/>
            <a:ext cx="402336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3"/>
            </a:solidFill>
          </a:ln>
          <a:effectLst>
            <a:outerShdw blurRad="80000" dist="30000" dir="5400000" rotWithShape="0">
              <a:srgbClr val="17244A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2648" y="1051560"/>
            <a:ext cx="3803904" cy="45720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04088" y="1252728"/>
            <a:ext cx="512064" cy="512064"/>
          </a:xfrm>
          <a:prstGeom prst="ellipse">
            <a:avLst/>
          </a:prstGeom>
          <a:gradFill>
            <a:gsLst>
              <a:gs pos="0">
                <a:srgbClr val="246BFF"/>
              </a:gs>
              <a:gs pos="100000">
                <a:srgbClr val="5A1BDF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4088" y="1252728"/>
            <a:ext cx="512064" cy="51206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07592" y="1170431"/>
            <a:ext cx="310896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A1A3D"/>
                </a:solidFill>
                <a:latin typeface="微软雅黑"/>
                <a:ea typeface="微软雅黑"/>
                <a:cs typeface="微软雅黑"/>
              </a:rPr>
              <a:t>严 艇 Tim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07592" y="1444751"/>
            <a:ext cx="3108960" cy="25603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246BFF"/>
                </a:solidFill>
                <a:latin typeface="微软雅黑"/>
                <a:ea typeface="微软雅黑"/>
                <a:cs typeface="微软雅黑"/>
              </a:rPr>
              <a:t>CEO · 中国美院客座教授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07592" y="1673352"/>
            <a:ext cx="3154680" cy="21945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江苏省双创人才;AI 驱动座舱创新方向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617720" y="1051560"/>
            <a:ext cx="402336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3"/>
            </a:solidFill>
          </a:ln>
          <a:effectLst>
            <a:outerShdw blurRad="80000" dist="30000" dir="5400000" rotWithShape="0">
              <a:srgbClr val="17244A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727448" y="1051560"/>
            <a:ext cx="3803904" cy="45720"/>
          </a:xfrm>
          <a:prstGeom prst="rect">
            <a:avLst/>
          </a:prstGeom>
          <a:solidFill>
            <a:srgbClr val="00B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818888" y="1252728"/>
            <a:ext cx="512064" cy="512064"/>
          </a:xfrm>
          <a:prstGeom prst="ellipse">
            <a:avLst/>
          </a:prstGeom>
          <a:gradFill>
            <a:gsLst>
              <a:gs pos="0">
                <a:srgbClr val="00B5E3"/>
              </a:gs>
              <a:gs pos="100000">
                <a:srgbClr val="5A1BDF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18888" y="1252728"/>
            <a:ext cx="512064" cy="51206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22392" y="1170431"/>
            <a:ext cx="310896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A1A3D"/>
                </a:solidFill>
                <a:latin typeface="微软雅黑"/>
                <a:ea typeface="微软雅黑"/>
                <a:cs typeface="微软雅黑"/>
              </a:rPr>
              <a:t>黄 斌 Burt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22392" y="1444751"/>
            <a:ext cx="3108960" cy="25603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246BFF"/>
                </a:solidFill>
                <a:latin typeface="微软雅黑"/>
                <a:ea typeface="微软雅黑"/>
                <a:cs typeface="微软雅黑"/>
              </a:rPr>
              <a:t>联合创始人 · 造型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22392" y="1673352"/>
            <a:ext cx="3154680" cy="21945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前泛亚汽车技术中心设计执行总监;25 年经验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2011680"/>
            <a:ext cx="402336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3"/>
            </a:solidFill>
          </a:ln>
          <a:effectLst>
            <a:outerShdw blurRad="80000" dist="30000" dir="5400000" rotWithShape="0">
              <a:srgbClr val="17244A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2648" y="2011680"/>
            <a:ext cx="3803904" cy="45720"/>
          </a:xfrm>
          <a:prstGeom prst="rect">
            <a:avLst/>
          </a:prstGeom>
          <a:solidFill>
            <a:srgbClr val="5A1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04088" y="2212848"/>
            <a:ext cx="512064" cy="512064"/>
          </a:xfrm>
          <a:prstGeom prst="ellipse">
            <a:avLst/>
          </a:prstGeom>
          <a:gradFill>
            <a:gsLst>
              <a:gs pos="0">
                <a:srgbClr val="5A1BDF"/>
              </a:gs>
              <a:gs pos="100000">
                <a:srgbClr val="5A1BDF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4088" y="2212848"/>
            <a:ext cx="512064" cy="51206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07592" y="2130552"/>
            <a:ext cx="310896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A1A3D"/>
                </a:solidFill>
                <a:latin typeface="微软雅黑"/>
                <a:ea typeface="微软雅黑"/>
                <a:cs typeface="微软雅黑"/>
              </a:rPr>
              <a:t>Alexander Zeth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07592" y="2404872"/>
            <a:ext cx="3108960" cy="25603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246BFF"/>
                </a:solidFill>
                <a:latin typeface="微软雅黑"/>
                <a:ea typeface="微软雅黑"/>
                <a:cs typeface="微软雅黑"/>
              </a:rPr>
              <a:t>联合创始人 · 设计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07592" y="2633472"/>
            <a:ext cx="3154680" cy="21945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德籍;前 EDAG 资深设计师;服务宝马/奥迪/大众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617720" y="2011680"/>
            <a:ext cx="402336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3"/>
            </a:solidFill>
          </a:ln>
          <a:effectLst>
            <a:outerShdw blurRad="80000" dist="30000" dir="5400000" rotWithShape="0">
              <a:srgbClr val="17244A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727448" y="2011680"/>
            <a:ext cx="3803904" cy="45720"/>
          </a:xfrm>
          <a:prstGeom prst="rect">
            <a:avLst/>
          </a:prstGeom>
          <a:solidFill>
            <a:srgbClr val="7D3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818888" y="2212848"/>
            <a:ext cx="512064" cy="512064"/>
          </a:xfrm>
          <a:prstGeom prst="ellipse">
            <a:avLst/>
          </a:prstGeom>
          <a:gradFill>
            <a:gsLst>
              <a:gs pos="0">
                <a:srgbClr val="7D3CFF"/>
              </a:gs>
              <a:gs pos="100000">
                <a:srgbClr val="5A1BDF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818888" y="2212848"/>
            <a:ext cx="512064" cy="51206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徐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22392" y="2130552"/>
            <a:ext cx="310896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A1A3D"/>
                </a:solidFill>
                <a:latin typeface="微软雅黑"/>
                <a:ea typeface="微软雅黑"/>
                <a:cs typeface="微软雅黑"/>
              </a:rPr>
              <a:t>徐康聪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22392" y="2404872"/>
            <a:ext cx="3108960" cy="25603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246BFF"/>
                </a:solidFill>
                <a:latin typeface="微软雅黑"/>
                <a:ea typeface="微软雅黑"/>
                <a:cs typeface="微软雅黑"/>
              </a:rPr>
              <a:t>总工程师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22392" y="2633472"/>
            <a:ext cx="3154680" cy="21945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德国布伦瑞克博士后;两获中国汽车工业科学进步奖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02920" y="3108960"/>
            <a:ext cx="2606040" cy="384048"/>
          </a:xfrm>
          <a:prstGeom prst="roundRect">
            <a:avLst>
              <a:gd name="adj" fmla="val 50000"/>
            </a:avLst>
          </a:prstGeom>
          <a:solidFill>
            <a:srgbClr val="F5F8FD"/>
          </a:solidFill>
          <a:ln w="9525">
            <a:solidFill>
              <a:srgbClr val="246BFF"/>
            </a:solidFill>
          </a:ln>
          <a:effectLst>
            <a:outerShdw blurRad="40000" dist="12000" dir="5400000" rotWithShape="0">
              <a:srgbClr val="17244A">
                <a:alpha val="8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2920" y="3108960"/>
            <a:ext cx="2606040" cy="3840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246BFF"/>
                </a:solidFill>
                <a:latin typeface="微软雅黑"/>
                <a:ea typeface="微软雅黑"/>
                <a:cs typeface="微软雅黑"/>
              </a:rPr>
              <a:t>IATF16949 全量产流程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227832" y="3108960"/>
            <a:ext cx="2606040" cy="384048"/>
          </a:xfrm>
          <a:prstGeom prst="roundRect">
            <a:avLst>
              <a:gd name="adj" fmla="val 50000"/>
            </a:avLst>
          </a:prstGeom>
          <a:solidFill>
            <a:srgbClr val="F5F8FD"/>
          </a:solidFill>
          <a:ln w="9525">
            <a:solidFill>
              <a:srgbClr val="00B5E3"/>
            </a:solidFill>
          </a:ln>
          <a:effectLst>
            <a:outerShdw blurRad="40000" dist="12000" dir="5400000" rotWithShape="0">
              <a:srgbClr val="17244A">
                <a:alpha val="8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227832" y="3108960"/>
            <a:ext cx="2606040" cy="3840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00B5E3"/>
                </a:solidFill>
                <a:latin typeface="微软雅黑"/>
                <a:ea typeface="微软雅黑"/>
                <a:cs typeface="微软雅黑"/>
              </a:rPr>
              <a:t>中国美院 CAA 联合前瞻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952744" y="3108960"/>
            <a:ext cx="2606040" cy="384048"/>
          </a:xfrm>
          <a:prstGeom prst="roundRect">
            <a:avLst>
              <a:gd name="adj" fmla="val 50000"/>
            </a:avLst>
          </a:prstGeom>
          <a:solidFill>
            <a:srgbClr val="F5F8FD"/>
          </a:solidFill>
          <a:ln w="9525">
            <a:solidFill>
              <a:srgbClr val="7D3CFF"/>
            </a:solidFill>
          </a:ln>
          <a:effectLst>
            <a:outerShdw blurRad="40000" dist="12000" dir="5400000" rotWithShape="0">
              <a:srgbClr val="17244A">
                <a:alpha val="8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52744" y="3108960"/>
            <a:ext cx="2606040" cy="3840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7D3CFF"/>
                </a:solidFill>
                <a:latin typeface="微软雅黑"/>
                <a:ea typeface="微软雅黑"/>
                <a:cs typeface="微软雅黑"/>
              </a:rPr>
              <a:t>两度赴德:宝马/奔驰/大众/奥迪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02920" y="3986784"/>
            <a:ext cx="8138160" cy="585216"/>
          </a:xfrm>
          <a:prstGeom prst="roundRect">
            <a:avLst>
              <a:gd name="adj" fmla="val 12000"/>
            </a:avLst>
          </a:prstGeom>
          <a:gradFill>
            <a:gsLst>
              <a:gs pos="0">
                <a:srgbClr val="0A1A3D"/>
              </a:gs>
              <a:gs pos="100000">
                <a:srgbClr val="291C5E"/>
              </a:gs>
            </a:gsLst>
            <a:lin ang="0" scaled="1"/>
          </a:gradFill>
          <a:ln>
            <a:noFill/>
          </a:ln>
          <a:effectLst>
            <a:outerShdw blurRad="80000" dist="30000" dir="5400000" rotWithShape="0">
              <a:srgbClr val="17244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02920" y="4114800"/>
            <a:ext cx="54864" cy="329184"/>
          </a:xfrm>
          <a:prstGeom prst="rect">
            <a:avLst/>
          </a:prstGeom>
          <a:solidFill>
            <a:srgbClr val="00B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95528" y="3986784"/>
            <a:ext cx="7589520" cy="58521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既懂德系高标准,又懂中国量产节奏</a:t>
            </a:r>
            <a:r>
              <a:rPr sz="1100" b="0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  这是大多数本土与外资团队都给不齐的组合。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02920" y="4846320"/>
            <a:ext cx="8138160" cy="10972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22960" y="4873752"/>
            <a:ext cx="6400800" cy="21945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6A7896"/>
                </a:solidFill>
                <a:latin typeface="微软雅黑"/>
                <a:ea typeface="微软雅黑"/>
                <a:cs typeface="微软雅黑"/>
              </a:rPr>
              <a:t>卓迈 JOMEC</a:t>
            </a:r>
            <a:r>
              <a:rPr sz="800" b="0" i="0">
                <a:solidFill>
                  <a:srgbClr val="959FB5"/>
                </a:solidFill>
                <a:latin typeface="微软雅黑"/>
                <a:ea typeface="微软雅黑"/>
                <a:cs typeface="微软雅黑"/>
              </a:rPr>
              <a:t>  ·  NICE 智能座舱体验舱 · 把硬件优势变成体验话语权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955279" y="4873752"/>
            <a:ext cx="685800" cy="21945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6A789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18120" y="4855464"/>
            <a:ext cx="777240" cy="21945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8A98B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0B1024"/>
              </a:gs>
              <a:gs pos="100000">
                <a:srgbClr val="16123A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760720" y="-457200"/>
            <a:ext cx="4114800" cy="4114800"/>
          </a:xfrm>
          <a:prstGeom prst="ellipse">
            <a:avLst/>
          </a:prstGeom>
          <a:noFill/>
          <a:ln w="12700">
            <a:solidFill>
              <a:srgbClr val="24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949440" y="1280160"/>
            <a:ext cx="3291840" cy="3291840"/>
          </a:xfrm>
          <a:prstGeom prst="ellipse">
            <a:avLst/>
          </a:prstGeom>
          <a:noFill/>
          <a:ln w="12700">
            <a:solidFill>
              <a:srgbClr val="5A1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736592"/>
            <a:ext cx="9144000" cy="10972"/>
          </a:xfrm>
          <a:prstGeom prst="rect">
            <a:avLst/>
          </a:prstGeom>
          <a:solidFill>
            <a:srgbClr val="24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0" y="0"/>
            <a:ext cx="10972" cy="5143500"/>
          </a:xfrm>
          <a:prstGeom prst="rect">
            <a:avLst/>
          </a:prstGeom>
          <a:solidFill>
            <a:srgbClr val="162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36208" y="0"/>
            <a:ext cx="10972" cy="5143500"/>
          </a:xfrm>
          <a:prstGeom prst="rect">
            <a:avLst/>
          </a:prstGeom>
          <a:solidFill>
            <a:srgbClr val="162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03136" y="0"/>
            <a:ext cx="10972" cy="5143500"/>
          </a:xfrm>
          <a:prstGeom prst="rect">
            <a:avLst/>
          </a:prstGeom>
          <a:solidFill>
            <a:srgbClr val="162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70064" y="0"/>
            <a:ext cx="10972" cy="5143500"/>
          </a:xfrm>
          <a:prstGeom prst="rect">
            <a:avLst/>
          </a:prstGeom>
          <a:solidFill>
            <a:srgbClr val="162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36992" y="0"/>
            <a:ext cx="10972" cy="5143500"/>
          </a:xfrm>
          <a:prstGeom prst="rect">
            <a:avLst/>
          </a:prstGeom>
          <a:solidFill>
            <a:srgbClr val="162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03920" y="0"/>
            <a:ext cx="10972" cy="5143500"/>
          </a:xfrm>
          <a:prstGeom prst="rect">
            <a:avLst/>
          </a:prstGeom>
          <a:solidFill>
            <a:srgbClr val="162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0" y="274320"/>
            <a:ext cx="3657600" cy="32918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0" b="1" i="0">
                <a:solidFill>
                  <a:srgbClr val="16244E"/>
                </a:solidFill>
                <a:latin typeface="Arial Black"/>
                <a:ea typeface="Arial Black"/>
                <a:cs typeface="Arial Black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777240"/>
            <a:ext cx="274320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7D3CFF"/>
                </a:solidFill>
                <a:latin typeface="Arial"/>
                <a:ea typeface="Arial"/>
                <a:cs typeface="Arial"/>
              </a:rPr>
              <a:t>PART 03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463040"/>
            <a:ext cx="73152" cy="1371600"/>
          </a:xfrm>
          <a:prstGeom prst="rect">
            <a:avLst/>
          </a:prstGeom>
          <a:solidFill>
            <a:srgbClr val="7D3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1371600"/>
            <a:ext cx="731520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0B5E3"/>
                </a:solidFill>
                <a:latin typeface="Arial"/>
                <a:ea typeface="Arial"/>
                <a:cs typeface="Arial"/>
              </a:rPr>
              <a:t>THE DEMO 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1783080"/>
            <a:ext cx="7680960" cy="8229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样机解决方案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2971800"/>
            <a:ext cx="6949440" cy="914400"/>
          </a:xfrm>
          <a:prstGeom prst="roundRect">
            <a:avLst>
              <a:gd name="adj" fmla="val 8000"/>
            </a:avLst>
          </a:prstGeom>
          <a:solidFill>
            <a:srgbClr val="10224A"/>
          </a:solidFill>
          <a:ln w="9525">
            <a:solidFill>
              <a:srgbClr val="2B3A66"/>
            </a:solidFill>
          </a:ln>
          <a:effectLst>
            <a:outerShdw blurRad="80000" dist="30000" dir="5400000" rotWithShape="0">
              <a:srgbClr val="17244A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8680" y="3044952"/>
            <a:ext cx="54864" cy="768096"/>
          </a:xfrm>
          <a:prstGeom prst="rect">
            <a:avLst/>
          </a:prstGeom>
          <a:solidFill>
            <a:srgbClr val="00B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568" y="2971800"/>
            <a:ext cx="6583680" cy="9144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样机有真假之分,主机厂评审现场见分晓。能摸、能动、能现场联调、过信号干涉测试的 L3 全功能可交互样机,才扛得住工程拷问。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gradFill>
            <a:gsLst>
              <a:gs pos="0">
                <a:srgbClr val="0A1A3D"/>
              </a:gs>
              <a:gs pos="100000">
                <a:srgbClr val="1B448E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841248" cy="841248"/>
          </a:xfrm>
          <a:prstGeom prst="rect">
            <a:avLst/>
          </a:prstGeom>
          <a:solidFill>
            <a:srgbClr val="0A1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0"/>
            <a:ext cx="41148" cy="841248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841248" cy="8412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146304"/>
            <a:ext cx="6766560" cy="4114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重新定义品类:样机有真假之分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48640"/>
            <a:ext cx="6766560" cy="2286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8FB2F0"/>
                </a:solidFill>
                <a:latin typeface="Arial"/>
                <a:ea typeface="Arial"/>
                <a:cs typeface="Arial"/>
              </a:rPr>
              <a:t>REAL vs FAKE DEMO</a:t>
            </a:r>
          </a:p>
        </p:txBody>
      </p:sp>
      <p:sp>
        <p:nvSpPr>
          <p:cNvPr id="9" name="Oval 8"/>
          <p:cNvSpPr/>
          <p:nvPr/>
        </p:nvSpPr>
        <p:spPr>
          <a:xfrm>
            <a:off x="7818120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64424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110728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57032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03336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49640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818120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964424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110728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57032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03336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49640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818120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964424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110728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57032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403336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549640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836676"/>
            <a:ext cx="9144000" cy="27432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02920" y="987552"/>
            <a:ext cx="8138160" cy="548640"/>
          </a:xfrm>
          <a:prstGeom prst="roundRect">
            <a:avLst>
              <a:gd name="adj" fmla="val 12000"/>
            </a:avLst>
          </a:prstGeom>
          <a:solidFill>
            <a:srgbClr val="F5F8FD"/>
          </a:solidFill>
          <a:ln w="9525">
            <a:solidFill>
              <a:srgbClr val="E2E8F3"/>
            </a:solidFill>
          </a:ln>
          <a:effectLst>
            <a:outerShdw blurRad="50000" dist="18000" dir="5400000" rotWithShape="0">
              <a:srgbClr val="17244A">
                <a:alpha val="8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1060704"/>
            <a:ext cx="54864" cy="402335"/>
          </a:xfrm>
          <a:prstGeom prst="rect">
            <a:avLst/>
          </a:prstGeom>
          <a:solidFill>
            <a:srgbClr val="7D3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" y="987552"/>
            <a:ext cx="7772400" cy="5486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7D3CFF"/>
                </a:solidFill>
                <a:latin typeface="微软雅黑"/>
                <a:ea typeface="微软雅黑"/>
                <a:cs typeface="微软雅黑"/>
              </a:rPr>
              <a:t>评审现场 · </a:t>
            </a:r>
            <a:r>
              <a:rPr sz="100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好看的壳子 + 假屏,评委一问『能动吗』就卡住;唯有能摸能动、过信号干涉测试的样机,才取信工程评委。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1737360"/>
            <a:ext cx="2651760" cy="16276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3"/>
            </a:solidFill>
          </a:ln>
          <a:effectLst>
            <a:outerShdw blurRad="80000" dist="30000" dir="5400000" rotWithShape="0">
              <a:srgbClr val="17244A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648" y="1737360"/>
            <a:ext cx="2432304" cy="45720"/>
          </a:xfrm>
          <a:prstGeom prst="rect">
            <a:avLst/>
          </a:prstGeom>
          <a:solidFill>
            <a:srgbClr val="C2C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1883664"/>
            <a:ext cx="2286000" cy="4114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959FB5"/>
                </a:solidFill>
                <a:latin typeface="Arial Black"/>
                <a:ea typeface="Arial Black"/>
                <a:cs typeface="Arial Black"/>
              </a:rPr>
              <a:t>L1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2331720"/>
            <a:ext cx="2286000" cy="3200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A1A3D"/>
                </a:solidFill>
                <a:latin typeface="微软雅黑"/>
                <a:ea typeface="微软雅黑"/>
                <a:cs typeface="微软雅黑"/>
              </a:rPr>
              <a:t>静态造型舱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2697480"/>
            <a:ext cx="2286000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好看的壳子 + 假屏。只能看、能拍照;一问能动吗就卡住。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73552" y="1737360"/>
            <a:ext cx="2651760" cy="16276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3"/>
            </a:solidFill>
          </a:ln>
          <a:effectLst>
            <a:outerShdw blurRad="80000" dist="30000" dir="5400000" rotWithShape="0">
              <a:srgbClr val="17244A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383280" y="1737360"/>
            <a:ext cx="2432304" cy="45720"/>
          </a:xfrm>
          <a:prstGeom prst="rect">
            <a:avLst/>
          </a:prstGeom>
          <a:solidFill>
            <a:srgbClr val="C2C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56432" y="1883664"/>
            <a:ext cx="2286000" cy="4114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959FB5"/>
                </a:solidFill>
                <a:latin typeface="Arial Black"/>
                <a:ea typeface="Arial Black"/>
                <a:cs typeface="Arial Black"/>
              </a:rPr>
              <a:t>L2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56432" y="2331720"/>
            <a:ext cx="2286000" cy="3200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A1A3D"/>
                </a:solidFill>
                <a:latin typeface="微软雅黑"/>
                <a:ea typeface="微软雅黑"/>
                <a:cs typeface="微软雅黑"/>
              </a:rPr>
              <a:t>数字孪生 / 视频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56432" y="2697480"/>
            <a:ext cx="2286000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屏幕里的炫酷演示。只能播放;摸不到、难取信评委。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044184" y="1737360"/>
            <a:ext cx="2651760" cy="16276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3"/>
            </a:solidFill>
          </a:ln>
          <a:effectLst>
            <a:outerShdw blurRad="80000" dist="30000" dir="5400000" rotWithShape="0">
              <a:srgbClr val="17244A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53912" y="1737360"/>
            <a:ext cx="2432304" cy="45720"/>
          </a:xfrm>
          <a:prstGeom prst="rect">
            <a:avLst/>
          </a:prstGeom>
          <a:solidFill>
            <a:srgbClr val="7D3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044184" y="1737360"/>
            <a:ext cx="2651760" cy="1627632"/>
          </a:xfrm>
          <a:prstGeom prst="roundRect">
            <a:avLst>
              <a:gd name="adj" fmla="val 6000"/>
            </a:avLst>
          </a:prstGeom>
          <a:noFill/>
          <a:ln w="17780">
            <a:solidFill>
              <a:srgbClr val="7D3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27064" y="1883664"/>
            <a:ext cx="2286000" cy="4114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7D3CFF"/>
                </a:solidFill>
                <a:latin typeface="Arial Black"/>
                <a:ea typeface="Arial Black"/>
                <a:cs typeface="Arial Black"/>
              </a:rPr>
              <a:t>L3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27064" y="2331720"/>
            <a:ext cx="2286000" cy="3200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A1A3D"/>
                </a:solidFill>
                <a:latin typeface="微软雅黑"/>
                <a:ea typeface="微软雅黑"/>
                <a:cs typeface="微软雅黑"/>
              </a:rPr>
              <a:t>全功能可交互样机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27064" y="2697480"/>
            <a:ext cx="2286000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能摸、能动、能现场联调、过信号干涉测试。扛工程拷问。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2920" y="3986784"/>
            <a:ext cx="8138160" cy="585216"/>
          </a:xfrm>
          <a:prstGeom prst="roundRect">
            <a:avLst>
              <a:gd name="adj" fmla="val 12000"/>
            </a:avLst>
          </a:prstGeom>
          <a:gradFill>
            <a:gsLst>
              <a:gs pos="0">
                <a:srgbClr val="0A1A3D"/>
              </a:gs>
              <a:gs pos="100000">
                <a:srgbClr val="291C5E"/>
              </a:gs>
            </a:gsLst>
            <a:lin ang="0" scaled="1"/>
          </a:gradFill>
          <a:ln>
            <a:noFill/>
          </a:ln>
          <a:effectLst>
            <a:outerShdw blurRad="80000" dist="30000" dir="5400000" rotWithShape="0">
              <a:srgbClr val="17244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" y="4114800"/>
            <a:ext cx="54864" cy="329184"/>
          </a:xfrm>
          <a:prstGeom prst="rect">
            <a:avLst/>
          </a:prstGeom>
          <a:solidFill>
            <a:srgbClr val="00B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95528" y="3986784"/>
            <a:ext cx="7589520" cy="58521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JOMEC 的定义:能力闭环 · 单一责任主体</a:t>
            </a:r>
            <a:r>
              <a:rPr sz="1100" b="0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  造型→交互→软硬件→机构→样机,协同出的问题我们兜底。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" y="4846320"/>
            <a:ext cx="8138160" cy="10972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2960" y="4873752"/>
            <a:ext cx="6400800" cy="21945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6A7896"/>
                </a:solidFill>
                <a:latin typeface="微软雅黑"/>
                <a:ea typeface="微软雅黑"/>
                <a:cs typeface="微软雅黑"/>
              </a:rPr>
              <a:t>卓迈 JOMEC</a:t>
            </a:r>
            <a:r>
              <a:rPr sz="800" b="0" i="0">
                <a:solidFill>
                  <a:srgbClr val="959FB5"/>
                </a:solidFill>
                <a:latin typeface="微软雅黑"/>
                <a:ea typeface="微软雅黑"/>
                <a:cs typeface="微软雅黑"/>
              </a:rPr>
              <a:t>  ·  NICE 智能座舱体验舱 · 把硬件优势变成体验话语权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55279" y="4873752"/>
            <a:ext cx="685800" cy="21945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6A789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gradFill>
            <a:gsLst>
              <a:gs pos="0">
                <a:srgbClr val="0A1A3D"/>
              </a:gs>
              <a:gs pos="100000">
                <a:srgbClr val="1B448E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841248" cy="841248"/>
          </a:xfrm>
          <a:prstGeom prst="rect">
            <a:avLst/>
          </a:prstGeom>
          <a:solidFill>
            <a:srgbClr val="0A1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0"/>
            <a:ext cx="41148" cy="841248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841248" cy="8412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146304"/>
            <a:ext cx="6766560" cy="4114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差异化证据:能动样机背后,是量产级工程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48640"/>
            <a:ext cx="6766560" cy="2286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8FB2F0"/>
                </a:solidFill>
                <a:latin typeface="Arial"/>
                <a:ea typeface="Arial"/>
                <a:cs typeface="Arial"/>
              </a:rPr>
              <a:t>THE ENGINEERING BASE</a:t>
            </a:r>
          </a:p>
        </p:txBody>
      </p:sp>
      <p:sp>
        <p:nvSpPr>
          <p:cNvPr id="9" name="Oval 8"/>
          <p:cNvSpPr/>
          <p:nvPr/>
        </p:nvSpPr>
        <p:spPr>
          <a:xfrm>
            <a:off x="7818120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64424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110728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57032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03336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49640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818120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964424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110728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57032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03336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49640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818120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964424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110728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57032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403336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549640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836676"/>
            <a:ext cx="9144000" cy="27432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02920" y="1097280"/>
            <a:ext cx="265176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3"/>
            </a:solidFill>
          </a:ln>
          <a:effectLst>
            <a:outerShdw blurRad="80000" dist="30000" dir="5400000" rotWithShape="0">
              <a:srgbClr val="17244A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2648" y="1097280"/>
            <a:ext cx="2432304" cy="45720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benc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16152"/>
            <a:ext cx="2377440" cy="914400"/>
          </a:xfrm>
          <a:prstGeom prst="rect">
            <a:avLst/>
          </a:prstGeom>
          <a:ln w="15240">
            <a:solidFill>
              <a:srgbClr val="246BFF"/>
            </a:solidFill>
          </a:ln>
          <a:effectLst>
            <a:outerShdw blurRad="80000" dist="30000" dir="5400000" rotWithShape="0">
              <a:srgbClr val="17244A">
                <a:alpha val="78000"/>
              </a:srgbClr>
            </a:outerShdw>
          </a:effectLst>
        </p:spPr>
      </p:pic>
      <p:sp>
        <p:nvSpPr>
          <p:cNvPr id="31" name="TextBox 30"/>
          <p:cNvSpPr txBox="1"/>
          <p:nvPr/>
        </p:nvSpPr>
        <p:spPr>
          <a:xfrm>
            <a:off x="685800" y="2231136"/>
            <a:ext cx="22860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A1A3D"/>
                </a:solidFill>
                <a:latin typeface="微软雅黑"/>
                <a:ea typeface="微软雅黑"/>
                <a:cs typeface="微软雅黑"/>
              </a:rPr>
              <a:t>测试台架</a:t>
            </a:r>
            <a:r>
              <a:rPr sz="850" b="1" i="0">
                <a:solidFill>
                  <a:srgbClr val="246BFF"/>
                </a:solidFill>
                <a:latin typeface="微软雅黑"/>
                <a:ea typeface="微软雅黑"/>
                <a:cs typeface="微软雅黑"/>
              </a:rPr>
              <a:t>  把风险提前到样机阶段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2578608"/>
            <a:ext cx="2286000" cy="8686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样机进评审室前先在台架把问题出完:总线/信号干涉/氛围灯/机构/多屏/散热/识别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3419856"/>
            <a:ext cx="2286000" cy="347472"/>
          </a:xfrm>
          <a:prstGeom prst="roundRect">
            <a:avLst>
              <a:gd name="adj" fmla="val 40000"/>
            </a:avLst>
          </a:prstGeom>
          <a:solidFill>
            <a:srgbClr val="F5F8FD"/>
          </a:solidFill>
          <a:ln w="9525">
            <a:solidFill>
              <a:srgbClr val="24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3419856"/>
            <a:ext cx="2286000" cy="34747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246BFF"/>
                </a:solidFill>
                <a:latin typeface="微软雅黑"/>
                <a:ea typeface="微软雅黑"/>
                <a:cs typeface="微软雅黑"/>
              </a:rPr>
              <a:t>9 项联调验证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273552" y="1097280"/>
            <a:ext cx="265176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3"/>
            </a:solidFill>
          </a:ln>
          <a:effectLst>
            <a:outerShdw blurRad="80000" dist="30000" dir="5400000" rotWithShape="0">
              <a:srgbClr val="17244A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383280" y="1097280"/>
            <a:ext cx="2432304" cy="45720"/>
          </a:xfrm>
          <a:prstGeom prst="rect">
            <a:avLst/>
          </a:prstGeom>
          <a:solidFill>
            <a:srgbClr val="00B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sea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0712" y="1216152"/>
            <a:ext cx="2377440" cy="914400"/>
          </a:xfrm>
          <a:prstGeom prst="rect">
            <a:avLst/>
          </a:prstGeom>
          <a:ln w="15240">
            <a:solidFill>
              <a:srgbClr val="00B5E3"/>
            </a:solidFill>
          </a:ln>
          <a:effectLst>
            <a:outerShdw blurRad="80000" dist="30000" dir="5400000" rotWithShape="0">
              <a:srgbClr val="17244A">
                <a:alpha val="78000"/>
              </a:srgbClr>
            </a:outerShdw>
          </a:effectLst>
        </p:spPr>
      </p:pic>
      <p:sp>
        <p:nvSpPr>
          <p:cNvPr id="38" name="TextBox 37"/>
          <p:cNvSpPr txBox="1"/>
          <p:nvPr/>
        </p:nvSpPr>
        <p:spPr>
          <a:xfrm>
            <a:off x="3456432" y="2231136"/>
            <a:ext cx="22860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A1A3D"/>
                </a:solidFill>
                <a:latin typeface="微软雅黑"/>
                <a:ea typeface="微软雅黑"/>
                <a:cs typeface="微软雅黑"/>
              </a:rPr>
              <a:t>运动机构</a:t>
            </a:r>
            <a:r>
              <a:rPr sz="850" b="1" i="0">
                <a:solidFill>
                  <a:srgbClr val="00B5E3"/>
                </a:solidFill>
                <a:latin typeface="微软雅黑"/>
                <a:ea typeface="微软雅黑"/>
                <a:cs typeface="微软雅黑"/>
              </a:rPr>
              <a:t>  最难的开闭件已到量产级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56432" y="2578608"/>
            <a:ext cx="2286000" cy="8686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折叠方向盘达上汽乘用车量产级并装车联调;鸥翼门/侧门应用于百度 Apollo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456432" y="3419856"/>
            <a:ext cx="2286000" cy="347472"/>
          </a:xfrm>
          <a:prstGeom prst="roundRect">
            <a:avLst>
              <a:gd name="adj" fmla="val 40000"/>
            </a:avLst>
          </a:prstGeom>
          <a:solidFill>
            <a:srgbClr val="F5F8FD"/>
          </a:solidFill>
          <a:ln w="9525">
            <a:solidFill>
              <a:srgbClr val="00B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56432" y="3419856"/>
            <a:ext cx="2286000" cy="34747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00B5E3"/>
                </a:solidFill>
                <a:latin typeface="微软雅黑"/>
                <a:ea typeface="微软雅黑"/>
                <a:cs typeface="微软雅黑"/>
              </a:rPr>
              <a:t>上汽量产级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044184" y="1097280"/>
            <a:ext cx="265176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3"/>
            </a:solidFill>
          </a:ln>
          <a:effectLst>
            <a:outerShdw blurRad="80000" dist="30000" dir="5400000" rotWithShape="0">
              <a:srgbClr val="17244A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53912" y="1097280"/>
            <a:ext cx="2432304" cy="45720"/>
          </a:xfrm>
          <a:prstGeom prst="rect">
            <a:avLst/>
          </a:prstGeom>
          <a:solidFill>
            <a:srgbClr val="7D3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ctr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344" y="1216152"/>
            <a:ext cx="2377440" cy="914400"/>
          </a:xfrm>
          <a:prstGeom prst="rect">
            <a:avLst/>
          </a:prstGeom>
          <a:ln w="15240">
            <a:solidFill>
              <a:srgbClr val="7D3CFF"/>
            </a:solidFill>
          </a:ln>
          <a:effectLst>
            <a:outerShdw blurRad="80000" dist="30000" dir="5400000" rotWithShape="0">
              <a:srgbClr val="17244A">
                <a:alpha val="78000"/>
              </a:srgbClr>
            </a:outerShdw>
          </a:effectLst>
        </p:spPr>
      </p:pic>
      <p:sp>
        <p:nvSpPr>
          <p:cNvPr id="45" name="TextBox 44"/>
          <p:cNvSpPr txBox="1"/>
          <p:nvPr/>
        </p:nvSpPr>
        <p:spPr>
          <a:xfrm>
            <a:off x="6227064" y="2231136"/>
            <a:ext cx="22860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A1A3D"/>
                </a:solidFill>
                <a:latin typeface="微软雅黑"/>
                <a:ea typeface="微软雅黑"/>
                <a:cs typeface="微软雅黑"/>
              </a:rPr>
              <a:t>自研车规控制器</a:t>
            </a:r>
            <a:r>
              <a:rPr sz="850" b="1" i="0">
                <a:solidFill>
                  <a:srgbClr val="7D3CFF"/>
                </a:solidFill>
                <a:latin typeface="微软雅黑"/>
                <a:ea typeface="微软雅黑"/>
                <a:cs typeface="微软雅黑"/>
              </a:rPr>
              <a:t>  软硬件是自己的,不外包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27064" y="2578608"/>
            <a:ext cx="2286000" cy="8686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已自研 5 类实物控制器:通用/多路通断/RGB氛围灯/三相电机/小型舵机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27064" y="3419856"/>
            <a:ext cx="2286000" cy="347472"/>
          </a:xfrm>
          <a:prstGeom prst="roundRect">
            <a:avLst>
              <a:gd name="adj" fmla="val 40000"/>
            </a:avLst>
          </a:prstGeom>
          <a:solidFill>
            <a:srgbClr val="F5F8FD"/>
          </a:solidFill>
          <a:ln w="9525">
            <a:solidFill>
              <a:srgbClr val="7D3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27064" y="3419856"/>
            <a:ext cx="2286000" cy="34747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7D3CFF"/>
                </a:solidFill>
                <a:latin typeface="微软雅黑"/>
                <a:ea typeface="微软雅黑"/>
                <a:cs typeface="微软雅黑"/>
              </a:rPr>
              <a:t>5 类自研控制器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02920" y="3986784"/>
            <a:ext cx="8138160" cy="585216"/>
          </a:xfrm>
          <a:prstGeom prst="roundRect">
            <a:avLst>
              <a:gd name="adj" fmla="val 12000"/>
            </a:avLst>
          </a:prstGeom>
          <a:gradFill>
            <a:gsLst>
              <a:gs pos="0">
                <a:srgbClr val="0A1A3D"/>
              </a:gs>
              <a:gs pos="100000">
                <a:srgbClr val="291C5E"/>
              </a:gs>
            </a:gsLst>
            <a:lin ang="0" scaled="1"/>
          </a:gradFill>
          <a:ln>
            <a:noFill/>
          </a:ln>
          <a:effectLst>
            <a:outerShdw blurRad="80000" dist="30000" dir="5400000" rotWithShape="0">
              <a:srgbClr val="17244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02920" y="4114800"/>
            <a:ext cx="54864" cy="329184"/>
          </a:xfrm>
          <a:prstGeom prst="rect">
            <a:avLst/>
          </a:prstGeom>
          <a:solidFill>
            <a:srgbClr val="00B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95528" y="3986784"/>
            <a:ext cx="7589520" cy="58521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反复出现的『量产级』『车规』『通过性能测试』</a:t>
            </a:r>
            <a:r>
              <a:rPr sz="1100" b="0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  这是 JOMEC 与造型模型公司的根本分野。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920" y="4846320"/>
            <a:ext cx="8138160" cy="10972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2960" y="4873752"/>
            <a:ext cx="6400800" cy="21945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6A7896"/>
                </a:solidFill>
                <a:latin typeface="微软雅黑"/>
                <a:ea typeface="微软雅黑"/>
                <a:cs typeface="微软雅黑"/>
              </a:rPr>
              <a:t>卓迈 JOMEC</a:t>
            </a:r>
            <a:r>
              <a:rPr sz="800" b="0" i="0">
                <a:solidFill>
                  <a:srgbClr val="959FB5"/>
                </a:solidFill>
                <a:latin typeface="微软雅黑"/>
                <a:ea typeface="微软雅黑"/>
                <a:cs typeface="微软雅黑"/>
              </a:rPr>
              <a:t>  ·  NICE 智能座舱体验舱 · 把硬件优势变成体验话语权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55279" y="4873752"/>
            <a:ext cx="685800" cy="21945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6A789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gradFill>
            <a:gsLst>
              <a:gs pos="0">
                <a:srgbClr val="0A1A3D"/>
              </a:gs>
              <a:gs pos="100000">
                <a:srgbClr val="1B448E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841248" cy="841248"/>
          </a:xfrm>
          <a:prstGeom prst="rect">
            <a:avLst/>
          </a:prstGeom>
          <a:solidFill>
            <a:srgbClr val="0A1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0"/>
            <a:ext cx="41148" cy="841248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841248" cy="8412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146304"/>
            <a:ext cx="6766560" cy="4114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降低决策风险:自有专利创新库,即插即用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48640"/>
            <a:ext cx="6766560" cy="2286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8FB2F0"/>
                </a:solidFill>
                <a:latin typeface="Arial"/>
                <a:ea typeface="Arial"/>
                <a:cs typeface="Arial"/>
              </a:rPr>
              <a:t>OWNED-PATENT LIBRARY</a:t>
            </a:r>
          </a:p>
        </p:txBody>
      </p:sp>
      <p:sp>
        <p:nvSpPr>
          <p:cNvPr id="9" name="Oval 8"/>
          <p:cNvSpPr/>
          <p:nvPr/>
        </p:nvSpPr>
        <p:spPr>
          <a:xfrm>
            <a:off x="7818120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64424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110728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57032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03336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49640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818120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964424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110728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57032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03336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49640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818120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964424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110728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57032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403336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549640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836676"/>
            <a:ext cx="9144000" cy="27432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02920" y="1051560"/>
            <a:ext cx="265176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3"/>
            </a:solidFill>
          </a:ln>
          <a:effectLst>
            <a:outerShdw blurRad="80000" dist="30000" dir="5400000" rotWithShape="0">
              <a:srgbClr val="17244A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2648" y="1051560"/>
            <a:ext cx="2432304" cy="45720"/>
          </a:xfrm>
          <a:prstGeom prst="rect">
            <a:avLst/>
          </a:prstGeom>
          <a:solidFill>
            <a:srgbClr val="7D3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58368" y="1207007"/>
            <a:ext cx="457200" cy="457200"/>
          </a:xfrm>
          <a:prstGeom prst="ellipse">
            <a:avLst/>
          </a:prstGeom>
          <a:gradFill>
            <a:gsLst>
              <a:gs pos="0">
                <a:srgbClr val="7D3CFF"/>
              </a:gs>
              <a:gs pos="100000">
                <a:srgbClr val="5A1BDF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w-15-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316736"/>
            <a:ext cx="237744" cy="23774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216152" y="1170431"/>
            <a:ext cx="1097280" cy="5029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A1A3D"/>
                </a:solidFill>
                <a:latin typeface="微软雅黑"/>
                <a:ea typeface="微软雅黑"/>
                <a:cs typeface="微软雅黑"/>
              </a:rPr>
              <a:t>透光表面 ShyTech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286000" y="1197863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0A1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86000" y="1197863"/>
            <a:ext cx="731520" cy="25603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C87DFF"/>
                </a:solidFill>
                <a:latin typeface="微软雅黑"/>
                <a:ea typeface="微软雅黑"/>
                <a:cs typeface="微软雅黑"/>
              </a:rPr>
              <a:t>华翔主场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" y="1691639"/>
            <a:ext cx="237744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7D3CFF"/>
                </a:solidFill>
                <a:latin typeface="微软雅黑"/>
                <a:ea typeface="微软雅黑"/>
                <a:cs typeface="微软雅黑"/>
              </a:rPr>
              <a:t>去物理按键仍保留全部开关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" y="1984248"/>
            <a:ext cx="237744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900–1200lm/m²·寿命5万h·透光92%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73552" y="1051560"/>
            <a:ext cx="265176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3"/>
            </a:solidFill>
          </a:ln>
          <a:effectLst>
            <a:outerShdw blurRad="80000" dist="30000" dir="5400000" rotWithShape="0">
              <a:srgbClr val="17244A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383280" y="1051560"/>
            <a:ext cx="2432304" cy="45720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429000" y="1207007"/>
            <a:ext cx="457200" cy="457200"/>
          </a:xfrm>
          <a:prstGeom prst="ellipse">
            <a:avLst/>
          </a:prstGeom>
          <a:gradFill>
            <a:gsLst>
              <a:gs pos="0">
                <a:srgbClr val="246BFF"/>
              </a:gs>
              <a:gs pos="100000">
                <a:srgbClr val="5A1BDF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w-24-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8728" y="1316736"/>
            <a:ext cx="237744" cy="237744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3986784" y="1170431"/>
            <a:ext cx="1828800" cy="5029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A1A3D"/>
                </a:solidFill>
                <a:latin typeface="微软雅黑"/>
                <a:ea typeface="微软雅黑"/>
                <a:cs typeface="微软雅黑"/>
              </a:rPr>
              <a:t>隐藏式电动长滑轨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38144" y="1691639"/>
            <a:ext cx="237744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246BFF"/>
                </a:solidFill>
                <a:latin typeface="微软雅黑"/>
                <a:ea typeface="微软雅黑"/>
                <a:cs typeface="微软雅黑"/>
              </a:rPr>
              <a:t>把『第三空间』做出来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38144" y="1984248"/>
            <a:ext cx="237744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承重15kg·收纳740×560×270·30°爬坡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044184" y="1051560"/>
            <a:ext cx="265176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3"/>
            </a:solidFill>
          </a:ln>
          <a:effectLst>
            <a:outerShdw blurRad="80000" dist="30000" dir="5400000" rotWithShape="0">
              <a:srgbClr val="17244A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53912" y="1051560"/>
            <a:ext cx="2432304" cy="45720"/>
          </a:xfrm>
          <a:prstGeom prst="rect">
            <a:avLst/>
          </a:prstGeom>
          <a:solidFill>
            <a:srgbClr val="00B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199632" y="1207007"/>
            <a:ext cx="457200" cy="457200"/>
          </a:xfrm>
          <a:prstGeom prst="ellipse">
            <a:avLst/>
          </a:prstGeom>
          <a:gradFill>
            <a:gsLst>
              <a:gs pos="0">
                <a:srgbClr val="00B5E3"/>
              </a:gs>
              <a:gs pos="100000">
                <a:srgbClr val="5A1BDF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w-19-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316736"/>
            <a:ext cx="237744" cy="237744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6757416" y="1170431"/>
            <a:ext cx="1828800" cy="5029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A1A3D"/>
                </a:solidFill>
                <a:latin typeface="微软雅黑"/>
                <a:ea typeface="微软雅黑"/>
                <a:cs typeface="微软雅黑"/>
              </a:rPr>
              <a:t>椅背磁吸智联拓展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08776" y="1691639"/>
            <a:ext cx="237744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00B5E3"/>
                </a:solidFill>
                <a:latin typeface="微软雅黑"/>
                <a:ea typeface="微软雅黑"/>
                <a:cs typeface="微软雅黑"/>
              </a:rPr>
              <a:t>屏幕/平板即吸即用+无线充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08776" y="1984248"/>
            <a:ext cx="237744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90°旋转·磁吸+无线充·减少凸露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865376" y="2514600"/>
            <a:ext cx="265176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3"/>
            </a:solidFill>
          </a:ln>
          <a:effectLst>
            <a:outerShdw blurRad="80000" dist="30000" dir="5400000" rotWithShape="0">
              <a:srgbClr val="17244A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975104" y="2514600"/>
            <a:ext cx="2432304" cy="45720"/>
          </a:xfrm>
          <a:prstGeom prst="rect">
            <a:avLst/>
          </a:prstGeom>
          <a:solidFill>
            <a:srgbClr val="5A1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020824" y="2670048"/>
            <a:ext cx="457200" cy="457200"/>
          </a:xfrm>
          <a:prstGeom prst="ellipse">
            <a:avLst/>
          </a:prstGeom>
          <a:gradFill>
            <a:gsLst>
              <a:gs pos="0">
                <a:srgbClr val="5A1BDF"/>
              </a:gs>
              <a:gs pos="100000">
                <a:srgbClr val="5A1BDF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w-19-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0552" y="2779776"/>
            <a:ext cx="237744" cy="237744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2578608" y="2633472"/>
            <a:ext cx="1828800" cy="5029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A1A3D"/>
                </a:solidFill>
                <a:latin typeface="微软雅黑"/>
                <a:ea typeface="微软雅黑"/>
                <a:cs typeface="微软雅黑"/>
              </a:rPr>
              <a:t>重力感应升降杯托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29968" y="3154680"/>
            <a:ext cx="237744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5A1BDF"/>
                </a:solidFill>
                <a:latin typeface="微软雅黑"/>
                <a:ea typeface="微软雅黑"/>
                <a:cs typeface="微软雅黑"/>
              </a:rPr>
              <a:t>自动感知适应物品重量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29968" y="3447288"/>
            <a:ext cx="237744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寿命≥10万次·IPX4·20°不洒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038344" y="2514600"/>
            <a:ext cx="265176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3"/>
            </a:solidFill>
          </a:ln>
          <a:effectLst>
            <a:outerShdw blurRad="80000" dist="30000" dir="5400000" rotWithShape="0">
              <a:srgbClr val="17244A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148072" y="2514600"/>
            <a:ext cx="2432304" cy="45720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5193792" y="2670048"/>
            <a:ext cx="457200" cy="457200"/>
          </a:xfrm>
          <a:prstGeom prst="ellipse">
            <a:avLst/>
          </a:prstGeom>
          <a:gradFill>
            <a:gsLst>
              <a:gs pos="0">
                <a:srgbClr val="246BFF"/>
              </a:gs>
              <a:gs pos="100000">
                <a:srgbClr val="5A1BDF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w-24-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0" y="2779776"/>
            <a:ext cx="237744" cy="237744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5751576" y="2633472"/>
            <a:ext cx="1828800" cy="5029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A1A3D"/>
                </a:solidFill>
                <a:latin typeface="微软雅黑"/>
                <a:ea typeface="微软雅黑"/>
                <a:cs typeface="微软雅黑"/>
              </a:rPr>
              <a:t>折叠方向盘机构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202936" y="3154680"/>
            <a:ext cx="237744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246BFF"/>
                </a:solidFill>
                <a:latin typeface="微软雅黑"/>
                <a:ea typeface="微软雅黑"/>
                <a:cs typeface="微软雅黑"/>
              </a:rPr>
              <a:t>释放驾驶位空间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202936" y="3447288"/>
            <a:ext cx="237744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已达上汽量产级·与线控转向同步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02920" y="3968496"/>
            <a:ext cx="8138160" cy="457200"/>
          </a:xfrm>
          <a:prstGeom prst="roundRect">
            <a:avLst>
              <a:gd name="adj" fmla="val 12000"/>
            </a:avLst>
          </a:prstGeom>
          <a:gradFill>
            <a:gsLst>
              <a:gs pos="0">
                <a:srgbClr val="0A1A3D"/>
              </a:gs>
              <a:gs pos="100000">
                <a:srgbClr val="291C5E"/>
              </a:gs>
            </a:gsLst>
            <a:lin ang="0" scaled="1"/>
          </a:gradFill>
          <a:ln>
            <a:noFill/>
          </a:ln>
          <a:effectLst>
            <a:outerShdw blurRad="80000" dist="30000" dir="5400000" rotWithShape="0">
              <a:srgbClr val="17244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02920" y="4096511"/>
            <a:ext cx="54864" cy="201167"/>
          </a:xfrm>
          <a:prstGeom prst="rect">
            <a:avLst/>
          </a:prstGeom>
          <a:solidFill>
            <a:srgbClr val="00B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95528" y="3968496"/>
            <a:ext cx="7589520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这些是 JOMEC 自有专利</a:t>
            </a:r>
            <a:r>
              <a:rPr sz="1100" b="0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  你拿到的是干净、可申报的创新点,而不是侵权风险。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02920" y="4846320"/>
            <a:ext cx="8138160" cy="10972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22960" y="4873752"/>
            <a:ext cx="6400800" cy="21945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6A7896"/>
                </a:solidFill>
                <a:latin typeface="微软雅黑"/>
                <a:ea typeface="微软雅黑"/>
                <a:cs typeface="微软雅黑"/>
              </a:rPr>
              <a:t>卓迈 JOMEC</a:t>
            </a:r>
            <a:r>
              <a:rPr sz="800" b="0" i="0">
                <a:solidFill>
                  <a:srgbClr val="959FB5"/>
                </a:solidFill>
                <a:latin typeface="微软雅黑"/>
                <a:ea typeface="微软雅黑"/>
                <a:cs typeface="微软雅黑"/>
              </a:rPr>
              <a:t>  ·  NICE 智能座舱体验舱 · 把硬件优势变成体验话语权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955279" y="4873752"/>
            <a:ext cx="685800" cy="21945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6A789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gradFill>
            <a:gsLst>
              <a:gs pos="0">
                <a:srgbClr val="0A1A3D"/>
              </a:gs>
              <a:gs pos="100000">
                <a:srgbClr val="1B448E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841248" cy="841248"/>
          </a:xfrm>
          <a:prstGeom prst="rect">
            <a:avLst/>
          </a:prstGeom>
          <a:solidFill>
            <a:srgbClr val="0A1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0"/>
            <a:ext cx="41148" cy="841248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841248" cy="8412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146304"/>
            <a:ext cx="6766560" cy="4114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交付路径:从概念到可演示样机,每阶段都验收到弹药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48640"/>
            <a:ext cx="6766560" cy="2286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8FB2F0"/>
                </a:solidFill>
                <a:latin typeface="Arial"/>
                <a:ea typeface="Arial"/>
                <a:cs typeface="Arial"/>
              </a:rPr>
              <a:t>DELIVERY PATH</a:t>
            </a:r>
          </a:p>
        </p:txBody>
      </p:sp>
      <p:sp>
        <p:nvSpPr>
          <p:cNvPr id="9" name="Oval 8"/>
          <p:cNvSpPr/>
          <p:nvPr/>
        </p:nvSpPr>
        <p:spPr>
          <a:xfrm>
            <a:off x="7818120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64424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110728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57032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03336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49640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818120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964424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110728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57032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03336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49640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818120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964424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110728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57032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403336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549640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836676"/>
            <a:ext cx="9144000" cy="27432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02920" y="1143000"/>
            <a:ext cx="2651760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3"/>
            </a:solidFill>
          </a:ln>
          <a:effectLst>
            <a:outerShdw blurRad="80000" dist="30000" dir="5400000" rotWithShape="0">
              <a:srgbClr val="17244A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2648" y="1143000"/>
            <a:ext cx="2432304" cy="45720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04088" y="1325880"/>
            <a:ext cx="603504" cy="603504"/>
          </a:xfrm>
          <a:prstGeom prst="ellipse">
            <a:avLst/>
          </a:prstGeom>
          <a:gradFill>
            <a:gsLst>
              <a:gs pos="0">
                <a:srgbClr val="246BFF"/>
              </a:gs>
              <a:gs pos="100000">
                <a:srgbClr val="5A1BDF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4088" y="1325880"/>
            <a:ext cx="603504" cy="60350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20" y="1417320"/>
            <a:ext cx="1645919" cy="4114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A1A3D"/>
                </a:solidFill>
                <a:latin typeface="微软雅黑"/>
                <a:ea typeface="微软雅黑"/>
                <a:cs typeface="微软雅黑"/>
              </a:rPr>
              <a:t>概念阶段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2194560"/>
            <a:ext cx="2286000" cy="8229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创新切入点定义 · CAS 造型 · 交互原型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3127248"/>
            <a:ext cx="2286000" cy="502920"/>
          </a:xfrm>
          <a:prstGeom prst="roundRect">
            <a:avLst>
              <a:gd name="adj" fmla="val 15000"/>
            </a:avLst>
          </a:prstGeom>
          <a:solidFill>
            <a:srgbClr val="F5F8FD"/>
          </a:solidFill>
          <a:ln w="9525">
            <a:solidFill>
              <a:srgbClr val="24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3127248"/>
            <a:ext cx="2103120" cy="5029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246BFF"/>
                </a:solidFill>
                <a:latin typeface="微软雅黑"/>
                <a:ea typeface="微软雅黑"/>
                <a:cs typeface="微软雅黑"/>
              </a:rPr>
              <a:t>可沟通:方向与亮点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08960" y="1874519"/>
            <a:ext cx="27432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959FB5"/>
                </a:solidFill>
                <a:latin typeface="Arial"/>
                <a:ea typeface="Arial"/>
                <a:cs typeface="Arial"/>
              </a:rPr>
              <a:t>▸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73552" y="1143000"/>
            <a:ext cx="2651760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3"/>
            </a:solidFill>
          </a:ln>
          <a:effectLst>
            <a:outerShdw blurRad="80000" dist="30000" dir="5400000" rotWithShape="0">
              <a:srgbClr val="17244A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383280" y="1143000"/>
            <a:ext cx="2432304" cy="45720"/>
          </a:xfrm>
          <a:prstGeom prst="rect">
            <a:avLst/>
          </a:prstGeom>
          <a:solidFill>
            <a:srgbClr val="00B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474720" y="1325880"/>
            <a:ext cx="603504" cy="603504"/>
          </a:xfrm>
          <a:prstGeom prst="ellipse">
            <a:avLst/>
          </a:prstGeom>
          <a:gradFill>
            <a:gsLst>
              <a:gs pos="0">
                <a:srgbClr val="00B5E3"/>
              </a:gs>
              <a:gs pos="100000">
                <a:srgbClr val="5A1BDF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74720" y="1325880"/>
            <a:ext cx="603504" cy="60350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87952" y="1417320"/>
            <a:ext cx="1645919" cy="4114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A1A3D"/>
                </a:solidFill>
                <a:latin typeface="微软雅黑"/>
                <a:ea typeface="微软雅黑"/>
                <a:cs typeface="微软雅黑"/>
              </a:rPr>
              <a:t>工程阶段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56432" y="2194560"/>
            <a:ext cx="2286000" cy="8229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运动机构方案 · 线束 3D · 软硬件架构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456432" y="3127248"/>
            <a:ext cx="2286000" cy="502920"/>
          </a:xfrm>
          <a:prstGeom prst="roundRect">
            <a:avLst>
              <a:gd name="adj" fmla="val 15000"/>
            </a:avLst>
          </a:prstGeom>
          <a:solidFill>
            <a:srgbClr val="F5F8FD"/>
          </a:solidFill>
          <a:ln w="9525">
            <a:solidFill>
              <a:srgbClr val="00B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547872" y="3127248"/>
            <a:ext cx="2103120" cy="5029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00B5E3"/>
                </a:solidFill>
                <a:latin typeface="微软雅黑"/>
                <a:ea typeface="微软雅黑"/>
                <a:cs typeface="微软雅黑"/>
              </a:rPr>
              <a:t>可沟通:可行性与深度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79592" y="1874519"/>
            <a:ext cx="27432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959FB5"/>
                </a:solidFill>
                <a:latin typeface="Arial"/>
                <a:ea typeface="Arial"/>
                <a:cs typeface="Arial"/>
              </a:rPr>
              <a:t>▸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044184" y="1143000"/>
            <a:ext cx="2651760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3"/>
            </a:solidFill>
          </a:ln>
          <a:effectLst>
            <a:outerShdw blurRad="80000" dist="30000" dir="5400000" rotWithShape="0">
              <a:srgbClr val="17244A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153912" y="1143000"/>
            <a:ext cx="2432304" cy="45720"/>
          </a:xfrm>
          <a:prstGeom prst="rect">
            <a:avLst/>
          </a:prstGeom>
          <a:solidFill>
            <a:srgbClr val="7D3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245352" y="1325880"/>
            <a:ext cx="603504" cy="603504"/>
          </a:xfrm>
          <a:prstGeom prst="ellipse">
            <a:avLst/>
          </a:prstGeom>
          <a:gradFill>
            <a:gsLst>
              <a:gs pos="0">
                <a:srgbClr val="7D3CFF"/>
              </a:gs>
              <a:gs pos="100000">
                <a:srgbClr val="5A1BDF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45352" y="1325880"/>
            <a:ext cx="603504" cy="60350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58584" y="1417320"/>
            <a:ext cx="1645919" cy="4114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A1A3D"/>
                </a:solidFill>
                <a:latin typeface="微软雅黑"/>
                <a:ea typeface="微软雅黑"/>
                <a:cs typeface="微软雅黑"/>
              </a:rPr>
              <a:t>样机阶段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27064" y="2194560"/>
            <a:ext cx="2286000" cy="8229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台架联调通过 · 全功能可交互样机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27064" y="3127248"/>
            <a:ext cx="2286000" cy="502920"/>
          </a:xfrm>
          <a:prstGeom prst="roundRect">
            <a:avLst>
              <a:gd name="adj" fmla="val 15000"/>
            </a:avLst>
          </a:prstGeom>
          <a:solidFill>
            <a:srgbClr val="F5F8FD"/>
          </a:solidFill>
          <a:ln w="9525">
            <a:solidFill>
              <a:srgbClr val="7D3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18504" y="3127248"/>
            <a:ext cx="2103120" cy="5029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7D3CFF"/>
                </a:solidFill>
                <a:latin typeface="微软雅黑"/>
                <a:ea typeface="微软雅黑"/>
                <a:cs typeface="微软雅黑"/>
              </a:rPr>
              <a:t>可沟通:能现场演示的实物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02920" y="3986784"/>
            <a:ext cx="8138160" cy="585216"/>
          </a:xfrm>
          <a:prstGeom prst="roundRect">
            <a:avLst>
              <a:gd name="adj" fmla="val 12000"/>
            </a:avLst>
          </a:prstGeom>
          <a:gradFill>
            <a:gsLst>
              <a:gs pos="0">
                <a:srgbClr val="0A1A3D"/>
              </a:gs>
              <a:gs pos="100000">
                <a:srgbClr val="291C5E"/>
              </a:gs>
            </a:gsLst>
            <a:lin ang="0" scaled="1"/>
          </a:gradFill>
          <a:ln>
            <a:noFill/>
          </a:ln>
          <a:effectLst>
            <a:outerShdw blurRad="80000" dist="30000" dir="5400000" rotWithShape="0">
              <a:srgbClr val="17244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02920" y="4114800"/>
            <a:ext cx="54864" cy="329184"/>
          </a:xfrm>
          <a:prstGeom prst="rect">
            <a:avLst/>
          </a:prstGeom>
          <a:solidFill>
            <a:srgbClr val="00B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95528" y="3986784"/>
            <a:ext cx="7589520" cy="58521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UX 研究流程与 IATF16949 工程流程融合为一条主线</a:t>
            </a:r>
            <a:r>
              <a:rPr sz="1100" b="0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  每个节点都翻译成你能对主机厂说的话。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2920" y="4846320"/>
            <a:ext cx="8138160" cy="10972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2960" y="4873752"/>
            <a:ext cx="6400800" cy="21945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6A7896"/>
                </a:solidFill>
                <a:latin typeface="微软雅黑"/>
                <a:ea typeface="微软雅黑"/>
                <a:cs typeface="微软雅黑"/>
              </a:rPr>
              <a:t>卓迈 JOMEC</a:t>
            </a:r>
            <a:r>
              <a:rPr sz="800" b="0" i="0">
                <a:solidFill>
                  <a:srgbClr val="959FB5"/>
                </a:solidFill>
                <a:latin typeface="微软雅黑"/>
                <a:ea typeface="微软雅黑"/>
                <a:cs typeface="微软雅黑"/>
              </a:rPr>
              <a:t>  ·  NICE 智能座舱体验舱 · 把硬件优势变成体验话语权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55279" y="4873752"/>
            <a:ext cx="685800" cy="21945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6A7896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0B1024"/>
              </a:gs>
              <a:gs pos="100000">
                <a:srgbClr val="16123A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760720" y="-457200"/>
            <a:ext cx="4114800" cy="4114800"/>
          </a:xfrm>
          <a:prstGeom prst="ellipse">
            <a:avLst/>
          </a:prstGeom>
          <a:noFill/>
          <a:ln w="12700">
            <a:solidFill>
              <a:srgbClr val="24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949440" y="1280160"/>
            <a:ext cx="3291840" cy="3291840"/>
          </a:xfrm>
          <a:prstGeom prst="ellipse">
            <a:avLst/>
          </a:prstGeom>
          <a:noFill/>
          <a:ln w="12700">
            <a:solidFill>
              <a:srgbClr val="5A1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736592"/>
            <a:ext cx="9144000" cy="10972"/>
          </a:xfrm>
          <a:prstGeom prst="rect">
            <a:avLst/>
          </a:prstGeom>
          <a:solidFill>
            <a:srgbClr val="24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0" y="0"/>
            <a:ext cx="10972" cy="5143500"/>
          </a:xfrm>
          <a:prstGeom prst="rect">
            <a:avLst/>
          </a:prstGeom>
          <a:solidFill>
            <a:srgbClr val="162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36208" y="0"/>
            <a:ext cx="10972" cy="5143500"/>
          </a:xfrm>
          <a:prstGeom prst="rect">
            <a:avLst/>
          </a:prstGeom>
          <a:solidFill>
            <a:srgbClr val="162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03136" y="0"/>
            <a:ext cx="10972" cy="5143500"/>
          </a:xfrm>
          <a:prstGeom prst="rect">
            <a:avLst/>
          </a:prstGeom>
          <a:solidFill>
            <a:srgbClr val="162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70064" y="0"/>
            <a:ext cx="10972" cy="5143500"/>
          </a:xfrm>
          <a:prstGeom prst="rect">
            <a:avLst/>
          </a:prstGeom>
          <a:solidFill>
            <a:srgbClr val="162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36992" y="0"/>
            <a:ext cx="10972" cy="5143500"/>
          </a:xfrm>
          <a:prstGeom prst="rect">
            <a:avLst/>
          </a:prstGeom>
          <a:solidFill>
            <a:srgbClr val="162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03920" y="0"/>
            <a:ext cx="10972" cy="5143500"/>
          </a:xfrm>
          <a:prstGeom prst="rect">
            <a:avLst/>
          </a:prstGeom>
          <a:solidFill>
            <a:srgbClr val="162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0" y="274320"/>
            <a:ext cx="3657600" cy="32918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0" b="1" i="0">
                <a:solidFill>
                  <a:srgbClr val="16244E"/>
                </a:solidFill>
                <a:latin typeface="Arial Black"/>
                <a:ea typeface="Arial Black"/>
                <a:cs typeface="Arial Black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777240"/>
            <a:ext cx="274320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7D3CFF"/>
                </a:solidFill>
                <a:latin typeface="Arial"/>
                <a:ea typeface="Arial"/>
                <a:cs typeface="Arial"/>
              </a:rPr>
              <a:t>PART 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463040"/>
            <a:ext cx="73152" cy="1371600"/>
          </a:xfrm>
          <a:prstGeom prst="rect">
            <a:avLst/>
          </a:prstGeom>
          <a:solidFill>
            <a:srgbClr val="7D3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1371600"/>
            <a:ext cx="731520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0B5E3"/>
                </a:solidFill>
                <a:latin typeface="Arial"/>
                <a:ea typeface="Arial"/>
                <a:cs typeface="Arial"/>
              </a:rPr>
              <a:t>THE NICE EXPERIENCE CABIN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1783080"/>
            <a:ext cx="7680960" cy="8229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落到 NICE:体验舱整包方案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2971800"/>
            <a:ext cx="6949440" cy="914400"/>
          </a:xfrm>
          <a:prstGeom prst="roundRect">
            <a:avLst>
              <a:gd name="adj" fmla="val 8000"/>
            </a:avLst>
          </a:prstGeom>
          <a:solidFill>
            <a:srgbClr val="10224A"/>
          </a:solidFill>
          <a:ln w="9525">
            <a:solidFill>
              <a:srgbClr val="2B3A66"/>
            </a:solidFill>
          </a:ln>
          <a:effectLst>
            <a:outerShdw blurRad="80000" dist="30000" dir="5400000" rotWithShape="0">
              <a:srgbClr val="17244A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8680" y="3044952"/>
            <a:ext cx="54864" cy="768096"/>
          </a:xfrm>
          <a:prstGeom prst="rect">
            <a:avLst/>
          </a:prstGeom>
          <a:solidFill>
            <a:srgbClr val="00B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568" y="2971800"/>
            <a:ext cx="6583680" cy="9144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NICE 智能座舱体验舱,就是 L3 全功能可交互样机能力的旗舰落地。以下是我们对华翔这个具体项目已经想到的深度 —— 从体验场景、系统架构、安全可靠,到 30 周交付与商务。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gradFill>
            <a:gsLst>
              <a:gs pos="0">
                <a:srgbClr val="0A1A3D"/>
              </a:gs>
              <a:gs pos="100000">
                <a:srgbClr val="1B448E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841248" cy="841248"/>
          </a:xfrm>
          <a:prstGeom prst="rect">
            <a:avLst/>
          </a:prstGeom>
          <a:solidFill>
            <a:srgbClr val="0A1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0"/>
            <a:ext cx="41148" cy="841248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841248" cy="8412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146304"/>
            <a:ext cx="6766560" cy="4114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NICE 体验舱:健康舒适 + 智能表面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48640"/>
            <a:ext cx="6766560" cy="2286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8FB2F0"/>
                </a:solidFill>
                <a:latin typeface="Arial"/>
                <a:ea typeface="Arial"/>
                <a:cs typeface="Arial"/>
              </a:rPr>
              <a:t>THE EXPERIENCE CABIN</a:t>
            </a:r>
          </a:p>
        </p:txBody>
      </p:sp>
      <p:sp>
        <p:nvSpPr>
          <p:cNvPr id="9" name="Oval 8"/>
          <p:cNvSpPr/>
          <p:nvPr/>
        </p:nvSpPr>
        <p:spPr>
          <a:xfrm>
            <a:off x="7818120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64424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110728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57032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03336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49640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818120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964424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110728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57032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03336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49640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818120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964424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110728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57032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403336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549640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836676"/>
            <a:ext cx="9144000" cy="27432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02920" y="1097280"/>
            <a:ext cx="457200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3"/>
            </a:solidFill>
          </a:ln>
          <a:effectLst>
            <a:outerShdw blurRad="80000" dist="30000" dir="5400000" rotWithShape="0">
              <a:srgbClr val="17244A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2648" y="1097280"/>
            <a:ext cx="4352544" cy="45720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" y="1280160"/>
            <a:ext cx="420624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46BFF"/>
                </a:solidFill>
                <a:latin typeface="微软雅黑"/>
                <a:ea typeface="微软雅黑"/>
                <a:cs typeface="微软雅黑"/>
              </a:rPr>
              <a:t>主题:</a:t>
            </a:r>
            <a:r>
              <a:rPr sz="1400" b="1" i="0">
                <a:solidFill>
                  <a:srgbClr val="0A1A3D"/>
                </a:solidFill>
                <a:latin typeface="微软雅黑"/>
                <a:ea typeface="微软雅黑"/>
                <a:cs typeface="微软雅黑"/>
              </a:rPr>
              <a:t>健康舒适 + 智能表面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1828800"/>
            <a:ext cx="109728" cy="109728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1783080"/>
            <a:ext cx="402336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可进入 — 支持 4 人同时试乘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3232" y="2231136"/>
            <a:ext cx="109728" cy="109728"/>
          </a:xfrm>
          <a:prstGeom prst="rect">
            <a:avLst/>
          </a:prstGeom>
          <a:solidFill>
            <a:srgbClr val="00B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2688" y="2185416"/>
            <a:ext cx="402336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可试乘 — 4 套零重力座椅(前排含 180° 旋转)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3232" y="2633472"/>
            <a:ext cx="109728" cy="109728"/>
          </a:xfrm>
          <a:prstGeom prst="rect">
            <a:avLst/>
          </a:prstGeom>
          <a:solidFill>
            <a:srgbClr val="C8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2688" y="2587752"/>
            <a:ext cx="402336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可交互 — 语音 + 多屏触控 + 实体按键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3232" y="3035808"/>
            <a:ext cx="109728" cy="109728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" y="2990088"/>
            <a:ext cx="402336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可循环 — 日连续运行 ≥10 小时无 A 类故障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3232" y="3438144"/>
            <a:ext cx="109728" cy="109728"/>
          </a:xfrm>
          <a:prstGeom prst="rect">
            <a:avLst/>
          </a:prstGeom>
          <a:solidFill>
            <a:srgbClr val="00B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2688" y="3392424"/>
            <a:ext cx="402336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可迭代 — 预留扩展,支撑全球巡展</a:t>
            </a:r>
          </a:p>
        </p:txBody>
      </p:sp>
      <p:pic>
        <p:nvPicPr>
          <p:cNvPr id="41" name="Picture 40" descr="ix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097280"/>
            <a:ext cx="3383280" cy="1874519"/>
          </a:xfrm>
          <a:prstGeom prst="rect">
            <a:avLst/>
          </a:prstGeom>
          <a:effectLst>
            <a:outerShdw blurRad="55000" dist="18000" dir="5400000" rotWithShape="0">
              <a:srgbClr val="17244A">
                <a:alpha val="78000"/>
              </a:srgbClr>
            </a:outerShdw>
          </a:effectLst>
        </p:spPr>
      </p:pic>
      <p:sp>
        <p:nvSpPr>
          <p:cNvPr id="42" name="TextBox 41"/>
          <p:cNvSpPr txBox="1"/>
          <p:nvPr/>
        </p:nvSpPr>
        <p:spPr>
          <a:xfrm>
            <a:off x="5257800" y="3035808"/>
            <a:ext cx="338328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246BFF"/>
                </a:solidFill>
                <a:latin typeface="微软雅黑"/>
                <a:ea typeface="微软雅黑"/>
                <a:cs typeface="微软雅黑"/>
              </a:rPr>
              <a:t>卓迈 iX-2024 红点奖座舱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57800" y="3346704"/>
            <a:ext cx="338328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959FB5"/>
                </a:solidFill>
                <a:latin typeface="微软雅黑"/>
                <a:ea typeface="微软雅黑"/>
                <a:cs typeface="微软雅黑"/>
              </a:rPr>
              <a:t>同类获奖座舱示意 · 待替换为 NICE 专属渲染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2920" y="3986784"/>
            <a:ext cx="8138160" cy="585216"/>
          </a:xfrm>
          <a:prstGeom prst="roundRect">
            <a:avLst>
              <a:gd name="adj" fmla="val 12000"/>
            </a:avLst>
          </a:prstGeom>
          <a:gradFill>
            <a:gsLst>
              <a:gs pos="0">
                <a:srgbClr val="0A1A3D"/>
              </a:gs>
              <a:gs pos="100000">
                <a:srgbClr val="291C5E"/>
              </a:gs>
            </a:gsLst>
            <a:lin ang="0" scaled="1"/>
          </a:gradFill>
          <a:ln>
            <a:noFill/>
          </a:ln>
          <a:effectLst>
            <a:outerShdw blurRad="80000" dist="30000" dir="5400000" rotWithShape="0">
              <a:srgbClr val="17244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" y="4114800"/>
            <a:ext cx="54864" cy="329184"/>
          </a:xfrm>
          <a:prstGeom prst="rect">
            <a:avLst/>
          </a:prstGeom>
          <a:solidFill>
            <a:srgbClr val="00B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5528" y="3986784"/>
            <a:ext cx="7589520" cy="58521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1:1 可进入 · 可试乘 · 可交互 · 可循环演示 · 可持续迭代</a:t>
            </a:r>
            <a:r>
              <a:rPr sz="1100" b="0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4846320"/>
            <a:ext cx="8138160" cy="10972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2960" y="4873752"/>
            <a:ext cx="6400800" cy="21945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6A7896"/>
                </a:solidFill>
                <a:latin typeface="微软雅黑"/>
                <a:ea typeface="微软雅黑"/>
                <a:cs typeface="微软雅黑"/>
              </a:rPr>
              <a:t>卓迈 JOMEC</a:t>
            </a:r>
            <a:r>
              <a:rPr sz="800" b="0" i="0">
                <a:solidFill>
                  <a:srgbClr val="959FB5"/>
                </a:solidFill>
                <a:latin typeface="微软雅黑"/>
                <a:ea typeface="微软雅黑"/>
                <a:cs typeface="微软雅黑"/>
              </a:rPr>
              <a:t>  ·  NICE 智能座舱体验舱 · 把硬件优势变成体验话语权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55279" y="4873752"/>
            <a:ext cx="685800" cy="21945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6A7896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gradFill>
            <a:gsLst>
              <a:gs pos="0">
                <a:srgbClr val="0A1A3D"/>
              </a:gs>
              <a:gs pos="100000">
                <a:srgbClr val="1B448E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841248" cy="841248"/>
          </a:xfrm>
          <a:prstGeom prst="rect">
            <a:avLst/>
          </a:prstGeom>
          <a:solidFill>
            <a:srgbClr val="0A1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0"/>
            <a:ext cx="41148" cy="841248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841248" cy="8412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146304"/>
            <a:ext cx="6766560" cy="4114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四大体验:一次进入,四重惊艳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48640"/>
            <a:ext cx="6766560" cy="2286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8FB2F0"/>
                </a:solidFill>
                <a:latin typeface="Arial"/>
                <a:ea typeface="Arial"/>
                <a:cs typeface="Arial"/>
              </a:rPr>
              <a:t>FOUR WOW MOMENTS</a:t>
            </a:r>
          </a:p>
        </p:txBody>
      </p:sp>
      <p:sp>
        <p:nvSpPr>
          <p:cNvPr id="9" name="Oval 8"/>
          <p:cNvSpPr/>
          <p:nvPr/>
        </p:nvSpPr>
        <p:spPr>
          <a:xfrm>
            <a:off x="7818120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64424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110728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57032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03336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49640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818120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964424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110728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57032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03336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49640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818120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964424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110728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57032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403336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549640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836676"/>
            <a:ext cx="9144000" cy="27432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02920" y="1097280"/>
            <a:ext cx="1938528" cy="2697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3"/>
            </a:solidFill>
          </a:ln>
          <a:effectLst>
            <a:outerShdw blurRad="80000" dist="30000" dir="5400000" rotWithShape="0">
              <a:srgbClr val="17244A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2648" y="1097280"/>
            <a:ext cx="1719072" cy="45720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67512" y="1261872"/>
            <a:ext cx="512064" cy="512064"/>
          </a:xfrm>
          <a:prstGeom prst="ellipse">
            <a:avLst/>
          </a:prstGeom>
          <a:gradFill>
            <a:gsLst>
              <a:gs pos="0">
                <a:srgbClr val="246BFF"/>
              </a:gs>
              <a:gs pos="100000">
                <a:srgbClr val="5A1BDF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w-15-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407" y="1384767"/>
            <a:ext cx="266273" cy="266273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271016" y="1316736"/>
            <a:ext cx="1115568" cy="4114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46BFF"/>
                </a:solidFill>
                <a:latin typeface="Arial Black"/>
                <a:ea typeface="Arial Black"/>
                <a:cs typeface="Arial Black"/>
              </a:rPr>
              <a:t>S1 </a:t>
            </a:r>
            <a:r>
              <a:rPr sz="1250" b="1" i="0">
                <a:solidFill>
                  <a:srgbClr val="0A1A3D"/>
                </a:solidFill>
                <a:latin typeface="微软雅黑"/>
                <a:ea typeface="微软雅黑"/>
                <a:cs typeface="微软雅黑"/>
              </a:rPr>
              <a:t>迎宾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7512" y="1938528"/>
            <a:ext cx="502920" cy="256032"/>
          </a:xfrm>
          <a:prstGeom prst="roundRect">
            <a:avLst>
              <a:gd name="adj" fmla="val 50000"/>
            </a:avLst>
          </a:prstGeom>
          <a:solidFill>
            <a:srgbClr val="F5F8FD"/>
          </a:solidFill>
          <a:ln w="9525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" y="1938528"/>
            <a:ext cx="502920" cy="25603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F43F5E"/>
                </a:solidFill>
                <a:latin typeface="Arial"/>
                <a:ea typeface="Arial"/>
                <a:cs typeface="Arial"/>
              </a:rPr>
              <a:t>P0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" y="2331720"/>
            <a:ext cx="1627632" cy="13716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走近即点亮——星河迎宾+氛围灯流水+星空天幕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587752" y="1097280"/>
            <a:ext cx="1938528" cy="2697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3"/>
            </a:solidFill>
          </a:ln>
          <a:effectLst>
            <a:outerShdw blurRad="80000" dist="30000" dir="5400000" rotWithShape="0">
              <a:srgbClr val="17244A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697480" y="1097280"/>
            <a:ext cx="1719072" cy="45720"/>
          </a:xfrm>
          <a:prstGeom prst="rect">
            <a:avLst/>
          </a:prstGeom>
          <a:solidFill>
            <a:srgbClr val="00B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752344" y="1261872"/>
            <a:ext cx="512064" cy="512064"/>
          </a:xfrm>
          <a:prstGeom prst="ellipse">
            <a:avLst/>
          </a:prstGeom>
          <a:gradFill>
            <a:gsLst>
              <a:gs pos="0">
                <a:srgbClr val="00B5E3"/>
              </a:gs>
              <a:gs pos="100000">
                <a:srgbClr val="5A1BDF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w-16-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5239" y="1384767"/>
            <a:ext cx="266273" cy="266273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3355848" y="1316736"/>
            <a:ext cx="1115568" cy="4114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0B5E3"/>
                </a:solidFill>
                <a:latin typeface="Arial Black"/>
                <a:ea typeface="Arial Black"/>
                <a:cs typeface="Arial Black"/>
              </a:rPr>
              <a:t>S2 </a:t>
            </a:r>
            <a:r>
              <a:rPr sz="1250" b="1" i="0">
                <a:solidFill>
                  <a:srgbClr val="0A1A3D"/>
                </a:solidFill>
                <a:latin typeface="微软雅黑"/>
                <a:ea typeface="微软雅黑"/>
                <a:cs typeface="微软雅黑"/>
              </a:rPr>
              <a:t>健康舒适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52344" y="1938528"/>
            <a:ext cx="502920" cy="256032"/>
          </a:xfrm>
          <a:prstGeom prst="roundRect">
            <a:avLst>
              <a:gd name="adj" fmla="val 50000"/>
            </a:avLst>
          </a:prstGeom>
          <a:solidFill>
            <a:srgbClr val="F5F8FD"/>
          </a:solidFill>
          <a:ln w="9525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52344" y="1938528"/>
            <a:ext cx="502920" cy="25603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F43F5E"/>
                </a:solidFill>
                <a:latin typeface="Arial"/>
                <a:ea typeface="Arial"/>
                <a:cs typeface="Arial"/>
              </a:rPr>
              <a:t>P0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52344" y="2331720"/>
            <a:ext cx="1627632" cy="13716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坐下被照顾——零重力+健康可视化+全车加热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672584" y="1097280"/>
            <a:ext cx="1938528" cy="2697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3"/>
            </a:solidFill>
          </a:ln>
          <a:effectLst>
            <a:outerShdw blurRad="80000" dist="30000" dir="5400000" rotWithShape="0">
              <a:srgbClr val="17244A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82312" y="1097280"/>
            <a:ext cx="1719072" cy="45720"/>
          </a:xfrm>
          <a:prstGeom prst="rect">
            <a:avLst/>
          </a:prstGeom>
          <a:solidFill>
            <a:srgbClr val="7D3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837176" y="1261872"/>
            <a:ext cx="512064" cy="512064"/>
          </a:xfrm>
          <a:prstGeom prst="ellipse">
            <a:avLst/>
          </a:prstGeom>
          <a:gradFill>
            <a:gsLst>
              <a:gs pos="0">
                <a:srgbClr val="7D3CFF"/>
              </a:gs>
              <a:gs pos="100000">
                <a:srgbClr val="5A1BDF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w-16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0071" y="1384767"/>
            <a:ext cx="266273" cy="266273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5440680" y="1316736"/>
            <a:ext cx="1115568" cy="4114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7D3CFF"/>
                </a:solidFill>
                <a:latin typeface="Arial Black"/>
                <a:ea typeface="Arial Black"/>
                <a:cs typeface="Arial Black"/>
              </a:rPr>
              <a:t>S3 </a:t>
            </a:r>
            <a:r>
              <a:rPr sz="1250" b="1" i="0">
                <a:solidFill>
                  <a:srgbClr val="0A1A3D"/>
                </a:solidFill>
                <a:latin typeface="微软雅黑"/>
                <a:ea typeface="微软雅黑"/>
                <a:cs typeface="微软雅黑"/>
              </a:rPr>
              <a:t>智能表面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837176" y="1938528"/>
            <a:ext cx="502920" cy="256032"/>
          </a:xfrm>
          <a:prstGeom prst="roundRect">
            <a:avLst>
              <a:gd name="adj" fmla="val 50000"/>
            </a:avLst>
          </a:prstGeom>
          <a:solidFill>
            <a:srgbClr val="F5F8FD"/>
          </a:solidFill>
          <a:ln w="9525">
            <a:solidFill>
              <a:srgbClr val="00B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837176" y="1938528"/>
            <a:ext cx="502920" cy="25603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00B5E3"/>
                </a:solidFill>
                <a:latin typeface="Arial"/>
                <a:ea typeface="Arial"/>
                <a:cs typeface="Arial"/>
              </a:rPr>
              <a:t>P1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37176" y="2331720"/>
            <a:ext cx="1627632" cy="13716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无屏即屏——IMSE膜+自发光缝线+材质质感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757416" y="1097280"/>
            <a:ext cx="1938528" cy="2697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3"/>
            </a:solidFill>
          </a:ln>
          <a:effectLst>
            <a:outerShdw blurRad="80000" dist="30000" dir="5400000" rotWithShape="0">
              <a:srgbClr val="17244A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867144" y="1097280"/>
            <a:ext cx="1719072" cy="45720"/>
          </a:xfrm>
          <a:prstGeom prst="rect">
            <a:avLst/>
          </a:prstGeom>
          <a:solidFill>
            <a:srgbClr val="5A1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922007" y="1261872"/>
            <a:ext cx="512064" cy="512064"/>
          </a:xfrm>
          <a:prstGeom prst="ellipse">
            <a:avLst/>
          </a:prstGeom>
          <a:gradFill>
            <a:gsLst>
              <a:gs pos="0">
                <a:srgbClr val="5A1BDF"/>
              </a:gs>
              <a:gs pos="100000">
                <a:srgbClr val="5A1BDF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w-24-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4903" y="1384767"/>
            <a:ext cx="266273" cy="266273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7525512" y="1316736"/>
            <a:ext cx="1115568" cy="4114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A1BDF"/>
                </a:solidFill>
                <a:latin typeface="Arial Black"/>
                <a:ea typeface="Arial Black"/>
                <a:cs typeface="Arial Black"/>
              </a:rPr>
              <a:t>S4 </a:t>
            </a:r>
            <a:r>
              <a:rPr sz="1250" b="1" i="0">
                <a:solidFill>
                  <a:srgbClr val="0A1A3D"/>
                </a:solidFill>
                <a:latin typeface="微软雅黑"/>
                <a:ea typeface="微软雅黑"/>
                <a:cs typeface="微软雅黑"/>
              </a:rPr>
              <a:t>智能空间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922007" y="1938528"/>
            <a:ext cx="502920" cy="256032"/>
          </a:xfrm>
          <a:prstGeom prst="roundRect">
            <a:avLst>
              <a:gd name="adj" fmla="val 50000"/>
            </a:avLst>
          </a:prstGeom>
          <a:solidFill>
            <a:srgbClr val="F5F8FD"/>
          </a:solidFill>
          <a:ln w="9525">
            <a:solidFill>
              <a:srgbClr val="00B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922007" y="1938528"/>
            <a:ext cx="502920" cy="25603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00B5E3"/>
                </a:solidFill>
                <a:latin typeface="Arial"/>
                <a:ea typeface="Arial"/>
                <a:cs typeface="Arial"/>
              </a:rPr>
              <a:t>P1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22007" y="2331720"/>
            <a:ext cx="1627632" cy="13716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一键变形——Console展开+座椅180°旋转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02920" y="3986784"/>
            <a:ext cx="8138160" cy="585216"/>
          </a:xfrm>
          <a:prstGeom prst="roundRect">
            <a:avLst>
              <a:gd name="adj" fmla="val 12000"/>
            </a:avLst>
          </a:prstGeom>
          <a:gradFill>
            <a:gsLst>
              <a:gs pos="0">
                <a:srgbClr val="0A1A3D"/>
              </a:gs>
              <a:gs pos="100000">
                <a:srgbClr val="291C5E"/>
              </a:gs>
            </a:gsLst>
            <a:lin ang="0" scaled="1"/>
          </a:gradFill>
          <a:ln>
            <a:noFill/>
          </a:ln>
          <a:effectLst>
            <a:outerShdw blurRad="80000" dist="30000" dir="5400000" rotWithShape="0">
              <a:srgbClr val="17244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02920" y="4114800"/>
            <a:ext cx="54864" cy="329184"/>
          </a:xfrm>
          <a:prstGeom prst="rect">
            <a:avLst/>
          </a:prstGeom>
          <a:solidFill>
            <a:srgbClr val="00B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95528" y="3986784"/>
            <a:ext cx="7589520" cy="58521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每个场景都是触发→系统响应→技术亮点→复位完整闭环</a:t>
            </a:r>
            <a:r>
              <a:rPr sz="1100" b="0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  覆盖 ≥2 种交互方式。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02920" y="4846320"/>
            <a:ext cx="8138160" cy="10972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22960" y="4873752"/>
            <a:ext cx="6400800" cy="21945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6A7896"/>
                </a:solidFill>
                <a:latin typeface="微软雅黑"/>
                <a:ea typeface="微软雅黑"/>
                <a:cs typeface="微软雅黑"/>
              </a:rPr>
              <a:t>卓迈 JOMEC</a:t>
            </a:r>
            <a:r>
              <a:rPr sz="800" b="0" i="0">
                <a:solidFill>
                  <a:srgbClr val="959FB5"/>
                </a:solidFill>
                <a:latin typeface="微软雅黑"/>
                <a:ea typeface="微软雅黑"/>
                <a:cs typeface="微软雅黑"/>
              </a:rPr>
              <a:t>  ·  NICE 智能座舱体验舱 · 把硬件优势变成体验话语权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955279" y="4873752"/>
            <a:ext cx="685800" cy="21945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6A7896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gradFill>
            <a:gsLst>
              <a:gs pos="0">
                <a:srgbClr val="0A1A3D"/>
              </a:gs>
              <a:gs pos="100000">
                <a:srgbClr val="1B448E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841248" cy="841248"/>
          </a:xfrm>
          <a:prstGeom prst="rect">
            <a:avLst/>
          </a:prstGeom>
          <a:solidFill>
            <a:srgbClr val="0A1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0"/>
            <a:ext cx="41148" cy="841248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841248" cy="8412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146304"/>
            <a:ext cx="6766560" cy="4114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系统架构 &amp; 安全可靠:量产级方法治理复杂度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48640"/>
            <a:ext cx="6766560" cy="2286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8FB2F0"/>
                </a:solidFill>
                <a:latin typeface="Arial"/>
                <a:ea typeface="Arial"/>
                <a:cs typeface="Arial"/>
              </a:rPr>
              <a:t>ARCHITECTURE &amp; SAFETY</a:t>
            </a:r>
          </a:p>
        </p:txBody>
      </p:sp>
      <p:sp>
        <p:nvSpPr>
          <p:cNvPr id="9" name="Oval 8"/>
          <p:cNvSpPr/>
          <p:nvPr/>
        </p:nvSpPr>
        <p:spPr>
          <a:xfrm>
            <a:off x="7818120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64424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110728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57032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03336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49640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818120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964424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110728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57032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03336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49640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818120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964424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110728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57032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403336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549640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836676"/>
            <a:ext cx="9144000" cy="27432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02920" y="1051560"/>
            <a:ext cx="5394960" cy="402336"/>
          </a:xfrm>
          <a:prstGeom prst="roundRect">
            <a:avLst>
              <a:gd name="adj" fmla="val 18000"/>
            </a:avLst>
          </a:prstGeom>
          <a:solidFill>
            <a:srgbClr val="F5F8FD"/>
          </a:solidFill>
          <a:ln w="9525">
            <a:solidFill>
              <a:srgbClr val="E2E8F3"/>
            </a:solidFill>
          </a:ln>
          <a:effectLst>
            <a:outerShdw blurRad="35000" dist="10000" dir="5400000" rotWithShape="0">
              <a:srgbClr val="17244A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02920" y="1051560"/>
            <a:ext cx="822960" cy="402336"/>
          </a:xfrm>
          <a:prstGeom prst="roundRect">
            <a:avLst>
              <a:gd name="adj" fmla="val 18000"/>
            </a:avLst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0120" y="1051560"/>
            <a:ext cx="365760" cy="402336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1051560"/>
            <a:ext cx="822960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L6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1051560"/>
            <a:ext cx="1828800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0A1A3D"/>
                </a:solidFill>
                <a:latin typeface="微软雅黑"/>
                <a:ea typeface="微软雅黑"/>
                <a:cs typeface="微软雅黑"/>
              </a:rPr>
              <a:t>演示/运维层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46120" y="1051560"/>
            <a:ext cx="2560320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演示平板 · 后台调试 · 硬件复位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1508760"/>
            <a:ext cx="5394960" cy="402336"/>
          </a:xfrm>
          <a:prstGeom prst="roundRect">
            <a:avLst>
              <a:gd name="adj" fmla="val 18000"/>
            </a:avLst>
          </a:prstGeom>
          <a:solidFill>
            <a:srgbClr val="F5F8FD"/>
          </a:solidFill>
          <a:ln w="9525">
            <a:solidFill>
              <a:srgbClr val="E2E8F3"/>
            </a:solidFill>
          </a:ln>
          <a:effectLst>
            <a:outerShdw blurRad="35000" dist="10000" dir="5400000" rotWithShape="0">
              <a:srgbClr val="17244A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02920" y="1508760"/>
            <a:ext cx="822960" cy="402336"/>
          </a:xfrm>
          <a:prstGeom prst="roundRect">
            <a:avLst>
              <a:gd name="adj" fmla="val 18000"/>
            </a:avLst>
          </a:prstGeom>
          <a:solidFill>
            <a:srgbClr val="5A1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60120" y="1508760"/>
            <a:ext cx="365760" cy="402336"/>
          </a:xfrm>
          <a:prstGeom prst="rect">
            <a:avLst/>
          </a:prstGeom>
          <a:solidFill>
            <a:srgbClr val="5A1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1508760"/>
            <a:ext cx="822960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L5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63040" y="1508760"/>
            <a:ext cx="1828800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0A1A3D"/>
                </a:solidFill>
                <a:latin typeface="微软雅黑"/>
                <a:ea typeface="微软雅黑"/>
                <a:cs typeface="微软雅黑"/>
              </a:rPr>
              <a:t>中央控制层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46120" y="1508760"/>
            <a:ext cx="2560320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域控制器(主控) · 多屏 + 5×CAN FD 网关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1965960"/>
            <a:ext cx="5394960" cy="402336"/>
          </a:xfrm>
          <a:prstGeom prst="roundRect">
            <a:avLst>
              <a:gd name="adj" fmla="val 18000"/>
            </a:avLst>
          </a:prstGeom>
          <a:solidFill>
            <a:srgbClr val="F5F8FD"/>
          </a:solidFill>
          <a:ln w="9525">
            <a:solidFill>
              <a:srgbClr val="E2E8F3"/>
            </a:solidFill>
          </a:ln>
          <a:effectLst>
            <a:outerShdw blurRad="35000" dist="10000" dir="5400000" rotWithShape="0">
              <a:srgbClr val="17244A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02920" y="1965960"/>
            <a:ext cx="822960" cy="402336"/>
          </a:xfrm>
          <a:prstGeom prst="roundRect">
            <a:avLst>
              <a:gd name="adj" fmla="val 18000"/>
            </a:avLst>
          </a:prstGeom>
          <a:solidFill>
            <a:srgbClr val="00B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60120" y="1965960"/>
            <a:ext cx="365760" cy="402336"/>
          </a:xfrm>
          <a:prstGeom prst="rect">
            <a:avLst/>
          </a:prstGeom>
          <a:solidFill>
            <a:srgbClr val="00B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1965960"/>
            <a:ext cx="822960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L4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63040" y="1965960"/>
            <a:ext cx="1828800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0A1A3D"/>
                </a:solidFill>
                <a:latin typeface="微软雅黑"/>
                <a:ea typeface="微软雅黑"/>
                <a:cs typeface="微软雅黑"/>
              </a:rPr>
              <a:t>显示/视频层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46120" y="1965960"/>
            <a:ext cx="2560320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P-HUD · 魔术屏 · 吸顶屏 · 后排屏 · PAD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02920" y="2423160"/>
            <a:ext cx="5394960" cy="402336"/>
          </a:xfrm>
          <a:prstGeom prst="roundRect">
            <a:avLst>
              <a:gd name="adj" fmla="val 18000"/>
            </a:avLst>
          </a:prstGeom>
          <a:solidFill>
            <a:srgbClr val="F5F8FD"/>
          </a:solidFill>
          <a:ln w="9525">
            <a:solidFill>
              <a:srgbClr val="E2E8F3"/>
            </a:solidFill>
          </a:ln>
          <a:effectLst>
            <a:outerShdw blurRad="35000" dist="10000" dir="5400000" rotWithShape="0">
              <a:srgbClr val="17244A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02920" y="2423160"/>
            <a:ext cx="822960" cy="402336"/>
          </a:xfrm>
          <a:prstGeom prst="roundRect">
            <a:avLst>
              <a:gd name="adj" fmla="val 18000"/>
            </a:avLst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60120" y="2423160"/>
            <a:ext cx="365760" cy="402336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" y="2423160"/>
            <a:ext cx="822960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L3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463040" y="2423160"/>
            <a:ext cx="1828800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0A1A3D"/>
                </a:solidFill>
                <a:latin typeface="微软雅黑"/>
                <a:ea typeface="微软雅黑"/>
                <a:cs typeface="微软雅黑"/>
              </a:rPr>
              <a:t>域总线层 CAN FD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46120" y="2423160"/>
            <a:ext cx="2560320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灯光 / 座椅 / 机构 / 舒适 / 加热健康 · ≥5Mbps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02920" y="2880360"/>
            <a:ext cx="5394960" cy="402336"/>
          </a:xfrm>
          <a:prstGeom prst="roundRect">
            <a:avLst>
              <a:gd name="adj" fmla="val 18000"/>
            </a:avLst>
          </a:prstGeom>
          <a:solidFill>
            <a:srgbClr val="F5F8FD"/>
          </a:solidFill>
          <a:ln w="9525">
            <a:solidFill>
              <a:srgbClr val="E2E8F3"/>
            </a:solidFill>
          </a:ln>
          <a:effectLst>
            <a:outerShdw blurRad="35000" dist="10000" dir="5400000" rotWithShape="0">
              <a:srgbClr val="17244A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502920" y="2880360"/>
            <a:ext cx="822960" cy="402336"/>
          </a:xfrm>
          <a:prstGeom prst="roundRect">
            <a:avLst>
              <a:gd name="adj" fmla="val 18000"/>
            </a:avLst>
          </a:prstGeom>
          <a:solidFill>
            <a:srgbClr val="5A1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0120" y="2880360"/>
            <a:ext cx="365760" cy="402336"/>
          </a:xfrm>
          <a:prstGeom prst="rect">
            <a:avLst/>
          </a:prstGeom>
          <a:solidFill>
            <a:srgbClr val="5A1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2920" y="2880360"/>
            <a:ext cx="822960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L2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63040" y="2880360"/>
            <a:ext cx="1828800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0A1A3D"/>
                </a:solidFill>
                <a:latin typeface="微软雅黑"/>
                <a:ea typeface="微软雅黑"/>
                <a:cs typeface="微软雅黑"/>
              </a:rPr>
              <a:t>节点执行层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46120" y="2880360"/>
            <a:ext cx="2560320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控制板 · 驱动器 · 加热膜 · 健康扶手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02920" y="3337560"/>
            <a:ext cx="5394960" cy="402336"/>
          </a:xfrm>
          <a:prstGeom prst="roundRect">
            <a:avLst>
              <a:gd name="adj" fmla="val 18000"/>
            </a:avLst>
          </a:prstGeom>
          <a:solidFill>
            <a:srgbClr val="F5F8FD"/>
          </a:solidFill>
          <a:ln w="9525">
            <a:solidFill>
              <a:srgbClr val="E2E8F3"/>
            </a:solidFill>
          </a:ln>
          <a:effectLst>
            <a:outerShdw blurRad="35000" dist="10000" dir="5400000" rotWithShape="0">
              <a:srgbClr val="17244A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502920" y="3337560"/>
            <a:ext cx="822960" cy="402336"/>
          </a:xfrm>
          <a:prstGeom prst="roundRect">
            <a:avLst>
              <a:gd name="adj" fmla="val 18000"/>
            </a:avLst>
          </a:prstGeom>
          <a:solidFill>
            <a:srgbClr val="7D3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60120" y="3337560"/>
            <a:ext cx="365760" cy="402336"/>
          </a:xfrm>
          <a:prstGeom prst="rect">
            <a:avLst/>
          </a:prstGeom>
          <a:solidFill>
            <a:srgbClr val="7D3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02920" y="3337560"/>
            <a:ext cx="822960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L1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463040" y="3337560"/>
            <a:ext cx="1828800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0A1A3D"/>
                </a:solidFill>
                <a:latin typeface="微软雅黑"/>
                <a:ea typeface="微软雅黑"/>
                <a:cs typeface="微软雅黑"/>
              </a:rPr>
              <a:t>配电安全层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246120" y="3337560"/>
            <a:ext cx="2560320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PSU×5 · 急停 · 限位 · 防夹 · 超温自断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080760" y="1051560"/>
            <a:ext cx="2560320" cy="8046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3"/>
            </a:solidFill>
          </a:ln>
          <a:effectLst>
            <a:outerShdw blurRad="80000" dist="30000" dir="5400000" rotWithShape="0">
              <a:srgbClr val="17244A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190488" y="1051560"/>
            <a:ext cx="2340863" cy="45720"/>
          </a:xfrm>
          <a:prstGeom prst="rect">
            <a:avLst/>
          </a:prstGeom>
          <a:solidFill>
            <a:srgbClr val="7D3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63640" y="1170431"/>
            <a:ext cx="2286000" cy="3200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A1A3D"/>
                </a:solidFill>
                <a:latin typeface="微软雅黑"/>
                <a:ea typeface="微软雅黑"/>
                <a:cs typeface="微软雅黑"/>
              </a:rPr>
              <a:t>硬件安全回路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63640" y="1472184"/>
            <a:ext cx="228600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急停+STO+限位+电流防夹,独立于软件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080760" y="1965960"/>
            <a:ext cx="2560320" cy="8046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3"/>
            </a:solidFill>
          </a:ln>
          <a:effectLst>
            <a:outerShdw blurRad="80000" dist="30000" dir="5400000" rotWithShape="0">
              <a:srgbClr val="17244A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190488" y="1965960"/>
            <a:ext cx="2340863" cy="45720"/>
          </a:xfrm>
          <a:prstGeom prst="rect">
            <a:avLst/>
          </a:prstGeom>
          <a:solidFill>
            <a:srgbClr val="00B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263640" y="2084831"/>
            <a:ext cx="2286000" cy="3200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A1A3D"/>
                </a:solidFill>
                <a:latin typeface="微软雅黑"/>
                <a:ea typeface="微软雅黑"/>
                <a:cs typeface="微软雅黑"/>
              </a:rPr>
              <a:t>稳定与兜底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63640" y="2386584"/>
            <a:ext cx="228600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≥10h连续·100次无故障·一键复位≤30s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080760" y="2880360"/>
            <a:ext cx="2560320" cy="8046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3"/>
            </a:solidFill>
          </a:ln>
          <a:effectLst>
            <a:outerShdw blurRad="80000" dist="30000" dir="5400000" rotWithShape="0">
              <a:srgbClr val="17244A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190488" y="2880360"/>
            <a:ext cx="2340863" cy="45720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263640" y="2999232"/>
            <a:ext cx="2286000" cy="3200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A1A3D"/>
                </a:solidFill>
                <a:latin typeface="微软雅黑"/>
                <a:ea typeface="微软雅黑"/>
                <a:cs typeface="微软雅黑"/>
              </a:rPr>
              <a:t>断电恢复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63640" y="3300984"/>
            <a:ext cx="228600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上电自动回零+参数记忆,≤5分钟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02920" y="3986784"/>
            <a:ext cx="8138160" cy="585216"/>
          </a:xfrm>
          <a:prstGeom prst="roundRect">
            <a:avLst>
              <a:gd name="adj" fmla="val 12000"/>
            </a:avLst>
          </a:prstGeom>
          <a:gradFill>
            <a:gsLst>
              <a:gs pos="0">
                <a:srgbClr val="0A1A3D"/>
              </a:gs>
              <a:gs pos="100000">
                <a:srgbClr val="291C5E"/>
              </a:gs>
            </a:gsLst>
            <a:lin ang="0" scaled="1"/>
          </a:gradFill>
          <a:ln>
            <a:noFill/>
          </a:ln>
          <a:effectLst>
            <a:outerShdw blurRad="80000" dist="30000" dir="5400000" rotWithShape="0">
              <a:srgbClr val="17244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502920" y="4114800"/>
            <a:ext cx="54864" cy="329184"/>
          </a:xfrm>
          <a:prstGeom prst="rect">
            <a:avLst/>
          </a:prstGeom>
          <a:solidFill>
            <a:srgbClr val="00B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95528" y="3986784"/>
            <a:ext cx="7589520" cy="58521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真实电气工程,而非模型搭建</a:t>
            </a:r>
            <a:r>
              <a:rPr sz="1100" b="0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  这套架构让"展会不出事、A 类零故障"的承诺有出处。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02920" y="4846320"/>
            <a:ext cx="8138160" cy="10972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22960" y="4873752"/>
            <a:ext cx="6400800" cy="21945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6A7896"/>
                </a:solidFill>
                <a:latin typeface="微软雅黑"/>
                <a:ea typeface="微软雅黑"/>
                <a:cs typeface="微软雅黑"/>
              </a:rPr>
              <a:t>卓迈 JOMEC</a:t>
            </a:r>
            <a:r>
              <a:rPr sz="800" b="0" i="0">
                <a:solidFill>
                  <a:srgbClr val="959FB5"/>
                </a:solidFill>
                <a:latin typeface="微软雅黑"/>
                <a:ea typeface="微软雅黑"/>
                <a:cs typeface="微软雅黑"/>
              </a:rPr>
              <a:t>  ·  NICE 智能座舱体验舱 · 把硬件优势变成体验话语权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955279" y="4873752"/>
            <a:ext cx="685800" cy="21945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6A7896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gradFill>
            <a:gsLst>
              <a:gs pos="0">
                <a:srgbClr val="0A1A3D"/>
              </a:gs>
              <a:gs pos="100000">
                <a:srgbClr val="1B448E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841248" cy="841248"/>
          </a:xfrm>
          <a:prstGeom prst="rect">
            <a:avLst/>
          </a:prstGeom>
          <a:solidFill>
            <a:srgbClr val="0A1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0"/>
            <a:ext cx="41148" cy="841248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841248" cy="8412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146304"/>
            <a:ext cx="6766560" cy="4114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30 周交付确定性:2026.07 启动 → 2027.01 终验收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48640"/>
            <a:ext cx="6766560" cy="2286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8FB2F0"/>
                </a:solidFill>
                <a:latin typeface="Arial"/>
                <a:ea typeface="Arial"/>
                <a:cs typeface="Arial"/>
              </a:rPr>
              <a:t>30-WEEK ROADMAP</a:t>
            </a:r>
          </a:p>
        </p:txBody>
      </p:sp>
      <p:sp>
        <p:nvSpPr>
          <p:cNvPr id="9" name="Oval 8"/>
          <p:cNvSpPr/>
          <p:nvPr/>
        </p:nvSpPr>
        <p:spPr>
          <a:xfrm>
            <a:off x="7818120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64424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110728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57032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03336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49640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818120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964424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110728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57032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03336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49640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818120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964424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110728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57032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403336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549640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836676"/>
            <a:ext cx="9144000" cy="27432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828800" y="1325880"/>
            <a:ext cx="975360" cy="237744"/>
          </a:xfrm>
          <a:prstGeom prst="rect">
            <a:avLst/>
          </a:prstGeom>
          <a:solidFill>
            <a:srgbClr val="F5F8FD"/>
          </a:solidFill>
          <a:ln w="9525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28800" y="1325880"/>
            <a:ext cx="975360" cy="23774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0A1A3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28800" y="1600200"/>
            <a:ext cx="7315" cy="2240280"/>
          </a:xfrm>
          <a:prstGeom prst="rect">
            <a:avLst/>
          </a:prstGeom>
          <a:solidFill>
            <a:srgbClr val="EC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804160" y="1325880"/>
            <a:ext cx="975360" cy="237744"/>
          </a:xfrm>
          <a:prstGeom prst="rect">
            <a:avLst/>
          </a:prstGeom>
          <a:solidFill>
            <a:srgbClr val="F5F8FD"/>
          </a:solidFill>
          <a:ln w="9525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04160" y="1325880"/>
            <a:ext cx="975360" cy="23774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0A1A3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04160" y="1600200"/>
            <a:ext cx="7315" cy="2240280"/>
          </a:xfrm>
          <a:prstGeom prst="rect">
            <a:avLst/>
          </a:prstGeom>
          <a:solidFill>
            <a:srgbClr val="EC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779519" y="1325880"/>
            <a:ext cx="975360" cy="237744"/>
          </a:xfrm>
          <a:prstGeom prst="rect">
            <a:avLst/>
          </a:prstGeom>
          <a:solidFill>
            <a:srgbClr val="F5F8FD"/>
          </a:solidFill>
          <a:ln w="9525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79519" y="1325880"/>
            <a:ext cx="975360" cy="23774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0A1A3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779519" y="1600200"/>
            <a:ext cx="7315" cy="2240280"/>
          </a:xfrm>
          <a:prstGeom prst="rect">
            <a:avLst/>
          </a:prstGeom>
          <a:solidFill>
            <a:srgbClr val="EC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754879" y="1325880"/>
            <a:ext cx="975360" cy="237744"/>
          </a:xfrm>
          <a:prstGeom prst="rect">
            <a:avLst/>
          </a:prstGeom>
          <a:solidFill>
            <a:srgbClr val="F5F8FD"/>
          </a:solidFill>
          <a:ln w="9525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4879" y="1325880"/>
            <a:ext cx="975360" cy="23774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0A1A3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754879" y="1600200"/>
            <a:ext cx="7315" cy="2240280"/>
          </a:xfrm>
          <a:prstGeom prst="rect">
            <a:avLst/>
          </a:prstGeom>
          <a:solidFill>
            <a:srgbClr val="EC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730239" y="1325880"/>
            <a:ext cx="975360" cy="237744"/>
          </a:xfrm>
          <a:prstGeom prst="rect">
            <a:avLst/>
          </a:prstGeom>
          <a:solidFill>
            <a:srgbClr val="F5F8FD"/>
          </a:solidFill>
          <a:ln w="9525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730239" y="1325880"/>
            <a:ext cx="975360" cy="23774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0A1A3D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730239" y="1600200"/>
            <a:ext cx="7315" cy="2240280"/>
          </a:xfrm>
          <a:prstGeom prst="rect">
            <a:avLst/>
          </a:prstGeom>
          <a:solidFill>
            <a:srgbClr val="EC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705599" y="1325880"/>
            <a:ext cx="975360" cy="237744"/>
          </a:xfrm>
          <a:prstGeom prst="rect">
            <a:avLst/>
          </a:prstGeom>
          <a:solidFill>
            <a:srgbClr val="F5F8FD"/>
          </a:solidFill>
          <a:ln w="9525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05599" y="1325880"/>
            <a:ext cx="975360" cy="23774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0A1A3D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705599" y="1600200"/>
            <a:ext cx="7315" cy="2240280"/>
          </a:xfrm>
          <a:prstGeom prst="rect">
            <a:avLst/>
          </a:prstGeom>
          <a:solidFill>
            <a:srgbClr val="EC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80959" y="1325880"/>
            <a:ext cx="731520" cy="237744"/>
          </a:xfrm>
          <a:prstGeom prst="rect">
            <a:avLst/>
          </a:prstGeom>
          <a:solidFill>
            <a:srgbClr val="F5F8FD"/>
          </a:solidFill>
          <a:ln w="9525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80959" y="1325880"/>
            <a:ext cx="731520" cy="23774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0A1A3D"/>
                </a:solidFill>
                <a:latin typeface="Arial"/>
                <a:ea typeface="Arial"/>
                <a:cs typeface="Arial"/>
              </a:rPr>
              <a:t>27.01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680959" y="1600200"/>
            <a:ext cx="7315" cy="2240280"/>
          </a:xfrm>
          <a:prstGeom prst="rect">
            <a:avLst/>
          </a:prstGeom>
          <a:solidFill>
            <a:srgbClr val="EC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" y="1709928"/>
            <a:ext cx="1280160" cy="2926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0A1A3D"/>
                </a:solidFill>
                <a:latin typeface="微软雅黑"/>
                <a:ea typeface="微软雅黑"/>
                <a:cs typeface="微软雅黑"/>
              </a:rPr>
              <a:t>造型/CAS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828800" y="1755648"/>
            <a:ext cx="3423513" cy="201168"/>
          </a:xfrm>
          <a:prstGeom prst="roundRect">
            <a:avLst>
              <a:gd name="adj" fmla="val 40000"/>
            </a:avLst>
          </a:prstGeom>
          <a:solidFill>
            <a:srgbClr val="246BFF"/>
          </a:solidFill>
          <a:ln>
            <a:noFill/>
          </a:ln>
          <a:effectLst>
            <a:outerShdw blurRad="30000" dist="8000" dir="5400000" rotWithShape="0">
              <a:srgbClr val="17244A">
                <a:alpha val="8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2920" y="2075688"/>
            <a:ext cx="1280160" cy="2926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0A1A3D"/>
                </a:solidFill>
                <a:latin typeface="微软雅黑"/>
                <a:ea typeface="微软雅黑"/>
                <a:cs typeface="微软雅黑"/>
              </a:rPr>
              <a:t>硬件开发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355494" y="2121408"/>
            <a:ext cx="4871923" cy="201168"/>
          </a:xfrm>
          <a:prstGeom prst="roundRect">
            <a:avLst>
              <a:gd name="adj" fmla="val 40000"/>
            </a:avLst>
          </a:prstGeom>
          <a:solidFill>
            <a:srgbClr val="F43F5E"/>
          </a:solidFill>
          <a:ln>
            <a:noFill/>
          </a:ln>
          <a:effectLst>
            <a:outerShdw blurRad="30000" dist="8000" dir="5400000" rotWithShape="0">
              <a:srgbClr val="17244A">
                <a:alpha val="8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2920" y="2441448"/>
            <a:ext cx="1280160" cy="2926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0A1A3D"/>
                </a:solidFill>
                <a:latin typeface="微软雅黑"/>
                <a:ea typeface="微软雅黑"/>
                <a:cs typeface="微软雅黑"/>
              </a:rPr>
              <a:t>软件开发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882188" y="2487168"/>
            <a:ext cx="5266944" cy="201168"/>
          </a:xfrm>
          <a:prstGeom prst="roundRect">
            <a:avLst>
              <a:gd name="adj" fmla="val 40000"/>
            </a:avLst>
          </a:prstGeom>
          <a:solidFill>
            <a:srgbClr val="00B5E3"/>
          </a:solidFill>
          <a:ln>
            <a:noFill/>
          </a:ln>
          <a:effectLst>
            <a:outerShdw blurRad="30000" dist="8000" dir="5400000" rotWithShape="0">
              <a:srgbClr val="17244A">
                <a:alpha val="8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2920" y="2807208"/>
            <a:ext cx="1280160" cy="2926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0A1A3D"/>
                </a:solidFill>
                <a:latin typeface="微软雅黑"/>
                <a:ea typeface="微软雅黑"/>
                <a:cs typeface="微软雅黑"/>
              </a:rPr>
              <a:t>展车模型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145536" y="2852928"/>
            <a:ext cx="5266944" cy="201168"/>
          </a:xfrm>
          <a:prstGeom prst="roundRect">
            <a:avLst>
              <a:gd name="adj" fmla="val 40000"/>
            </a:avLst>
          </a:prstGeom>
          <a:solidFill>
            <a:srgbClr val="F59E0B"/>
          </a:solidFill>
          <a:ln>
            <a:noFill/>
          </a:ln>
          <a:effectLst>
            <a:outerShdw blurRad="30000" dist="8000" dir="5400000" rotWithShape="0">
              <a:srgbClr val="17244A">
                <a:alpha val="8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2920" y="3172968"/>
            <a:ext cx="1280160" cy="2926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0A1A3D"/>
                </a:solidFill>
                <a:latin typeface="微软雅黑"/>
                <a:ea typeface="微软雅黑"/>
                <a:cs typeface="微软雅黑"/>
              </a:rPr>
              <a:t>动画/交互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828800" y="3218688"/>
            <a:ext cx="4740249" cy="201168"/>
          </a:xfrm>
          <a:prstGeom prst="roundRect">
            <a:avLst>
              <a:gd name="adj" fmla="val 40000"/>
            </a:avLst>
          </a:prstGeom>
          <a:solidFill>
            <a:srgbClr val="5A1BDF"/>
          </a:solidFill>
          <a:ln>
            <a:noFill/>
          </a:ln>
          <a:effectLst>
            <a:outerShdw blurRad="30000" dist="8000" dir="5400000" rotWithShape="0">
              <a:srgbClr val="17244A">
                <a:alpha val="8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2920" y="3538728"/>
            <a:ext cx="1280160" cy="2926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0A1A3D"/>
                </a:solidFill>
                <a:latin typeface="微软雅黑"/>
                <a:ea typeface="微软雅黑"/>
                <a:cs typeface="微软雅黑"/>
              </a:rPr>
              <a:t>测试(前置)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779008" y="3584448"/>
            <a:ext cx="2633472" cy="201168"/>
          </a:xfrm>
          <a:prstGeom prst="roundRect">
            <a:avLst>
              <a:gd name="adj" fmla="val 40000"/>
            </a:avLst>
          </a:prstGeom>
          <a:solidFill>
            <a:srgbClr val="22C55E"/>
          </a:solidFill>
          <a:ln>
            <a:noFill/>
          </a:ln>
          <a:effectLst>
            <a:outerShdw blurRad="30000" dist="8000" dir="5400000" rotWithShape="0">
              <a:srgbClr val="17244A">
                <a:alpha val="8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Diamond 60"/>
          <p:cNvSpPr/>
          <p:nvPr/>
        </p:nvSpPr>
        <p:spPr>
          <a:xfrm>
            <a:off x="3730752" y="1600200"/>
            <a:ext cx="146304" cy="146304"/>
          </a:xfrm>
          <a:prstGeom prst="diamond">
            <a:avLst/>
          </a:prstGeom>
          <a:solidFill>
            <a:srgbClr val="7D3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255264" y="3913632"/>
            <a:ext cx="109728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7D3CFF"/>
                </a:solidFill>
                <a:latin typeface="微软雅黑"/>
                <a:ea typeface="微软雅黑"/>
                <a:cs typeface="微软雅黑"/>
              </a:rPr>
              <a:t>M4 骨架</a:t>
            </a:r>
          </a:p>
        </p:txBody>
      </p:sp>
      <p:sp>
        <p:nvSpPr>
          <p:cNvPr id="63" name="Diamond 62"/>
          <p:cNvSpPr/>
          <p:nvPr/>
        </p:nvSpPr>
        <p:spPr>
          <a:xfrm>
            <a:off x="6100876" y="1600200"/>
            <a:ext cx="146304" cy="146304"/>
          </a:xfrm>
          <a:prstGeom prst="diamond">
            <a:avLst/>
          </a:prstGeom>
          <a:solidFill>
            <a:srgbClr val="7D3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625388" y="3913632"/>
            <a:ext cx="109728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7D3CFF"/>
                </a:solidFill>
                <a:latin typeface="微软雅黑"/>
                <a:ea typeface="微软雅黑"/>
                <a:cs typeface="微软雅黑"/>
              </a:rPr>
              <a:t>M6 预验收</a:t>
            </a:r>
          </a:p>
        </p:txBody>
      </p:sp>
      <p:sp>
        <p:nvSpPr>
          <p:cNvPr id="65" name="Diamond 64"/>
          <p:cNvSpPr/>
          <p:nvPr/>
        </p:nvSpPr>
        <p:spPr>
          <a:xfrm>
            <a:off x="7878470" y="1600200"/>
            <a:ext cx="146304" cy="146304"/>
          </a:xfrm>
          <a:prstGeom prst="diamond">
            <a:avLst/>
          </a:prstGeom>
          <a:solidFill>
            <a:srgbClr val="7D3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402982" y="3913632"/>
            <a:ext cx="109728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7D3CFF"/>
                </a:solidFill>
                <a:latin typeface="微软雅黑"/>
                <a:ea typeface="微软雅黑"/>
                <a:cs typeface="微软雅黑"/>
              </a:rPr>
              <a:t>M7 终验收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02920" y="3986784"/>
            <a:ext cx="8138160" cy="585216"/>
          </a:xfrm>
          <a:prstGeom prst="roundRect">
            <a:avLst>
              <a:gd name="adj" fmla="val 12000"/>
            </a:avLst>
          </a:prstGeom>
          <a:gradFill>
            <a:gsLst>
              <a:gs pos="0">
                <a:srgbClr val="0A1A3D"/>
              </a:gs>
              <a:gs pos="100000">
                <a:srgbClr val="291C5E"/>
              </a:gs>
            </a:gsLst>
            <a:lin ang="0" scaled="1"/>
          </a:gradFill>
          <a:ln>
            <a:noFill/>
          </a:ln>
          <a:effectLst>
            <a:outerShdw blurRad="80000" dist="30000" dir="5400000" rotWithShape="0">
              <a:srgbClr val="17244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02920" y="4114800"/>
            <a:ext cx="54864" cy="329184"/>
          </a:xfrm>
          <a:prstGeom prst="rect">
            <a:avLst/>
          </a:prstGeom>
          <a:solidFill>
            <a:srgbClr val="00B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95528" y="3986784"/>
            <a:ext cx="7589520" cy="58521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并行工程 + 测试 W18 前置</a:t>
            </a:r>
            <a:r>
              <a:rPr sz="1100" b="0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  ◆ 为里程碑(执行计划口径,合同关键节点以正式合同为准)。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02920" y="4846320"/>
            <a:ext cx="8138160" cy="10972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22960" y="4873752"/>
            <a:ext cx="6400800" cy="21945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6A7896"/>
                </a:solidFill>
                <a:latin typeface="微软雅黑"/>
                <a:ea typeface="微软雅黑"/>
                <a:cs typeface="微软雅黑"/>
              </a:rPr>
              <a:t>卓迈 JOMEC</a:t>
            </a:r>
            <a:r>
              <a:rPr sz="800" b="0" i="0">
                <a:solidFill>
                  <a:srgbClr val="959FB5"/>
                </a:solidFill>
                <a:latin typeface="微软雅黑"/>
                <a:ea typeface="微软雅黑"/>
                <a:cs typeface="微软雅黑"/>
              </a:rPr>
              <a:t>  ·  NICE 智能座舱体验舱 · 把硬件优势变成体验话语权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955279" y="4873752"/>
            <a:ext cx="685800" cy="21945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6A7896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gradFill>
            <a:gsLst>
              <a:gs pos="0">
                <a:srgbClr val="0A1A3D"/>
              </a:gs>
              <a:gs pos="100000">
                <a:srgbClr val="1B448E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841248" cy="841248"/>
          </a:xfrm>
          <a:prstGeom prst="rect">
            <a:avLst/>
          </a:prstGeom>
          <a:solidFill>
            <a:srgbClr val="0A1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0"/>
            <a:ext cx="41148" cy="841248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841248" cy="8412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146304"/>
            <a:ext cx="6766560" cy="4114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商务与服务范围:价值而非成本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48640"/>
            <a:ext cx="6766560" cy="2286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8FB2F0"/>
                </a:solidFill>
                <a:latin typeface="Arial"/>
                <a:ea typeface="Arial"/>
                <a:cs typeface="Arial"/>
              </a:rPr>
              <a:t>COMMERCIAL &amp; SERVICE</a:t>
            </a:r>
          </a:p>
        </p:txBody>
      </p:sp>
      <p:sp>
        <p:nvSpPr>
          <p:cNvPr id="9" name="Oval 8"/>
          <p:cNvSpPr/>
          <p:nvPr/>
        </p:nvSpPr>
        <p:spPr>
          <a:xfrm>
            <a:off x="7818120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64424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110728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57032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03336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49640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818120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964424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110728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57032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03336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49640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818120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964424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110728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57032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403336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549640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836676"/>
            <a:ext cx="9144000" cy="27432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02920" y="1097280"/>
            <a:ext cx="411480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3"/>
            </a:solidFill>
          </a:ln>
          <a:effectLst>
            <a:outerShdw blurRad="80000" dist="30000" dir="5400000" rotWithShape="0">
              <a:srgbClr val="17244A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2648" y="1097280"/>
            <a:ext cx="3895344" cy="45720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" y="1261872"/>
            <a:ext cx="3749039" cy="3200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46BFF"/>
                </a:solidFill>
                <a:latin typeface="微软雅黑"/>
                <a:ea typeface="微软雅黑"/>
                <a:cs typeface="微软雅黑"/>
              </a:rPr>
              <a:t>服务承诺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1673352"/>
            <a:ext cx="109728" cy="109728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1627632"/>
            <a:ext cx="356616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免费质保期 ≥ 1 年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3232" y="2039112"/>
            <a:ext cx="109728" cy="109728"/>
          </a:xfrm>
          <a:prstGeom prst="rect">
            <a:avLst/>
          </a:prstGeom>
          <a:solidFill>
            <a:srgbClr val="00B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1993392"/>
            <a:ext cx="356616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展会驻场 ≥2 人 · A 类响应 ≤15min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3232" y="2404872"/>
            <a:ext cx="109728" cy="109728"/>
          </a:xfrm>
          <a:prstGeom prst="rect">
            <a:avLst/>
          </a:prstGeom>
          <a:solidFill>
            <a:srgbClr val="C8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2359152"/>
            <a:ext cx="356616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远程支持 7×24 · ≤2 小时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3232" y="2770632"/>
            <a:ext cx="109728" cy="109728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2724912"/>
            <a:ext cx="356616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免费软件迭代 ≤3 次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3232" y="3136391"/>
            <a:ext cx="109728" cy="109728"/>
          </a:xfrm>
          <a:prstGeom prst="rect">
            <a:avLst/>
          </a:prstGeom>
          <a:solidFill>
            <a:srgbClr val="00B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3090672"/>
            <a:ext cx="356616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关键易损件供应 ≥3 年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13232" y="3502152"/>
            <a:ext cx="109728" cy="109728"/>
          </a:xfrm>
          <a:prstGeom prst="rect">
            <a:avLst/>
          </a:prstGeom>
          <a:solidFill>
            <a:srgbClr val="C8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3456432"/>
            <a:ext cx="356616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质保期展会支持 ≥10 次/16 天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800600" y="1097280"/>
            <a:ext cx="384048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3"/>
            </a:solidFill>
          </a:ln>
          <a:effectLst>
            <a:outerShdw blurRad="80000" dist="30000" dir="5400000" rotWithShape="0">
              <a:srgbClr val="17244A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910328" y="1097280"/>
            <a:ext cx="3621024" cy="45720"/>
          </a:xfrm>
          <a:prstGeom prst="rect">
            <a:avLst/>
          </a:prstGeom>
          <a:solidFill>
            <a:srgbClr val="7D3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0" y="1261872"/>
            <a:ext cx="3474720" cy="3200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D3CFF"/>
                </a:solidFill>
                <a:latin typeface="微软雅黑"/>
                <a:ea typeface="微软雅黑"/>
                <a:cs typeface="微软雅黑"/>
              </a:rPr>
              <a:t>报价结构(占位)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0" y="1664208"/>
            <a:ext cx="2377440" cy="30175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造型与 CMF 设计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543800" y="1682496"/>
            <a:ext cx="914400" cy="246888"/>
          </a:xfrm>
          <a:prstGeom prst="rect">
            <a:avLst/>
          </a:prstGeom>
          <a:solidFill>
            <a:srgbClr val="F5F8FD"/>
          </a:solidFill>
          <a:ln w="9525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43800" y="1682496"/>
            <a:ext cx="914400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959FB5"/>
                </a:solidFill>
                <a:latin typeface="微软雅黑"/>
                <a:ea typeface="微软雅黑"/>
                <a:cs typeface="微软雅黑"/>
              </a:rPr>
              <a:t>〔待报〕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0" y="2011680"/>
            <a:ext cx="2377440" cy="30175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工程与展车制作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43800" y="2029968"/>
            <a:ext cx="914400" cy="246888"/>
          </a:xfrm>
          <a:prstGeom prst="rect">
            <a:avLst/>
          </a:prstGeom>
          <a:solidFill>
            <a:srgbClr val="F5F8FD"/>
          </a:solidFill>
          <a:ln w="9525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43800" y="2029968"/>
            <a:ext cx="914400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959FB5"/>
                </a:solidFill>
                <a:latin typeface="微软雅黑"/>
                <a:ea typeface="微软雅黑"/>
                <a:cs typeface="微软雅黑"/>
              </a:rPr>
              <a:t>〔待报〕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0" y="2359152"/>
            <a:ext cx="2377440" cy="30175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电子电器与机构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543800" y="2377440"/>
            <a:ext cx="914400" cy="246888"/>
          </a:xfrm>
          <a:prstGeom prst="rect">
            <a:avLst/>
          </a:prstGeom>
          <a:solidFill>
            <a:srgbClr val="F5F8FD"/>
          </a:solidFill>
          <a:ln w="9525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543800" y="2377440"/>
            <a:ext cx="914400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959FB5"/>
                </a:solidFill>
                <a:latin typeface="微软雅黑"/>
                <a:ea typeface="微软雅黑"/>
                <a:cs typeface="微软雅黑"/>
              </a:rPr>
              <a:t>〔待报〕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29200" y="2706624"/>
            <a:ext cx="2377440" cy="30175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软件/HMI/集成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43800" y="2724912"/>
            <a:ext cx="914400" cy="246888"/>
          </a:xfrm>
          <a:prstGeom prst="rect">
            <a:avLst/>
          </a:prstGeom>
          <a:solidFill>
            <a:srgbClr val="F5F8FD"/>
          </a:solidFill>
          <a:ln w="9525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43800" y="2724912"/>
            <a:ext cx="914400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959FB5"/>
                </a:solidFill>
                <a:latin typeface="微软雅黑"/>
                <a:ea typeface="微软雅黑"/>
                <a:cs typeface="微软雅黑"/>
              </a:rPr>
              <a:t>〔待报〕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29200" y="3054096"/>
            <a:ext cx="2377440" cy="30175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动画与传播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543800" y="3072384"/>
            <a:ext cx="914400" cy="246888"/>
          </a:xfrm>
          <a:prstGeom prst="rect">
            <a:avLst/>
          </a:prstGeom>
          <a:solidFill>
            <a:srgbClr val="F5F8FD"/>
          </a:solidFill>
          <a:ln w="9525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543800" y="3072384"/>
            <a:ext cx="914400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959FB5"/>
                </a:solidFill>
                <a:latin typeface="微软雅黑"/>
                <a:ea typeface="微软雅黑"/>
                <a:cs typeface="微软雅黑"/>
              </a:rPr>
              <a:t>〔待报〕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29200" y="3401568"/>
            <a:ext cx="2377440" cy="30175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展会保障与售后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543800" y="3419856"/>
            <a:ext cx="914400" cy="246888"/>
          </a:xfrm>
          <a:prstGeom prst="rect">
            <a:avLst/>
          </a:prstGeom>
          <a:solidFill>
            <a:srgbClr val="F5F8FD"/>
          </a:solidFill>
          <a:ln w="9525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543800" y="3419856"/>
            <a:ext cx="914400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959FB5"/>
                </a:solidFill>
                <a:latin typeface="微软雅黑"/>
                <a:ea typeface="微软雅黑"/>
                <a:cs typeface="微软雅黑"/>
              </a:rPr>
              <a:t>〔待报〕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02920" y="3986784"/>
            <a:ext cx="8138160" cy="585216"/>
          </a:xfrm>
          <a:prstGeom prst="roundRect">
            <a:avLst>
              <a:gd name="adj" fmla="val 12000"/>
            </a:avLst>
          </a:prstGeom>
          <a:gradFill>
            <a:gsLst>
              <a:gs pos="0">
                <a:srgbClr val="0A1A3D"/>
              </a:gs>
              <a:gs pos="100000">
                <a:srgbClr val="291C5E"/>
              </a:gs>
            </a:gsLst>
            <a:lin ang="0" scaled="1"/>
          </a:gradFill>
          <a:ln>
            <a:noFill/>
          </a:ln>
          <a:effectLst>
            <a:outerShdw blurRad="80000" dist="30000" dir="5400000" rotWithShape="0">
              <a:srgbClr val="17244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02920" y="4114800"/>
            <a:ext cx="54864" cy="329184"/>
          </a:xfrm>
          <a:prstGeom prst="rect">
            <a:avLst/>
          </a:prstGeom>
          <a:solidFill>
            <a:srgbClr val="00B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95528" y="3986784"/>
            <a:ext cx="7589520" cy="58521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可按概念/工程/样机分阶段推进</a:t>
            </a:r>
            <a:r>
              <a:rPr sz="1100" b="0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  每阶段有可验收交付物;具体投入基于项目范围当面测算。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02920" y="4846320"/>
            <a:ext cx="8138160" cy="10972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22960" y="4873752"/>
            <a:ext cx="6400800" cy="21945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6A7896"/>
                </a:solidFill>
                <a:latin typeface="微软雅黑"/>
                <a:ea typeface="微软雅黑"/>
                <a:cs typeface="微软雅黑"/>
              </a:rPr>
              <a:t>卓迈 JOMEC</a:t>
            </a:r>
            <a:r>
              <a:rPr sz="800" b="0" i="0">
                <a:solidFill>
                  <a:srgbClr val="959FB5"/>
                </a:solidFill>
                <a:latin typeface="微软雅黑"/>
                <a:ea typeface="微软雅黑"/>
                <a:cs typeface="微软雅黑"/>
              </a:rPr>
              <a:t>  ·  NICE 智能座舱体验舱 · 把硬件优势变成体验话语权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955279" y="4873752"/>
            <a:ext cx="685800" cy="21945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6A7896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0B1024"/>
              </a:gs>
              <a:gs pos="100000">
                <a:srgbClr val="16123A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760720" y="-457200"/>
            <a:ext cx="4114800" cy="4114800"/>
          </a:xfrm>
          <a:prstGeom prst="ellipse">
            <a:avLst/>
          </a:prstGeom>
          <a:noFill/>
          <a:ln w="12700">
            <a:solidFill>
              <a:srgbClr val="24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949440" y="1280160"/>
            <a:ext cx="3291840" cy="3291840"/>
          </a:xfrm>
          <a:prstGeom prst="ellipse">
            <a:avLst/>
          </a:prstGeom>
          <a:noFill/>
          <a:ln w="12700">
            <a:solidFill>
              <a:srgbClr val="5A1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736592"/>
            <a:ext cx="9144000" cy="10972"/>
          </a:xfrm>
          <a:prstGeom prst="rect">
            <a:avLst/>
          </a:prstGeom>
          <a:solidFill>
            <a:srgbClr val="24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0" y="0"/>
            <a:ext cx="10972" cy="5143500"/>
          </a:xfrm>
          <a:prstGeom prst="rect">
            <a:avLst/>
          </a:prstGeom>
          <a:solidFill>
            <a:srgbClr val="162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36208" y="0"/>
            <a:ext cx="10972" cy="5143500"/>
          </a:xfrm>
          <a:prstGeom prst="rect">
            <a:avLst/>
          </a:prstGeom>
          <a:solidFill>
            <a:srgbClr val="162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03136" y="0"/>
            <a:ext cx="10972" cy="5143500"/>
          </a:xfrm>
          <a:prstGeom prst="rect">
            <a:avLst/>
          </a:prstGeom>
          <a:solidFill>
            <a:srgbClr val="162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70064" y="0"/>
            <a:ext cx="10972" cy="5143500"/>
          </a:xfrm>
          <a:prstGeom prst="rect">
            <a:avLst/>
          </a:prstGeom>
          <a:solidFill>
            <a:srgbClr val="162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36992" y="0"/>
            <a:ext cx="10972" cy="5143500"/>
          </a:xfrm>
          <a:prstGeom prst="rect">
            <a:avLst/>
          </a:prstGeom>
          <a:solidFill>
            <a:srgbClr val="162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03920" y="0"/>
            <a:ext cx="10972" cy="5143500"/>
          </a:xfrm>
          <a:prstGeom prst="rect">
            <a:avLst/>
          </a:prstGeom>
          <a:solidFill>
            <a:srgbClr val="162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0" y="274320"/>
            <a:ext cx="3657600" cy="32918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0" b="1" i="0">
                <a:solidFill>
                  <a:srgbClr val="16244E"/>
                </a:solidFill>
                <a:latin typeface="Arial Black"/>
                <a:ea typeface="Arial Black"/>
                <a:cs typeface="Arial Black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777240"/>
            <a:ext cx="274320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7D3CFF"/>
                </a:solidFill>
                <a:latin typeface="Arial"/>
                <a:ea typeface="Arial"/>
                <a:cs typeface="Arial"/>
              </a:rPr>
              <a:t>PART 05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463040"/>
            <a:ext cx="73152" cy="1371600"/>
          </a:xfrm>
          <a:prstGeom prst="rect">
            <a:avLst/>
          </a:prstGeom>
          <a:solidFill>
            <a:srgbClr val="7D3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1371600"/>
            <a:ext cx="731520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0B5E3"/>
                </a:solidFill>
                <a:latin typeface="Arial"/>
                <a:ea typeface="Arial"/>
                <a:cs typeface="Arial"/>
              </a:rPr>
              <a:t>PROVEN CASES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1783080"/>
            <a:ext cx="7680960" cy="8229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验证过的赢法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2971800"/>
            <a:ext cx="6949440" cy="914400"/>
          </a:xfrm>
          <a:prstGeom prst="roundRect">
            <a:avLst>
              <a:gd name="adj" fmla="val 8000"/>
            </a:avLst>
          </a:prstGeom>
          <a:solidFill>
            <a:srgbClr val="10224A"/>
          </a:solidFill>
          <a:ln w="9525">
            <a:solidFill>
              <a:srgbClr val="2B3A66"/>
            </a:solidFill>
          </a:ln>
          <a:effectLst>
            <a:outerShdw blurRad="80000" dist="30000" dir="5400000" rotWithShape="0">
              <a:srgbClr val="17244A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8680" y="3044952"/>
            <a:ext cx="54864" cy="768096"/>
          </a:xfrm>
          <a:prstGeom prst="rect">
            <a:avLst/>
          </a:prstGeom>
          <a:solidFill>
            <a:srgbClr val="00B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568" y="2971800"/>
            <a:ext cx="6583680" cy="9144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这套打法,真把别的 Tier 1 送进了主机厂的门。按说服力排序:从带着创新走进宝马,到自有专利获捷豹路虎官方致谢,再到红点奖与百度 Apollo —— 同一套能力可跨客户、跨场景复用。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gradFill>
            <a:gsLst>
              <a:gs pos="0">
                <a:srgbClr val="0A1A3D"/>
              </a:gs>
              <a:gs pos="100000">
                <a:srgbClr val="1B448E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841248" cy="841248"/>
          </a:xfrm>
          <a:prstGeom prst="rect">
            <a:avLst/>
          </a:prstGeom>
          <a:solidFill>
            <a:srgbClr val="0A1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0"/>
            <a:ext cx="41148" cy="841248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841248" cy="8412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146304"/>
            <a:ext cx="6766560" cy="4114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案例证据链:按说服力排序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48640"/>
            <a:ext cx="6766560" cy="2286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8FB2F0"/>
                </a:solidFill>
                <a:latin typeface="Arial"/>
                <a:ea typeface="Arial"/>
                <a:cs typeface="Arial"/>
              </a:rPr>
              <a:t>EVIDENCE, RANKED</a:t>
            </a:r>
          </a:p>
        </p:txBody>
      </p:sp>
      <p:sp>
        <p:nvSpPr>
          <p:cNvPr id="9" name="Oval 8"/>
          <p:cNvSpPr/>
          <p:nvPr/>
        </p:nvSpPr>
        <p:spPr>
          <a:xfrm>
            <a:off x="7818120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64424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110728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57032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03336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49640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818120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964424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110728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57032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03336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49640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818120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964424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110728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57032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403336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549640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836676"/>
            <a:ext cx="9144000" cy="27432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02920" y="1097280"/>
            <a:ext cx="4023360" cy="12070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3"/>
            </a:solidFill>
          </a:ln>
          <a:effectLst>
            <a:outerShdw blurRad="80000" dist="30000" dir="5400000" rotWithShape="0">
              <a:srgbClr val="17244A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2648" y="1097280"/>
            <a:ext cx="3803904" cy="45720"/>
          </a:xfrm>
          <a:prstGeom prst="rect">
            <a:avLst/>
          </a:prstGeom>
          <a:solidFill>
            <a:srgbClr val="7D3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76656" y="1271016"/>
            <a:ext cx="475488" cy="475488"/>
          </a:xfrm>
          <a:prstGeom prst="ellipse">
            <a:avLst/>
          </a:prstGeom>
          <a:gradFill>
            <a:gsLst>
              <a:gs pos="0">
                <a:srgbClr val="7D3CFF"/>
              </a:gs>
              <a:gs pos="100000">
                <a:srgbClr val="5A1BDF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w-22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773" y="1385133"/>
            <a:ext cx="247253" cy="247253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252728" y="1225295"/>
            <a:ext cx="320040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A1A3D"/>
                </a:solidFill>
                <a:latin typeface="微软雅黑"/>
                <a:ea typeface="微软雅黑"/>
                <a:cs typeface="微软雅黑"/>
              </a:rPr>
              <a:t>常熟汽饰 × 宝马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52728" y="1591056"/>
            <a:ext cx="3154680" cy="4114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主导 iX-2024 隐藏式电动长滑轨创新,负责对接与提案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1993391"/>
            <a:ext cx="365760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7D3CFF"/>
                </a:solidFill>
                <a:latin typeface="Arial"/>
                <a:ea typeface="Arial"/>
                <a:cs typeface="Arial"/>
              </a:rPr>
              <a:t>▸ </a:t>
            </a:r>
            <a:r>
              <a:rPr sz="900" b="1" i="0">
                <a:solidFill>
                  <a:srgbClr val="7D3CFF"/>
                </a:solidFill>
                <a:latin typeface="微软雅黑"/>
                <a:ea typeface="微软雅黑"/>
                <a:cs typeface="微软雅黑"/>
              </a:rPr>
              <a:t>宝马创新开发契机 + 量产机会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617720" y="1097280"/>
            <a:ext cx="4023360" cy="12070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3"/>
            </a:solidFill>
          </a:ln>
          <a:effectLst>
            <a:outerShdw blurRad="80000" dist="30000" dir="5400000" rotWithShape="0">
              <a:srgbClr val="17244A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727448" y="1097280"/>
            <a:ext cx="3803904" cy="45720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791456" y="1271016"/>
            <a:ext cx="475488" cy="475488"/>
          </a:xfrm>
          <a:prstGeom prst="ellipse">
            <a:avLst/>
          </a:prstGeom>
          <a:gradFill>
            <a:gsLst>
              <a:gs pos="0">
                <a:srgbClr val="246BFF"/>
              </a:gs>
              <a:gs pos="100000">
                <a:srgbClr val="5A1BDF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w-19-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5573" y="1385133"/>
            <a:ext cx="247253" cy="247253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367528" y="1225295"/>
            <a:ext cx="320040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A1A3D"/>
                </a:solidFill>
                <a:latin typeface="微软雅黑"/>
                <a:ea typeface="微软雅黑"/>
                <a:cs typeface="微软雅黑"/>
              </a:rPr>
              <a:t>椅背磁吸 × 捷豹路虎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67528" y="1591056"/>
            <a:ext cx="3154680" cy="4114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凭 JOMEC 自有专利总成做技术展示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00600" y="1993391"/>
            <a:ext cx="365760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246BFF"/>
                </a:solidFill>
                <a:latin typeface="Arial"/>
                <a:ea typeface="Arial"/>
                <a:cs typeface="Arial"/>
              </a:rPr>
              <a:t>▸ </a:t>
            </a:r>
            <a:r>
              <a:rPr sz="900" b="1" i="0">
                <a:solidFill>
                  <a:srgbClr val="246BFF"/>
                </a:solidFill>
                <a:latin typeface="微软雅黑"/>
                <a:ea typeface="微软雅黑"/>
                <a:cs typeface="微软雅黑"/>
              </a:rPr>
              <a:t>JLR 认可 + 官方感谢信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2468880"/>
            <a:ext cx="4023360" cy="12070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3"/>
            </a:solidFill>
          </a:ln>
          <a:effectLst>
            <a:outerShdw blurRad="80000" dist="30000" dir="5400000" rotWithShape="0">
              <a:srgbClr val="17244A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2648" y="2468880"/>
            <a:ext cx="3803904" cy="45720"/>
          </a:xfrm>
          <a:prstGeom prst="rect">
            <a:avLst/>
          </a:prstGeom>
          <a:solidFill>
            <a:srgbClr val="00B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76656" y="2642616"/>
            <a:ext cx="475488" cy="475488"/>
          </a:xfrm>
          <a:prstGeom prst="ellipse">
            <a:avLst/>
          </a:prstGeom>
          <a:gradFill>
            <a:gsLst>
              <a:gs pos="0">
                <a:srgbClr val="00B5E3"/>
              </a:gs>
              <a:gs pos="100000">
                <a:srgbClr val="5A1BDF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w-30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773" y="2756733"/>
            <a:ext cx="247253" cy="247253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252728" y="2596896"/>
            <a:ext cx="320040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A1A3D"/>
                </a:solidFill>
                <a:latin typeface="微软雅黑"/>
                <a:ea typeface="微软雅黑"/>
                <a:cs typeface="微软雅黑"/>
              </a:rPr>
              <a:t>2024 德国红点奖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52728" y="2962656"/>
            <a:ext cx="3154680" cy="4114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JOMEC 申报;iX-2024 两度赴德独立展示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" y="3364992"/>
            <a:ext cx="365760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00B5E3"/>
                </a:solidFill>
                <a:latin typeface="Arial"/>
                <a:ea typeface="Arial"/>
                <a:cs typeface="Arial"/>
              </a:rPr>
              <a:t>▸ </a:t>
            </a:r>
            <a:r>
              <a:rPr sz="900" b="1" i="0">
                <a:solidFill>
                  <a:srgbClr val="00B5E3"/>
                </a:solidFill>
                <a:latin typeface="微软雅黑"/>
                <a:ea typeface="微软雅黑"/>
                <a:cs typeface="微软雅黑"/>
              </a:rPr>
              <a:t>行业级设计认可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617720" y="2468880"/>
            <a:ext cx="4023360" cy="12070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3"/>
            </a:solidFill>
          </a:ln>
          <a:effectLst>
            <a:outerShdw blurRad="80000" dist="30000" dir="5400000" rotWithShape="0">
              <a:srgbClr val="17244A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727448" y="2468880"/>
            <a:ext cx="3803904" cy="45720"/>
          </a:xfrm>
          <a:prstGeom prst="rect">
            <a:avLst/>
          </a:prstGeom>
          <a:solidFill>
            <a:srgbClr val="5A1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791456" y="2642616"/>
            <a:ext cx="475488" cy="475488"/>
          </a:xfrm>
          <a:prstGeom prst="ellipse">
            <a:avLst/>
          </a:prstGeom>
          <a:gradFill>
            <a:gsLst>
              <a:gs pos="0">
                <a:srgbClr val="5A1BDF"/>
              </a:gs>
              <a:gs pos="100000">
                <a:srgbClr val="5A1BDF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w-19-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5573" y="2756733"/>
            <a:ext cx="247253" cy="247253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5367528" y="2596896"/>
            <a:ext cx="320040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A1A3D"/>
                </a:solidFill>
                <a:latin typeface="微软雅黑"/>
                <a:ea typeface="微软雅黑"/>
                <a:cs typeface="微软雅黑"/>
              </a:rPr>
              <a:t>百度 Apollo 无人车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67528" y="2962656"/>
            <a:ext cx="3154680" cy="4114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底盘/造型/工程/硬件/HMI/样车制作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800600" y="3364992"/>
            <a:ext cx="365760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5A1BDF"/>
                </a:solidFill>
                <a:latin typeface="Arial"/>
                <a:ea typeface="Arial"/>
                <a:cs typeface="Arial"/>
              </a:rPr>
              <a:t>▸ </a:t>
            </a:r>
            <a:r>
              <a:rPr sz="900" b="1" i="0">
                <a:solidFill>
                  <a:srgbClr val="5A1BDF"/>
                </a:solidFill>
                <a:latin typeface="微软雅黑"/>
                <a:ea typeface="微软雅黑"/>
                <a:cs typeface="微软雅黑"/>
              </a:rPr>
              <a:t>入藏北京汽车博物馆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02920" y="3986784"/>
            <a:ext cx="8138160" cy="585216"/>
          </a:xfrm>
          <a:prstGeom prst="roundRect">
            <a:avLst>
              <a:gd name="adj" fmla="val 12000"/>
            </a:avLst>
          </a:prstGeom>
          <a:gradFill>
            <a:gsLst>
              <a:gs pos="0">
                <a:srgbClr val="0A1A3D"/>
              </a:gs>
              <a:gs pos="100000">
                <a:srgbClr val="291C5E"/>
              </a:gs>
            </a:gsLst>
            <a:lin ang="0" scaled="1"/>
          </a:gradFill>
          <a:ln>
            <a:noFill/>
          </a:ln>
          <a:effectLst>
            <a:outerShdw blurRad="80000" dist="30000" dir="5400000" rotWithShape="0">
              <a:srgbClr val="17244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2920" y="4114800"/>
            <a:ext cx="54864" cy="329184"/>
          </a:xfrm>
          <a:prstGeom prst="rect">
            <a:avLst/>
          </a:prstGeom>
          <a:solidFill>
            <a:srgbClr val="00B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95528" y="3986784"/>
            <a:ext cx="7589520" cy="58521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「 我们让一家 Tier 1,带着创新走进了宝马的门。 」</a:t>
            </a:r>
            <a:r>
              <a:rPr sz="1100" b="0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  这是 PPT 讲不出来的说服力。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02920" y="4846320"/>
            <a:ext cx="8138160" cy="10972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22960" y="4873752"/>
            <a:ext cx="6400800" cy="21945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6A7896"/>
                </a:solidFill>
                <a:latin typeface="微软雅黑"/>
                <a:ea typeface="微软雅黑"/>
                <a:cs typeface="微软雅黑"/>
              </a:rPr>
              <a:t>卓迈 JOMEC</a:t>
            </a:r>
            <a:r>
              <a:rPr sz="800" b="0" i="0">
                <a:solidFill>
                  <a:srgbClr val="959FB5"/>
                </a:solidFill>
                <a:latin typeface="微软雅黑"/>
                <a:ea typeface="微软雅黑"/>
                <a:cs typeface="微软雅黑"/>
              </a:rPr>
              <a:t>  ·  NICE 智能座舱体验舱 · 把硬件优势变成体验话语权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55279" y="4873752"/>
            <a:ext cx="685800" cy="21945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6A7896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gradFill>
            <a:gsLst>
              <a:gs pos="0">
                <a:srgbClr val="0A1A3D"/>
              </a:gs>
              <a:gs pos="100000">
                <a:srgbClr val="1B448E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841248" cy="841248"/>
          </a:xfrm>
          <a:prstGeom prst="rect">
            <a:avLst/>
          </a:prstGeom>
          <a:solidFill>
            <a:srgbClr val="0A1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0"/>
            <a:ext cx="41148" cy="841248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841248" cy="8412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146304"/>
            <a:ext cx="6766560" cy="4114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重点案例:JoySpace+ 与 船舶智慧驾驶舱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48640"/>
            <a:ext cx="6766560" cy="2286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8FB2F0"/>
                </a:solidFill>
                <a:latin typeface="Arial"/>
                <a:ea typeface="Arial"/>
                <a:cs typeface="Arial"/>
              </a:rPr>
              <a:t>FLAGSHIP CASES</a:t>
            </a:r>
          </a:p>
        </p:txBody>
      </p:sp>
      <p:sp>
        <p:nvSpPr>
          <p:cNvPr id="9" name="Oval 8"/>
          <p:cNvSpPr/>
          <p:nvPr/>
        </p:nvSpPr>
        <p:spPr>
          <a:xfrm>
            <a:off x="7818120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64424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110728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57032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03336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49640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818120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964424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110728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57032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03336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49640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818120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964424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110728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57032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403336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549640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836676"/>
            <a:ext cx="9144000" cy="27432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02920" y="1097280"/>
            <a:ext cx="402336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3"/>
            </a:solidFill>
          </a:ln>
          <a:effectLst>
            <a:outerShdw blurRad="80000" dist="30000" dir="5400000" rotWithShape="0">
              <a:srgbClr val="17244A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2648" y="1097280"/>
            <a:ext cx="3803904" cy="45720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jo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07008"/>
            <a:ext cx="3749039" cy="1325880"/>
          </a:xfrm>
          <a:prstGeom prst="rect">
            <a:avLst/>
          </a:prstGeom>
          <a:effectLst>
            <a:outerShdw blurRad="80000" dist="30000" dir="5400000" rotWithShape="0">
              <a:srgbClr val="17244A">
                <a:alpha val="80000"/>
              </a:srgbClr>
            </a:outerShdw>
          </a:effectLst>
        </p:spPr>
      </p:pic>
      <p:sp>
        <p:nvSpPr>
          <p:cNvPr id="31" name="TextBox 30"/>
          <p:cNvSpPr txBox="1"/>
          <p:nvPr/>
        </p:nvSpPr>
        <p:spPr>
          <a:xfrm>
            <a:off x="731520" y="2615184"/>
            <a:ext cx="3657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A1A3D"/>
                </a:solidFill>
                <a:latin typeface="微软雅黑"/>
                <a:ea typeface="微软雅黑"/>
                <a:cs typeface="微软雅黑"/>
              </a:rPr>
              <a:t>JoySpace+ × 均胜电子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3017520"/>
            <a:ext cx="91440" cy="91440"/>
          </a:xfrm>
          <a:prstGeom prst="rect">
            <a:avLst/>
          </a:prstGeom>
          <a:solidFill>
            <a:srgbClr val="00B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2980944"/>
            <a:ext cx="352044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沉浸式智能座舱·头部Tier1共创范式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3310127"/>
            <a:ext cx="91440" cy="91440"/>
          </a:xfrm>
          <a:prstGeom prst="rect">
            <a:avLst/>
          </a:prstGeom>
          <a:solidFill>
            <a:srgbClr val="00B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3273551"/>
            <a:ext cx="352044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赛博机能美学·天空之镜水晶极光·AI智慧体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3602736"/>
            <a:ext cx="91440" cy="91440"/>
          </a:xfrm>
          <a:prstGeom prst="rect">
            <a:avLst/>
          </a:prstGeom>
          <a:solidFill>
            <a:srgbClr val="00B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3566160"/>
            <a:ext cx="352044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折叠方向盘·电子后视镜·星空顶篷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617720" y="1097280"/>
            <a:ext cx="402336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3"/>
            </a:solidFill>
          </a:ln>
          <a:effectLst>
            <a:outerShdw blurRad="80000" dist="30000" dir="5400000" rotWithShape="0">
              <a:srgbClr val="17244A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727448" y="1097280"/>
            <a:ext cx="3803904" cy="45720"/>
          </a:xfrm>
          <a:prstGeom prst="rect">
            <a:avLst/>
          </a:prstGeom>
          <a:solidFill>
            <a:srgbClr val="00B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ship_cro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207008"/>
            <a:ext cx="3749039" cy="1371600"/>
          </a:xfrm>
          <a:prstGeom prst="rect">
            <a:avLst/>
          </a:prstGeom>
          <a:effectLst>
            <a:outerShdw blurRad="80000" dist="30000" dir="5400000" rotWithShape="0">
              <a:srgbClr val="17244A">
                <a:alpha val="80000"/>
              </a:srgbClr>
            </a:outerShdw>
          </a:effectLst>
        </p:spPr>
      </p:pic>
      <p:sp>
        <p:nvSpPr>
          <p:cNvPr id="41" name="TextBox 40"/>
          <p:cNvSpPr txBox="1"/>
          <p:nvPr/>
        </p:nvSpPr>
        <p:spPr>
          <a:xfrm>
            <a:off x="4846320" y="2670048"/>
            <a:ext cx="3657600" cy="3200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A1A3D"/>
                </a:solidFill>
                <a:latin typeface="微软雅黑"/>
                <a:ea typeface="微软雅黑"/>
                <a:cs typeface="微软雅黑"/>
              </a:rPr>
              <a:t>船舶智慧驾驶舱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846320" y="3072384"/>
            <a:ext cx="91440" cy="91440"/>
          </a:xfrm>
          <a:prstGeom prst="rect">
            <a:avLst/>
          </a:prstGeom>
          <a:solidFill>
            <a:srgbClr val="C8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0" y="3035808"/>
            <a:ext cx="352044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七屏中枢+数字孪生·180°旋转座椅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846320" y="3364991"/>
            <a:ext cx="91440" cy="91440"/>
          </a:xfrm>
          <a:prstGeom prst="rect">
            <a:avLst/>
          </a:prstGeom>
          <a:solidFill>
            <a:srgbClr val="C8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0" y="3328415"/>
            <a:ext cx="352044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人脸/手势/无感健康监测/AI语音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46320" y="3657600"/>
            <a:ext cx="91440" cy="91440"/>
          </a:xfrm>
          <a:prstGeom prst="rect">
            <a:avLst/>
          </a:prstGeom>
          <a:solidFill>
            <a:srgbClr val="C8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0" y="3621024"/>
            <a:ext cx="352044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滑动方向舵·智慧海图桌·自适应氛围灯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02920" y="3986784"/>
            <a:ext cx="8138160" cy="585216"/>
          </a:xfrm>
          <a:prstGeom prst="roundRect">
            <a:avLst>
              <a:gd name="adj" fmla="val 12000"/>
            </a:avLst>
          </a:prstGeom>
          <a:gradFill>
            <a:gsLst>
              <a:gs pos="0">
                <a:srgbClr val="0A1A3D"/>
              </a:gs>
              <a:gs pos="100000">
                <a:srgbClr val="291C5E"/>
              </a:gs>
            </a:gsLst>
            <a:lin ang="0" scaled="1"/>
          </a:gradFill>
          <a:ln>
            <a:noFill/>
          </a:ln>
          <a:effectLst>
            <a:outerShdw blurRad="80000" dist="30000" dir="5400000" rotWithShape="0">
              <a:srgbClr val="17244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" y="4114800"/>
            <a:ext cx="54864" cy="329184"/>
          </a:xfrm>
          <a:prstGeom prst="rect">
            <a:avLst/>
          </a:prstGeom>
          <a:solidFill>
            <a:srgbClr val="00B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95528" y="3986784"/>
            <a:ext cx="7589520" cy="58521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从汽车到船舶,同一套造型+交互+软硬件+样机能力</a:t>
            </a:r>
            <a:r>
              <a:rPr sz="1100" b="0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  证明创新方法论可迁移。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2920" y="4846320"/>
            <a:ext cx="8138160" cy="10972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2960" y="4873752"/>
            <a:ext cx="6400800" cy="21945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6A7896"/>
                </a:solidFill>
                <a:latin typeface="微软雅黑"/>
                <a:ea typeface="微软雅黑"/>
                <a:cs typeface="微软雅黑"/>
              </a:rPr>
              <a:t>卓迈 JOMEC</a:t>
            </a:r>
            <a:r>
              <a:rPr sz="800" b="0" i="0">
                <a:solidFill>
                  <a:srgbClr val="959FB5"/>
                </a:solidFill>
                <a:latin typeface="微软雅黑"/>
                <a:ea typeface="微软雅黑"/>
                <a:cs typeface="微软雅黑"/>
              </a:rPr>
              <a:t>  ·  NICE 智能座舱体验舱 · 把硬件优势变成体验话语权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55279" y="4873752"/>
            <a:ext cx="685800" cy="21945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6A7896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gradFill>
            <a:gsLst>
              <a:gs pos="0">
                <a:srgbClr val="0A1A3D"/>
              </a:gs>
              <a:gs pos="100000">
                <a:srgbClr val="1B448E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841248" cy="841248"/>
          </a:xfrm>
          <a:prstGeom prst="rect">
            <a:avLst/>
          </a:prstGeom>
          <a:solidFill>
            <a:srgbClr val="0A1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0"/>
            <a:ext cx="41148" cy="841248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841248" cy="8412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146304"/>
            <a:ext cx="6766560" cy="4114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战略合作伙伴生态,提升项目技术含量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48640"/>
            <a:ext cx="6766560" cy="2286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8FB2F0"/>
                </a:solidFill>
                <a:latin typeface="Arial"/>
                <a:ea typeface="Arial"/>
                <a:cs typeface="Arial"/>
              </a:rPr>
              <a:t>PARTNER ECOSYSTEM</a:t>
            </a:r>
          </a:p>
        </p:txBody>
      </p:sp>
      <p:sp>
        <p:nvSpPr>
          <p:cNvPr id="9" name="Oval 8"/>
          <p:cNvSpPr/>
          <p:nvPr/>
        </p:nvSpPr>
        <p:spPr>
          <a:xfrm>
            <a:off x="7818120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64424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110728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57032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03336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49640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818120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964424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110728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57032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03336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49640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818120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964424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110728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57032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403336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549640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836676"/>
            <a:ext cx="9144000" cy="27432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02920" y="1280160"/>
            <a:ext cx="1938528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3"/>
            </a:solidFill>
          </a:ln>
          <a:effectLst>
            <a:outerShdw blurRad="80000" dist="30000" dir="5400000" rotWithShape="0">
              <a:srgbClr val="17244A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2648" y="1280160"/>
            <a:ext cx="1719072" cy="45720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70432" y="1508760"/>
            <a:ext cx="603504" cy="603504"/>
          </a:xfrm>
          <a:prstGeom prst="ellipse">
            <a:avLst/>
          </a:prstGeom>
          <a:gradFill>
            <a:gsLst>
              <a:gs pos="0">
                <a:srgbClr val="246BFF"/>
              </a:gs>
              <a:gs pos="100000">
                <a:srgbClr val="5A1BDF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70432" y="1508760"/>
            <a:ext cx="603504" cy="60350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2286000"/>
            <a:ext cx="1755648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A1A3D"/>
                </a:solidFill>
                <a:latin typeface="微软雅黑"/>
                <a:ea typeface="微软雅黑"/>
                <a:cs typeface="微软雅黑"/>
              </a:rPr>
              <a:t>丰田通商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2651760"/>
            <a:ext cx="1755648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246BFF"/>
                </a:solidFill>
                <a:latin typeface="微软雅黑"/>
                <a:ea typeface="微软雅黑"/>
                <a:cs typeface="微软雅黑"/>
              </a:rPr>
              <a:t>世界 500 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" y="2944368"/>
            <a:ext cx="1719072" cy="5029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新技术新材料及开发支持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587752" y="1280160"/>
            <a:ext cx="1938528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3"/>
            </a:solidFill>
          </a:ln>
          <a:effectLst>
            <a:outerShdw blurRad="80000" dist="30000" dir="5400000" rotWithShape="0">
              <a:srgbClr val="17244A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697480" y="1280160"/>
            <a:ext cx="1719072" cy="45720"/>
          </a:xfrm>
          <a:prstGeom prst="rect">
            <a:avLst/>
          </a:prstGeom>
          <a:solidFill>
            <a:srgbClr val="00B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255264" y="1508760"/>
            <a:ext cx="603504" cy="603504"/>
          </a:xfrm>
          <a:prstGeom prst="ellipse">
            <a:avLst/>
          </a:prstGeom>
          <a:gradFill>
            <a:gsLst>
              <a:gs pos="0">
                <a:srgbClr val="00B5E3"/>
              </a:gs>
              <a:gs pos="100000">
                <a:srgbClr val="5A1BDF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55264" y="1508760"/>
            <a:ext cx="603504" cy="60350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79192" y="2286000"/>
            <a:ext cx="1755648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A1A3D"/>
                </a:solidFill>
                <a:latin typeface="微软雅黑"/>
                <a:ea typeface="微软雅黑"/>
                <a:cs typeface="微软雅黑"/>
              </a:rPr>
              <a:t>CP-VELA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79192" y="2651760"/>
            <a:ext cx="1755648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00B5E3"/>
                </a:solidFill>
                <a:latin typeface="微软雅黑"/>
                <a:ea typeface="微软雅黑"/>
                <a:cs typeface="微软雅黑"/>
              </a:rPr>
              <a:t>国际气联认证工程服务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97480" y="2944368"/>
            <a:ext cx="1719072" cy="5029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新技术新材料开发支持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672584" y="1280160"/>
            <a:ext cx="1938528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3"/>
            </a:solidFill>
          </a:ln>
          <a:effectLst>
            <a:outerShdw blurRad="80000" dist="30000" dir="5400000" rotWithShape="0">
              <a:srgbClr val="17244A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782312" y="1280160"/>
            <a:ext cx="1719072" cy="45720"/>
          </a:xfrm>
          <a:prstGeom prst="rect">
            <a:avLst/>
          </a:prstGeom>
          <a:solidFill>
            <a:srgbClr val="5A1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340096" y="1508760"/>
            <a:ext cx="603504" cy="603504"/>
          </a:xfrm>
          <a:prstGeom prst="ellipse">
            <a:avLst/>
          </a:prstGeom>
          <a:gradFill>
            <a:gsLst>
              <a:gs pos="0">
                <a:srgbClr val="5A1BDF"/>
              </a:gs>
              <a:gs pos="100000">
                <a:srgbClr val="5A1BDF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40096" y="1508760"/>
            <a:ext cx="603504" cy="60350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百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64024" y="2286000"/>
            <a:ext cx="1755648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A1A3D"/>
                </a:solidFill>
                <a:latin typeface="微软雅黑"/>
                <a:ea typeface="微软雅黑"/>
                <a:cs typeface="微软雅黑"/>
              </a:rPr>
              <a:t>百度 Apollo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64024" y="2651760"/>
            <a:ext cx="1755648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5A1BDF"/>
                </a:solidFill>
                <a:latin typeface="微软雅黑"/>
                <a:ea typeface="微软雅黑"/>
                <a:cs typeface="微软雅黑"/>
              </a:rPr>
              <a:t>生态合作(燎原计划)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82312" y="2944368"/>
            <a:ext cx="1719072" cy="5029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已达成生态合作伙伴关系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757416" y="1280160"/>
            <a:ext cx="1938528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3"/>
            </a:solidFill>
          </a:ln>
          <a:effectLst>
            <a:outerShdw blurRad="80000" dist="30000" dir="5400000" rotWithShape="0">
              <a:srgbClr val="17244A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67144" y="1280160"/>
            <a:ext cx="1719072" cy="45720"/>
          </a:xfrm>
          <a:prstGeom prst="rect">
            <a:avLst/>
          </a:prstGeom>
          <a:solidFill>
            <a:srgbClr val="7D3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424927" y="1508760"/>
            <a:ext cx="603504" cy="603504"/>
          </a:xfrm>
          <a:prstGeom prst="ellipse">
            <a:avLst/>
          </a:prstGeom>
          <a:gradFill>
            <a:gsLst>
              <a:gs pos="0">
                <a:srgbClr val="7D3CFF"/>
              </a:gs>
              <a:gs pos="100000">
                <a:srgbClr val="5A1BDF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424927" y="1508760"/>
            <a:ext cx="603504" cy="60350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科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48855" y="2286000"/>
            <a:ext cx="1755648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A1A3D"/>
                </a:solidFill>
                <a:latin typeface="微软雅黑"/>
                <a:ea typeface="微软雅黑"/>
                <a:cs typeface="微软雅黑"/>
              </a:rPr>
              <a:t>科思创 Covestro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48855" y="2651760"/>
            <a:ext cx="1755648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7D3CFF"/>
                </a:solidFill>
                <a:latin typeface="微软雅黑"/>
                <a:ea typeface="微软雅黑"/>
                <a:cs typeface="微软雅黑"/>
              </a:rPr>
              <a:t>全球领先聚合物供应商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67144" y="2944368"/>
            <a:ext cx="1719072" cy="5029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聚氨酯蜂窝/红外透波PC材料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02920" y="3986784"/>
            <a:ext cx="8138160" cy="585216"/>
          </a:xfrm>
          <a:prstGeom prst="roundRect">
            <a:avLst>
              <a:gd name="adj" fmla="val 12000"/>
            </a:avLst>
          </a:prstGeom>
          <a:gradFill>
            <a:gsLst>
              <a:gs pos="0">
                <a:srgbClr val="0A1A3D"/>
              </a:gs>
              <a:gs pos="100000">
                <a:srgbClr val="291C5E"/>
              </a:gs>
            </a:gsLst>
            <a:lin ang="0" scaled="1"/>
          </a:gradFill>
          <a:ln>
            <a:noFill/>
          </a:ln>
          <a:effectLst>
            <a:outerShdw blurRad="80000" dist="30000" dir="5400000" rotWithShape="0">
              <a:srgbClr val="17244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2920" y="4114800"/>
            <a:ext cx="54864" cy="329184"/>
          </a:xfrm>
          <a:prstGeom prst="rect">
            <a:avLst/>
          </a:prstGeom>
          <a:solidFill>
            <a:srgbClr val="00B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95528" y="3986784"/>
            <a:ext cx="7589520" cy="58521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生态合作不是背书装点</a:t>
            </a:r>
            <a:r>
              <a:rPr sz="1100" b="0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  而是把新材料、新技术真正带进华翔的项目。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02920" y="4846320"/>
            <a:ext cx="8138160" cy="10972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22960" y="4873752"/>
            <a:ext cx="6400800" cy="21945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6A7896"/>
                </a:solidFill>
                <a:latin typeface="微软雅黑"/>
                <a:ea typeface="微软雅黑"/>
                <a:cs typeface="微软雅黑"/>
              </a:rPr>
              <a:t>卓迈 JOMEC</a:t>
            </a:r>
            <a:r>
              <a:rPr sz="800" b="0" i="0">
                <a:solidFill>
                  <a:srgbClr val="959FB5"/>
                </a:solidFill>
                <a:latin typeface="微软雅黑"/>
                <a:ea typeface="微软雅黑"/>
                <a:cs typeface="微软雅黑"/>
              </a:rPr>
              <a:t>  ·  NICE 智能座舱体验舱 · 把硬件优势变成体验话语权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55279" y="4873752"/>
            <a:ext cx="685800" cy="21945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6A7896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0B1024"/>
              </a:gs>
              <a:gs pos="100000">
                <a:srgbClr val="16123A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760720" y="-457200"/>
            <a:ext cx="4114800" cy="4114800"/>
          </a:xfrm>
          <a:prstGeom prst="ellipse">
            <a:avLst/>
          </a:prstGeom>
          <a:noFill/>
          <a:ln w="12700">
            <a:solidFill>
              <a:srgbClr val="24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949440" y="1280160"/>
            <a:ext cx="3291840" cy="3291840"/>
          </a:xfrm>
          <a:prstGeom prst="ellipse">
            <a:avLst/>
          </a:prstGeom>
          <a:noFill/>
          <a:ln w="12700">
            <a:solidFill>
              <a:srgbClr val="5A1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736592"/>
            <a:ext cx="9144000" cy="10972"/>
          </a:xfrm>
          <a:prstGeom prst="rect">
            <a:avLst/>
          </a:prstGeom>
          <a:solidFill>
            <a:srgbClr val="24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0" y="0"/>
            <a:ext cx="10972" cy="5143500"/>
          </a:xfrm>
          <a:prstGeom prst="rect">
            <a:avLst/>
          </a:prstGeom>
          <a:solidFill>
            <a:srgbClr val="162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36208" y="0"/>
            <a:ext cx="10972" cy="5143500"/>
          </a:xfrm>
          <a:prstGeom prst="rect">
            <a:avLst/>
          </a:prstGeom>
          <a:solidFill>
            <a:srgbClr val="162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03136" y="0"/>
            <a:ext cx="10972" cy="5143500"/>
          </a:xfrm>
          <a:prstGeom prst="rect">
            <a:avLst/>
          </a:prstGeom>
          <a:solidFill>
            <a:srgbClr val="162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70064" y="0"/>
            <a:ext cx="10972" cy="5143500"/>
          </a:xfrm>
          <a:prstGeom prst="rect">
            <a:avLst/>
          </a:prstGeom>
          <a:solidFill>
            <a:srgbClr val="162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36992" y="0"/>
            <a:ext cx="10972" cy="5143500"/>
          </a:xfrm>
          <a:prstGeom prst="rect">
            <a:avLst/>
          </a:prstGeom>
          <a:solidFill>
            <a:srgbClr val="162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03920" y="0"/>
            <a:ext cx="10972" cy="5143500"/>
          </a:xfrm>
          <a:prstGeom prst="rect">
            <a:avLst/>
          </a:prstGeom>
          <a:solidFill>
            <a:srgbClr val="162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0" y="274320"/>
            <a:ext cx="3657600" cy="32918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0" b="1" i="0">
                <a:solidFill>
                  <a:srgbClr val="16244E"/>
                </a:solidFill>
                <a:latin typeface="Arial Black"/>
                <a:ea typeface="Arial Black"/>
                <a:cs typeface="Arial Black"/>
              </a:rPr>
              <a:t>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777240"/>
            <a:ext cx="274320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7D3CFF"/>
                </a:solidFill>
                <a:latin typeface="Arial"/>
                <a:ea typeface="Arial"/>
                <a:cs typeface="Arial"/>
              </a:rPr>
              <a:t>PART 06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463040"/>
            <a:ext cx="73152" cy="1371600"/>
          </a:xfrm>
          <a:prstGeom prst="rect">
            <a:avLst/>
          </a:prstGeom>
          <a:solidFill>
            <a:srgbClr val="7D3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1371600"/>
            <a:ext cx="731520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0B5E3"/>
                </a:solidFill>
                <a:latin typeface="Arial"/>
                <a:ea typeface="Arial"/>
                <a:cs typeface="Arial"/>
              </a:rPr>
              <a:t>YOUR FUTURE &amp; NEXT STEP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1783080"/>
            <a:ext cx="7680960" cy="8229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你将得到什么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2971800"/>
            <a:ext cx="6949440" cy="914400"/>
          </a:xfrm>
          <a:prstGeom prst="roundRect">
            <a:avLst>
              <a:gd name="adj" fmla="val 8000"/>
            </a:avLst>
          </a:prstGeom>
          <a:solidFill>
            <a:srgbClr val="10224A"/>
          </a:solidFill>
          <a:ln w="9525">
            <a:solidFill>
              <a:srgbClr val="2B3A66"/>
            </a:solidFill>
          </a:ln>
          <a:effectLst>
            <a:outerShdw blurRad="80000" dist="30000" dir="5400000" rotWithShape="0">
              <a:srgbClr val="17244A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8680" y="3044952"/>
            <a:ext cx="54864" cy="768096"/>
          </a:xfrm>
          <a:prstGeom prst="rect">
            <a:avLst/>
          </a:prstGeom>
          <a:solidFill>
            <a:srgbClr val="00B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568" y="2971800"/>
            <a:ext cx="6583680" cy="9144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12 个月后,华翔将不再是被动接收主机厂创新需求的硬件供应商,而是带着一台经得起拷问的样机、主导评审现场体验话题的创新合作方。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gradFill>
            <a:gsLst>
              <a:gs pos="0">
                <a:srgbClr val="0A1A3D"/>
              </a:gs>
              <a:gs pos="100000">
                <a:srgbClr val="1B448E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841248" cy="841248"/>
          </a:xfrm>
          <a:prstGeom prst="rect">
            <a:avLst/>
          </a:prstGeom>
          <a:solidFill>
            <a:srgbClr val="0A1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0"/>
            <a:ext cx="41148" cy="841248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841248" cy="8412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146304"/>
            <a:ext cx="6766560" cy="4114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12 个月后的宁波华翔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48640"/>
            <a:ext cx="6766560" cy="2286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8FB2F0"/>
                </a:solidFill>
                <a:latin typeface="Arial"/>
                <a:ea typeface="Arial"/>
                <a:cs typeface="Arial"/>
              </a:rPr>
              <a:t>YOUR FUTURE STATE</a:t>
            </a:r>
          </a:p>
        </p:txBody>
      </p:sp>
      <p:sp>
        <p:nvSpPr>
          <p:cNvPr id="9" name="Oval 8"/>
          <p:cNvSpPr/>
          <p:nvPr/>
        </p:nvSpPr>
        <p:spPr>
          <a:xfrm>
            <a:off x="7818120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64424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110728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57032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03336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49640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818120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964424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110728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57032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03336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49640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818120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964424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110728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57032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403336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549640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836676"/>
            <a:ext cx="9144000" cy="27432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02920" y="1097280"/>
            <a:ext cx="402336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3"/>
            </a:solidFill>
          </a:ln>
          <a:effectLst>
            <a:outerShdw blurRad="80000" dist="30000" dir="5400000" rotWithShape="0">
              <a:srgbClr val="17244A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2648" y="1097280"/>
            <a:ext cx="3803904" cy="45720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1261872"/>
            <a:ext cx="365760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A1A3D"/>
                </a:solidFill>
                <a:latin typeface="微软雅黑"/>
                <a:ea typeface="微软雅黑"/>
                <a:cs typeface="微软雅黑"/>
              </a:rPr>
              <a:t>你将拿到的(可验收)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1737360"/>
            <a:ext cx="109728" cy="109728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1691640"/>
            <a:ext cx="347472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1 台全功能可交互样机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2148840"/>
            <a:ext cx="109728" cy="109728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2688" y="2103120"/>
            <a:ext cx="347472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造型数据 + 交互原型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2560320"/>
            <a:ext cx="109728" cy="109728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2688" y="2514600"/>
            <a:ext cx="347472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软硬件方案 + 运动机构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2971800"/>
            <a:ext cx="109728" cy="109728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" y="2926080"/>
            <a:ext cx="347472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台架联调报告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3383280"/>
            <a:ext cx="109728" cy="109728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2688" y="3337560"/>
            <a:ext cx="347472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可对外演示脚本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617720" y="1097280"/>
            <a:ext cx="4023360" cy="2743200"/>
          </a:xfrm>
          <a:prstGeom prst="roundRect">
            <a:avLst>
              <a:gd name="adj" fmla="val 5000"/>
            </a:avLst>
          </a:prstGeom>
          <a:solidFill>
            <a:srgbClr val="F5F8FD"/>
          </a:solidFill>
          <a:ln w="9525">
            <a:solidFill>
              <a:srgbClr val="E2E8F3"/>
            </a:solidFill>
          </a:ln>
          <a:effectLst>
            <a:outerShdw blurRad="50000" dist="16000" dir="5400000" rotWithShape="0">
              <a:srgbClr val="17244A">
                <a:alpha val="8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617720" y="1097280"/>
            <a:ext cx="45720" cy="2743200"/>
          </a:xfrm>
          <a:prstGeom prst="rect">
            <a:avLst/>
          </a:prstGeom>
          <a:solidFill>
            <a:srgbClr val="7D3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46320" y="1261872"/>
            <a:ext cx="365760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7D3CFF"/>
                </a:solidFill>
                <a:latin typeface="微软雅黑"/>
                <a:ea typeface="微软雅黑"/>
                <a:cs typeface="微软雅黑"/>
              </a:rPr>
              <a:t>竞争位置的转变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46320" y="1783080"/>
            <a:ext cx="365760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959FB5"/>
                </a:solidFill>
                <a:latin typeface="微软雅黑"/>
                <a:ea typeface="微软雅黑"/>
                <a:cs typeface="微软雅黑"/>
              </a:rPr>
              <a:t>从</a:t>
            </a:r>
            <a:r>
              <a:rPr sz="100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 被动接收体验需求的硬件供应商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46320" y="2423160"/>
            <a:ext cx="365760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D3CFF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46320" y="2788920"/>
            <a:ext cx="3657600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46BFF"/>
                </a:solidFill>
                <a:latin typeface="微软雅黑"/>
                <a:ea typeface="微软雅黑"/>
                <a:cs typeface="微软雅黑"/>
              </a:rPr>
              <a:t>到</a:t>
            </a:r>
            <a:r>
              <a:rPr sz="1000" b="1" i="0">
                <a:solidFill>
                  <a:srgbClr val="0A1A3D"/>
                </a:solidFill>
                <a:latin typeface="微软雅黑"/>
                <a:ea typeface="微软雅黑"/>
                <a:cs typeface="微软雅黑"/>
              </a:rPr>
              <a:t> 带着能动样机、主导评审现场体验话题的创新合作方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2920" y="3986784"/>
            <a:ext cx="8138160" cy="585216"/>
          </a:xfrm>
          <a:prstGeom prst="roundRect">
            <a:avLst>
              <a:gd name="adj" fmla="val 12000"/>
            </a:avLst>
          </a:prstGeom>
          <a:gradFill>
            <a:gsLst>
              <a:gs pos="0">
                <a:srgbClr val="0A1A3D"/>
              </a:gs>
              <a:gs pos="100000">
                <a:srgbClr val="291C5E"/>
              </a:gs>
            </a:gsLst>
            <a:lin ang="0" scaled="1"/>
          </a:gradFill>
          <a:ln>
            <a:noFill/>
          </a:ln>
          <a:effectLst>
            <a:outerShdw blurRad="80000" dist="30000" dir="5400000" rotWithShape="0">
              <a:srgbClr val="17244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" y="4114800"/>
            <a:ext cx="54864" cy="329184"/>
          </a:xfrm>
          <a:prstGeom prst="rect">
            <a:avLst/>
          </a:prstGeom>
          <a:solidFill>
            <a:srgbClr val="00B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95528" y="3986784"/>
            <a:ext cx="7589520" cy="58521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下一次主机厂问"你们能做体验创新吗"</a:t>
            </a:r>
            <a:r>
              <a:rPr sz="1100" b="0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  华翔的回答不是 PPT,是一台能让评委坐进去的样机。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" y="4846320"/>
            <a:ext cx="8138160" cy="10972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2960" y="4873752"/>
            <a:ext cx="6400800" cy="21945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6A7896"/>
                </a:solidFill>
                <a:latin typeface="微软雅黑"/>
                <a:ea typeface="微软雅黑"/>
                <a:cs typeface="微软雅黑"/>
              </a:rPr>
              <a:t>卓迈 JOMEC</a:t>
            </a:r>
            <a:r>
              <a:rPr sz="800" b="0" i="0">
                <a:solidFill>
                  <a:srgbClr val="959FB5"/>
                </a:solidFill>
                <a:latin typeface="微软雅黑"/>
                <a:ea typeface="微软雅黑"/>
                <a:cs typeface="微软雅黑"/>
              </a:rPr>
              <a:t>  ·  NICE 智能座舱体验舱 · 把硬件优势变成体验话语权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55279" y="4873752"/>
            <a:ext cx="685800" cy="21945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6A7896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gradFill>
            <a:gsLst>
              <a:gs pos="0">
                <a:srgbClr val="0A1A3D"/>
              </a:gs>
              <a:gs pos="100000">
                <a:srgbClr val="1B448E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841248" cy="841248"/>
          </a:xfrm>
          <a:prstGeom prst="rect">
            <a:avLst/>
          </a:prstGeom>
          <a:solidFill>
            <a:srgbClr val="0A1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0"/>
            <a:ext cx="41148" cy="841248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841248" cy="8412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146304"/>
            <a:ext cx="6766560" cy="4114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投资逻辑:一次定点的价值,远大于一台样机的投入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48640"/>
            <a:ext cx="6766560" cy="2286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8FB2F0"/>
                </a:solidFill>
                <a:latin typeface="Arial"/>
                <a:ea typeface="Arial"/>
                <a:cs typeface="Arial"/>
              </a:rPr>
              <a:t>VALUE, NOT COST</a:t>
            </a:r>
          </a:p>
        </p:txBody>
      </p:sp>
      <p:sp>
        <p:nvSpPr>
          <p:cNvPr id="9" name="Oval 8"/>
          <p:cNvSpPr/>
          <p:nvPr/>
        </p:nvSpPr>
        <p:spPr>
          <a:xfrm>
            <a:off x="7818120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64424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110728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57032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03336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49640" y="201168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818120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964424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110728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57032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03336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49640" y="356616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818120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964424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110728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57032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403336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549640" y="512064"/>
            <a:ext cx="41148" cy="41148"/>
          </a:xfrm>
          <a:prstGeom prst="ellipse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836676"/>
            <a:ext cx="9144000" cy="27432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02920" y="1188720"/>
            <a:ext cx="813816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3"/>
            </a:solidFill>
          </a:ln>
          <a:effectLst>
            <a:outerShdw blurRad="80000" dist="30000" dir="5400000" rotWithShape="0">
              <a:srgbClr val="17244A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2648" y="1188720"/>
            <a:ext cx="7918704" cy="45720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1188720"/>
            <a:ext cx="3017520" cy="7772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A1A3D"/>
                </a:solidFill>
                <a:latin typeface="微软雅黑"/>
                <a:ea typeface="微软雅黑"/>
                <a:cs typeface="微软雅黑"/>
              </a:rPr>
              <a:t>你买的不是设计工时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31920" y="1188720"/>
            <a:ext cx="4572000" cy="7772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而是 L3 全功能可交互样机 —— 不是 L1 造型舱,也不是 L2 视频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2103120"/>
            <a:ext cx="813816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3"/>
            </a:solidFill>
          </a:ln>
          <a:effectLst>
            <a:outerShdw blurRad="80000" dist="30000" dir="5400000" rotWithShape="0">
              <a:srgbClr val="17244A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2648" y="2103120"/>
            <a:ext cx="7918704" cy="45720"/>
          </a:xfrm>
          <a:prstGeom prst="rect">
            <a:avLst/>
          </a:prstGeom>
          <a:solidFill>
            <a:srgbClr val="00B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2103120"/>
            <a:ext cx="3017520" cy="7772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A1A3D"/>
                </a:solidFill>
                <a:latin typeface="微软雅黑"/>
                <a:ea typeface="微软雅黑"/>
                <a:cs typeface="微软雅黑"/>
              </a:rPr>
              <a:t>你买的不是一次性概念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31920" y="2103120"/>
            <a:ext cx="4572000" cy="7772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而是自有专利创新库 —— IP 干净、可复用、规避侵权风险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3017520"/>
            <a:ext cx="813816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3"/>
            </a:solidFill>
          </a:ln>
          <a:effectLst>
            <a:outerShdw blurRad="80000" dist="30000" dir="5400000" rotWithShape="0">
              <a:srgbClr val="17244A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2648" y="3017520"/>
            <a:ext cx="7918704" cy="45720"/>
          </a:xfrm>
          <a:prstGeom prst="rect">
            <a:avLst/>
          </a:prstGeom>
          <a:solidFill>
            <a:srgbClr val="7D3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3017520"/>
            <a:ext cx="3017520" cy="7772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A1A3D"/>
                </a:solidFill>
                <a:latin typeface="微软雅黑"/>
                <a:ea typeface="微软雅黑"/>
                <a:cs typeface="微软雅黑"/>
              </a:rPr>
              <a:t>你买的不是本土概念能力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31920" y="3017520"/>
            <a:ext cx="4572000" cy="7772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5B6782"/>
                </a:solidFill>
                <a:latin typeface="微软雅黑"/>
                <a:ea typeface="微软雅黑"/>
                <a:cs typeface="微软雅黑"/>
              </a:rPr>
              <a:t>而是德系量产级标准 + 中国速度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3986784"/>
            <a:ext cx="8138160" cy="585216"/>
          </a:xfrm>
          <a:prstGeom prst="roundRect">
            <a:avLst>
              <a:gd name="adj" fmla="val 12000"/>
            </a:avLst>
          </a:prstGeom>
          <a:gradFill>
            <a:gsLst>
              <a:gs pos="0">
                <a:srgbClr val="0A1A3D"/>
              </a:gs>
              <a:gs pos="100000">
                <a:srgbClr val="291C5E"/>
              </a:gs>
            </a:gsLst>
            <a:lin ang="0" scaled="1"/>
          </a:gradFill>
          <a:ln>
            <a:noFill/>
          </a:ln>
          <a:effectLst>
            <a:outerShdw blurRad="80000" dist="30000" dir="5400000" rotWithShape="0">
              <a:srgbClr val="17244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02920" y="4114800"/>
            <a:ext cx="54864" cy="329184"/>
          </a:xfrm>
          <a:prstGeom prst="rect">
            <a:avLst/>
          </a:prstGeom>
          <a:solidFill>
            <a:srgbClr val="00B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5528" y="3986784"/>
            <a:ext cx="7589520" cy="58521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用一台样机的成本,守住或赢得一次主机厂定点的机会</a:t>
            </a:r>
            <a:r>
              <a:rPr sz="1100" b="0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  把投入放回它真正的语境。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4846320"/>
            <a:ext cx="8138160" cy="10972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" y="4873752"/>
            <a:ext cx="6400800" cy="21945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6A7896"/>
                </a:solidFill>
                <a:latin typeface="微软雅黑"/>
                <a:ea typeface="微软雅黑"/>
                <a:cs typeface="微软雅黑"/>
              </a:rPr>
              <a:t>卓迈 JOMEC</a:t>
            </a:r>
            <a:r>
              <a:rPr sz="800" b="0" i="0">
                <a:solidFill>
                  <a:srgbClr val="959FB5"/>
                </a:solidFill>
                <a:latin typeface="微软雅黑"/>
                <a:ea typeface="微软雅黑"/>
                <a:cs typeface="微软雅黑"/>
              </a:rPr>
              <a:t>  ·  NICE 智能座舱体验舱 · 把硬件优势变成体验话语权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55279" y="4873752"/>
            <a:ext cx="685800" cy="21945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6A7896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071433"/>
              </a:gs>
              <a:gs pos="100000">
                <a:srgbClr val="1A1240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760720" y="-457200"/>
            <a:ext cx="4114800" cy="4114800"/>
          </a:xfrm>
          <a:prstGeom prst="ellipse">
            <a:avLst/>
          </a:prstGeom>
          <a:noFill/>
          <a:ln w="12700">
            <a:solidFill>
              <a:srgbClr val="24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949440" y="1280160"/>
            <a:ext cx="3291840" cy="3291840"/>
          </a:xfrm>
          <a:prstGeom prst="ellipse">
            <a:avLst/>
          </a:prstGeom>
          <a:noFill/>
          <a:ln w="12700">
            <a:solidFill>
              <a:srgbClr val="5A1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736592"/>
            <a:ext cx="9144000" cy="10972"/>
          </a:xfrm>
          <a:prstGeom prst="rect">
            <a:avLst/>
          </a:prstGeom>
          <a:solidFill>
            <a:srgbClr val="24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0" y="0"/>
            <a:ext cx="10972" cy="5143500"/>
          </a:xfrm>
          <a:prstGeom prst="rect">
            <a:avLst/>
          </a:prstGeom>
          <a:solidFill>
            <a:srgbClr val="162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36208" y="0"/>
            <a:ext cx="10972" cy="5143500"/>
          </a:xfrm>
          <a:prstGeom prst="rect">
            <a:avLst/>
          </a:prstGeom>
          <a:solidFill>
            <a:srgbClr val="162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03136" y="0"/>
            <a:ext cx="10972" cy="5143500"/>
          </a:xfrm>
          <a:prstGeom prst="rect">
            <a:avLst/>
          </a:prstGeom>
          <a:solidFill>
            <a:srgbClr val="162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70064" y="0"/>
            <a:ext cx="10972" cy="5143500"/>
          </a:xfrm>
          <a:prstGeom prst="rect">
            <a:avLst/>
          </a:prstGeom>
          <a:solidFill>
            <a:srgbClr val="162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36992" y="0"/>
            <a:ext cx="10972" cy="5143500"/>
          </a:xfrm>
          <a:prstGeom prst="rect">
            <a:avLst/>
          </a:prstGeom>
          <a:solidFill>
            <a:srgbClr val="162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03920" y="0"/>
            <a:ext cx="10972" cy="5143500"/>
          </a:xfrm>
          <a:prstGeom prst="rect">
            <a:avLst/>
          </a:prstGeom>
          <a:solidFill>
            <a:srgbClr val="162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5061204"/>
            <a:ext cx="9144000" cy="82296"/>
          </a:xfrm>
          <a:prstGeom prst="rect">
            <a:avLst/>
          </a:prstGeom>
          <a:solidFill>
            <a:srgbClr val="7D3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0B5E3"/>
                </a:solidFill>
                <a:latin typeface="Arial"/>
                <a:ea typeface="Arial"/>
                <a:cs typeface="Arial"/>
              </a:rPr>
              <a:t>NEXT STEP · 下一步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1371600"/>
            <a:ext cx="7863840" cy="8229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先来一场 60 分钟的现场样机演示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377440"/>
            <a:ext cx="7863840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不必先谈定点。让华翔团队亲眼看一台 L3 全功能可交互样机能做什么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—— 这是最轻的一步,也是最有说服力的一步。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246120"/>
            <a:ext cx="7863840" cy="960120"/>
          </a:xfrm>
          <a:prstGeom prst="roundRect">
            <a:avLst>
              <a:gd name="adj" fmla="val 8000"/>
            </a:avLst>
          </a:prstGeom>
          <a:solidFill>
            <a:srgbClr val="10224A"/>
          </a:solidFill>
          <a:ln w="9525">
            <a:solidFill>
              <a:srgbClr val="2B3A66"/>
            </a:solidFill>
          </a:ln>
          <a:effectLst>
            <a:outerShdw blurRad="80000" dist="30000" dir="5400000" rotWithShape="0">
              <a:srgbClr val="17244A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319272"/>
            <a:ext cx="54864" cy="822960"/>
          </a:xfrm>
          <a:prstGeom prst="rect">
            <a:avLst/>
          </a:prstGeom>
          <a:solidFill>
            <a:srgbClr val="00B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3364992"/>
            <a:ext cx="7406640" cy="3200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0B5E3"/>
                </a:solidFill>
                <a:latin typeface="微软雅黑"/>
                <a:ea typeface="微软雅黑"/>
                <a:cs typeface="微软雅黑"/>
              </a:rPr>
              <a:t>联系我们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3703320"/>
            <a:ext cx="740664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严 艇 Tim  17740838008 ｜ tim@jomecdesign.com      李成龙 Jason  15000763365 ｜ jason@jomecdesign.com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3977639"/>
            <a:ext cx="740664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上海卓迈汽车技术有限公司 ｜ www.jomec-auto.com ｜ JOMEC · SHAPING THE FUTURE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
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71433"/>
              </a:gs>
              <a:gs pos="100000">
                <a:srgbClr val="1A124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987552"/>
            <a:ext cx="73152" cy="45720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960120"/>
            <a:ext cx="7315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JOMEC ｜ 卓迈   ·   智能座舱创新 DEMO 样机解决方案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554480"/>
            <a:ext cx="8046720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把硬件优势,变成主机厂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面前的 </a:t>
            </a:r>
            <a:r>
              <a:rPr sz="33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体验话语权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10128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 · 整包样机方案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840480"/>
            <a:ext cx="2377440" cy="22860"/>
          </a:xfrm>
          <a:prstGeom prst="rect">
            <a:avLst/>
          </a:prstGeom>
          <a:solidFill>
            <a:srgbClr val="354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呈送:宁波华翔</a:t>
            </a:r>
            <a:r>
              <a:rPr sz="11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    面向头部零部件企业(Tier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98848"/>
            <a:ext cx="804672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上海卓迈 JOMEC   |   2026.06   |   机密·仅限指定收件方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目录:六段旅程,一条完整说服链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CONTENTS · THE WINNING PATH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9807" y="1261872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4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48" y="1406712"/>
            <a:ext cx="313822" cy="31382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90472" y="124358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01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0472" y="164591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主机厂要求抬升 · L1→L4 能力阶梯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64607" y="1261872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246B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w-2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448" y="1406712"/>
            <a:ext cx="313822" cy="31382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05272" y="124358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02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5272" y="164591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一站式责任主体 · 德系×中国速度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" y="219456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9807" y="2359152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-8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48" y="2503992"/>
            <a:ext cx="313822" cy="31382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490472" y="234086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03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90472" y="2743200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样机真假 · 量产级工程底座 · 专利库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177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27448" y="2194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64607" y="2359152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1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448" y="2503992"/>
            <a:ext cx="313822" cy="313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605272" y="234086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04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落到 NICE 体验舱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05272" y="2743200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4 场景 · 系统架构 · 30 周计划 · 商务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" y="3291839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49807" y="3456431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246B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2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648" y="3601272"/>
            <a:ext cx="313822" cy="31382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0472" y="343814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05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90472" y="384047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案例证据链 · 红点/宝马/Apollo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177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27448" y="3291839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864607" y="3456431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7D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w-30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9448" y="3601272"/>
            <a:ext cx="313822" cy="31382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605272" y="343814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06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5272" y="384047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12 个月后状态 · 投资逻辑 · 下一步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NEW STANDARD FROM OEMs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主机厂正把『用户体验创新』写进定点评判标准,并向内外饰一级供应商传导。补齐『前瞻造型—交互—电子软硬件—可落地样机』这条能力链,已不是加分项,而是守住订单的前提。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行业拐点:主机厂要求,从『供零件』走向『供体验』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BAR IS RISING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987552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8000" dir="5400000" rotWithShape="0">
              <a:srgbClr val="17244A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060704"/>
            <a:ext cx="54864" cy="402335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987552"/>
            <a:ext cx="77724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趋势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老轮机长贴着机舱壁一听就知道哪个缸不对——主机厂的『耳朵』也在变:从听质量,到听你懂不懂体验。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719072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46BFF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供零件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按图交付合格零部件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成本·质量·交期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87752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1719072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0B5E3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供模块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交付集成化总成模块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集成度·可靠性·降本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72584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82312" y="1719072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72584" y="1719072"/>
            <a:ext cx="1938528" cy="2121408"/>
          </a:xfrm>
          <a:prstGeom prst="roundRect">
            <a:avLst>
              <a:gd name="adj" fmla="val 5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5464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5464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供体验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55464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参与定义座舱体验创新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5464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前瞻造型·交互·电子·机构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57416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144" y="1719072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57416" y="1719072"/>
            <a:ext cx="1938528" cy="2121408"/>
          </a:xfrm>
          <a:prstGeom prst="roundRect">
            <a:avLst>
              <a:gd name="adj" fmla="val 5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0296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A1BDF"/>
                </a:solidFill>
                <a:latin typeface="Arial Black"/>
                <a:ea typeface="Arial Black"/>
                <a:cs typeface="Arial Black"/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0296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供创新合作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0296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成为主机厂共创伙伴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0296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主导话题·带样机进评审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华翔今天正卡在 L2 → L3 的台阶上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制造与模块能力扎实,但『供体验』所需的综合能力,正是缺口。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迈向『供体验』:你要补齐的四块 + 一个保障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GAP &amp; HOW JOMEC FILLS IT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1024128"/>
            <a:ext cx="2194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要补的能力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1024128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JOMEC 补齐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02412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对你意味着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325880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32588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1371600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-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1463771"/>
            <a:ext cx="199704" cy="1997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1325880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前瞻造型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1325880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德系履历造型团队 + CAS 快速建模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325880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拿得出让主机厂眼前一亮的造型语言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1860804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" y="1860804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9224" y="1906524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w-8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" y="1998695"/>
            <a:ext cx="199704" cy="19970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88720" y="1860804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 / UI / 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1860804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完整交互系统开发(UI/UX/动效/VR)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1860804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正中主机厂体验创新的新需求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2395728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" y="2395728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9224" y="2441448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5" y="2533619"/>
            <a:ext cx="199704" cy="1997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2395728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电子软硬件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2395728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自研车规级控制器 + 嵌入式集成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2395728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软硬件自主可控,不被第三方卡脖子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930652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" y="2930652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9224" y="2976372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4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395" y="3068543"/>
            <a:ext cx="199704" cy="19970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88720" y="2930652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80" y="2930652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量产级机构(折叠方向盘达上汽量产)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930652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最难的机构有人兜底,还能上车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3465576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" y="3465576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9224" y="3511296"/>
            <a:ext cx="384048" cy="384048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w-26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95" y="3603467"/>
            <a:ext cx="199704" cy="19970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88720" y="3465576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责任归属(保障)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3280" y="3465576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五位一体单一责任主体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465576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你只对接一家,不背协同的锅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COMPANY &amp; 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卓迈 JOMEC,国内少数能同时交付造型、交互、电子与量产级机构的创新公司。成立于 2011 年,核心团队来自国内主流车企与科技公司,既懂德系高标准,又懂中国量产节奏。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公司概况:造型 + 交互 + 电子 + 量产级机构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COMPANY PROFILE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987552"/>
            <a:ext cx="81381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五大基地 · 一条龙能力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" y="1298448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1560" y="1472184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581912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2920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上海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前瞻中心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30552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40280" y="1298448"/>
            <a:ext cx="133502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79192" y="1472184"/>
            <a:ext cx="457200" cy="457200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81912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130552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昆山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03704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创新研发&amp;试制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58184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67912" y="1298448"/>
            <a:ext cx="133502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06824" y="1472184"/>
            <a:ext cx="457200" cy="457200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58191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758184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柳州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31336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数字化中心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85816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95544" y="1298448"/>
            <a:ext cx="1335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934455" y="1472184"/>
            <a:ext cx="457200" cy="457200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183" y="1581912"/>
            <a:ext cx="237744" cy="23774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385816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杭州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8968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JOMEC×CAA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13448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23176" y="1298448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562088" y="1472184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815" y="1581912"/>
            <a:ext cx="237744" cy="23774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13448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宁波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600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产品生产基地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2670048"/>
            <a:ext cx="3977639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" y="2670048"/>
            <a:ext cx="3758183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开发业务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未来出行造型开发 · 交互设计 · 智能座舱创新开发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663440" y="2670048"/>
            <a:ext cx="3977639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3168" y="2670048"/>
            <a:ext cx="3758183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9204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产品业务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座舱智能总成产品研发及供货 · 量产交付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卓迈使命:塑造更美好的未来生活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始终创业 · 求真务实 · 敢为极致 · 共同成长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服务全景:从调研到生产,覆盖创新开发全链条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OUR SERVICES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298448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552" y="1545336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92" y="1690176"/>
            <a:ext cx="313822" cy="31382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57784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01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交通工具调研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竞品·趋势·用户·策略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03704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13432" y="1298448"/>
            <a:ext cx="135331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88336" y="1545336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8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176" y="1690176"/>
            <a:ext cx="313822" cy="313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258568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02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交通工具设计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58568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概念·内外饰·CMF·A级曲面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58184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04488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14216" y="1298448"/>
            <a:ext cx="135331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89120" y="1545336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w-8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960" y="1690176"/>
            <a:ext cx="313822" cy="31382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959352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03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展车与原型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59352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CNC·3D打印·油泥·功能样机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05272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5000" y="1298448"/>
            <a:ext cx="135331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089904" y="1545336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w-8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4744" y="1690176"/>
            <a:ext cx="313822" cy="313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660136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04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UX-UI 设计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0136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HMI·体验·动效·软件·VR/AR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9752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06056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15783" y="1298448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790688" y="1545336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-8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528" y="1690176"/>
            <a:ext cx="313822" cy="31382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360920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05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生产制造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20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快速原型·功能样件·量产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调研 → 设计 → 原型 → 体验 → 制造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创新不会断在任何一个交接环节。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团队:德系深度 × 中国速度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51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252728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125272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7592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严 艇 Tim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7592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CEO · 中国美院客座教授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江苏省双创人才;AI 驱动座舱创新方向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27448" y="105156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18888" y="1252728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8888" y="125272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2392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黄 斌 Burt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22392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造型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22392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前泛亚汽车技术中心设计执行总监;25 年经验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20116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04088" y="2212848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221284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7592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Alexander Zeth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7592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设计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07592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德籍;前 EDAG 资深设计师;服务宝马/奥迪/大众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27448" y="20116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18888" y="2212848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18888" y="221284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22392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徐康聪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22392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总工程师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22392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德国布伦瑞克博士后;两获中国汽车工业科学进步奖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IATF16949 全量产流程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27832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27832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中国美院 CAA 联合前瞻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52744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52744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两度赴德:宝马/奔驰/大众/奥迪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既懂德系高标准,又懂中国量产节奏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这是大多数本土与外资团队都给不齐的组合。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组织协同:四大能力中心,收敛于一个责任主体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ONE-STOP ACCOUNTABILITY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16152" y="1225296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047" y="1348191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造型设计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前瞻·内外造型·CMF·CAS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87752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300984" y="1225296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w-8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3879" y="1348191"/>
            <a:ext cx="266273" cy="26627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679192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交互系统开发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79192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UI/UX·动效·VR 内容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72584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85816" y="1225296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711" y="1348191"/>
            <a:ext cx="266273" cy="26627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764024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软硬件开发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4024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座舱系统·嵌入式·测试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57416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70648" y="1225296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8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3543" y="1348191"/>
            <a:ext cx="266273" cy="2662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848855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展车模型制作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48855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原型车·工艺·交付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协同合作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各团队无缝对接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587752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79192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9192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减少沟通壁垒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72584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64024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同步工作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4024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并行模式推进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57416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48855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责任归属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48855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清晰界定·根源解决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智能座舱 · 一站式 · 解决方案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你只对接一个责任主体,协同出的问题由我们兜底。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DEMO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样机有真假之分,主机厂评审现场见分晓。能摸、能动、能现场联调、过信号干涉测试的 L3 全功能可交互样机,才扛得住工程拷问。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重新定义品类:样机有真假之分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REAL vs FAKE DEMO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987552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8000" dir="5400000" rotWithShape="0">
              <a:srgbClr val="17244A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060704"/>
            <a:ext cx="54864" cy="402335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987552"/>
            <a:ext cx="77724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评审现场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假屏,评委一问『能动吗』就卡住;唯有能摸能动、过信号干涉测试的样机,才取信工程评委。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737360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59FB5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静态造型舱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假屏。只能看、能拍照;一问能动吗就卡住。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1737360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56432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59FB5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56432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数字孪生 / 视频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屏幕里的炫酷演示。只能播放;摸不到、难取信评委。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44184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53912" y="173736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44184" y="1737360"/>
            <a:ext cx="2651760" cy="1627632"/>
          </a:xfrm>
          <a:prstGeom prst="roundRect">
            <a:avLst>
              <a:gd name="adj" fmla="val 6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7064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7064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全功能可交互样机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7064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能摸、能动、能现场联调、过信号干涉测试。扛工程拷问。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JOMEC 的定义:能力闭环 · 单一责任主体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造型→交互→软硬件→机构→样机,协同出的问题我们兜底。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差异化证据:能动样机背后,是量产级工程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ENGINEERING BASE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261872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983" y="1384767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307592" y="1316736"/>
            <a:ext cx="17830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测试台架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1883664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把风险提前到样机阶段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231136"/>
            <a:ext cx="2286000" cy="11887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样机进评审室前先在台架把问题出完:总线/信号干涉/娱乐/氛围灯/机构/多屏/散热/多模态/识别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438144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3438144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9 项联调验证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09728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74720" y="1261872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w-24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615" y="1384767"/>
            <a:ext cx="266273" cy="26627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78224" y="1316736"/>
            <a:ext cx="17830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1883664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最难的开闭件已到量产级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6432" y="2231136"/>
            <a:ext cx="2286000" cy="11887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折叠方向盘达上汽乘用车量产级并完成装车联调;鸥翼门/侧门应用于百度 Apollo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6432" y="3438144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56432" y="3438144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上汽量产级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44184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53912" y="109728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45352" y="1261872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8247" y="1384767"/>
            <a:ext cx="266273" cy="2662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848856" y="1316736"/>
            <a:ext cx="17830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自研车规控制器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27064" y="1883664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软硬件是自己的,不外包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7064" y="2231136"/>
            <a:ext cx="2286000" cy="11887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已自研 5 类实物控制器:通用/多路通断/RGB 氛围灯/三相电机驱动/小型舵机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27064" y="3438144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27064" y="3438144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5 类自研控制器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反复出现的『量产级』『车规』『通过性能测试』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JOMEC 与造型模型公司的根本分野。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降低决策风险:自有专利创新库,即插即用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OWNED-PATENT LIBRARY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5156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" y="1207007"/>
            <a:ext cx="457200" cy="457200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316736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16152" y="1170431"/>
            <a:ext cx="109728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透光表面 ShyTech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0" y="1197863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0" y="1197863"/>
            <a:ext cx="7315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华翔主场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去物理按键仍保留全部开关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900–1200lm/m²·寿命5万h·透光92%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05156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29000" y="1207007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w-24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316736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986784" y="1170431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隐藏式电动长滑轨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38144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把『第三空间』做出来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38144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承重15kg·收纳740×560×270·30°爬坡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44184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53912" y="105156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99632" y="1207007"/>
            <a:ext cx="457200" cy="457200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-19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16736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757416" y="1170431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椅背磁吸智联拓展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8776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屏幕/平板即吸即用+无线充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08776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90°旋转·磁吸+无线充·减少凸露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65376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75104" y="2514600"/>
            <a:ext cx="24323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020824" y="2670048"/>
            <a:ext cx="457200" cy="457200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-19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0552" y="2779776"/>
            <a:ext cx="237744" cy="23774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578608" y="2633472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重力感应升降杯托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29968" y="3154680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自动感知适应物品重量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344728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寿命≥10万次·IPX4·20°不洒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38344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48072" y="25146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193792" y="2670048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w-24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2779776"/>
            <a:ext cx="237744" cy="2377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751576" y="2633472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折叠方向盘机构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02936" y="3154680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释放驾驶位空间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02936" y="344728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已达上汽量产级·与线控转向同步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3968496"/>
            <a:ext cx="8138160" cy="4572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2920" y="4096511"/>
            <a:ext cx="54864" cy="201167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3968496"/>
            <a:ext cx="758952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这些是 JOMEC 自有专利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你拿到的是干净、可申报的创新点,而不是侵权风险。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交付路径:从概念到可演示样机,每阶段都验收到弹药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DELIVERY PATH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1430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325880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创新切入点定义 · CAS 造型 · 交互原型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可沟通:方向与亮点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1874519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14300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74720" y="1325880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7952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工程阶段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运动机构方案 · 线束 3D · 软硬件架构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56432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7872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可沟通:可行性与深度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79592" y="1874519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44184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53912" y="114300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45352" y="1325880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5352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样机阶段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27064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台架联调通过 · 全功能可交互样机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7064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可沟通:能现场演示的实物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UX 研究流程与 IATF16949 工程流程融合为一条主线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每个节点都翻译成你能对主机厂说的话。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NICE EXPERIENCE CABIN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落到 NICE:体验舱整包方案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智能座舱体验舱,就是 L3 全功能可交互样机能力的旗舰落地。以下是我们对华翔这个具体项目已经想到的深度 —— 从体验场景、系统架构、安全可靠,到 30 周交付与商务。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NICE 体验舱:健康舒适 + 智能表面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EXPERIENCE CABIN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43525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1280160"/>
            <a:ext cx="42062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主题: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 + 智能表面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1828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1783080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可进入 — 支持 4 人同时试乘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231136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2185416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可试乘 — 4 套零重力座椅(前排含 180° 旋转)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26334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2587752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可交互 — 语音 + 多屏触控 + 实体按键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3035808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2990088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可循环 — 日连续运行 ≥10 小时无 A 类故障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3438144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392424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可迭代 — 预留扩展,支撑全球巡展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57800" y="109728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6000" dir="5400000" rotWithShape="0">
              <a:srgbClr val="17244A">
                <a:alpha val="8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29400" y="1828800"/>
            <a:ext cx="640080" cy="640080"/>
          </a:xfrm>
          <a:prstGeom prst="ellipse">
            <a:avLst/>
          </a:prstGeom>
          <a:solidFill>
            <a:srgbClr val="C8D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-19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019" y="1982419"/>
            <a:ext cx="332841" cy="332841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257800" y="2606040"/>
            <a:ext cx="338328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 体验舱效果图占位 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2971800"/>
            <a:ext cx="3383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替换为造型渲染图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1:1 可进入 · 可试乘 · 可交互 · 可循环演示 · 可持续迭代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四大体验:一次进入,四重惊艳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FOUR WOW MOMENTS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7512" y="1261872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1384767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 Black"/>
                <a:ea typeface="Arial Black"/>
                <a:cs typeface="Arial Black"/>
              </a:rPr>
              <a:t>S1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迎宾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走近即点亮——星河迎宾+氛围灯流水+星空天幕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87752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752344" y="1261872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w-16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239" y="1384767"/>
            <a:ext cx="266273" cy="26627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355848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 Black"/>
                <a:ea typeface="Arial Black"/>
                <a:cs typeface="Arial Black"/>
              </a:rPr>
              <a:t>S2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52344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52344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52344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坐下被照顾——零重力+健康可视化+全车加热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72584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837176" y="1261872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-1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071" y="1384767"/>
            <a:ext cx="266273" cy="26627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440680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S3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智能表面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37176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37176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7176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无屏即屏——IMSE膜+自发光缝线+材质质感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57416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922007" y="1261872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4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903" y="1384767"/>
            <a:ext cx="266273" cy="26627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525512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A1BDF"/>
                </a:solidFill>
                <a:latin typeface="Arial Black"/>
                <a:ea typeface="Arial Black"/>
                <a:cs typeface="Arial Black"/>
              </a:rPr>
              <a:t>S4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智能空间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22007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22007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22007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一键变形——Console展开+座椅180°旋转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每个场景都是触发→系统响应→技术亮点→复位完整闭环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覆盖 ≥2 种交互方式。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 &amp; 安全可靠:量产级方法治理复杂度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ARCHITECTURE &amp; SAFETY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10515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" y="1051560"/>
            <a:ext cx="365760" cy="40233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0515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10515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演示/运维层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10515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演示平板 · 后台调试 · 硬件复位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15087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15087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" y="1508760"/>
            <a:ext cx="365760" cy="402336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15087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15087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中央控制层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15087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域控制器(主控) · 多屏 + 5×CAN FD 网关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19659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19659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" y="1965960"/>
            <a:ext cx="365760" cy="40233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19659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19659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显示/视频层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19659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P-HUD · 魔术屏 · 吸顶屏 · 后排屏 · PAD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4231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2920" y="24231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60120" y="2423160"/>
            <a:ext cx="365760" cy="40233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24231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24231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域总线层 CAN FD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24231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灯光 / 座椅 / 机构 / 舒适 / 加热健康 · ≥5Mbps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8803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2920" y="28803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0120" y="2880360"/>
            <a:ext cx="365760" cy="402336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8803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28803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节点执行层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46120" y="28803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控制板 · 驱动器 · 加热膜 · 健康扶手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33375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2920" y="33375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60120" y="3337560"/>
            <a:ext cx="365760" cy="40233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33375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40" y="33375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配电安全层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6120" y="33375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PSU×5 · 急停 · 限位 · 防夹 · 超温自断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80760" y="10515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90488" y="1051560"/>
            <a:ext cx="2340863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1170431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硬件安全回路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63640" y="14721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急停+STO+限位+电流防夹,独立于软件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0760" y="19659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90488" y="1965960"/>
            <a:ext cx="2340863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2084831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稳定与兜底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63640" y="23865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≥10h连续·100次无故障·一键复位≤30s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0760" y="28803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0488" y="2880360"/>
            <a:ext cx="2340863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3640" y="2999232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断电恢复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63640" y="33009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上电自动回零+参数记忆,≤5分钟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真实电气工程,而非模型搭建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这套架构让"展会不出事、A 类零故障"的承诺有出处。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 周交付确定性:2026.07 启动 → 2027.01 终验收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30-WEEK ROADMAP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0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4160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951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7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3023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0559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27.01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5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17099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造型/CAS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28800" y="1755648"/>
            <a:ext cx="3423513" cy="201168"/>
          </a:xfrm>
          <a:prstGeom prst="roundRect">
            <a:avLst>
              <a:gd name="adj" fmla="val 40000"/>
            </a:avLst>
          </a:prstGeom>
          <a:solidFill>
            <a:srgbClr val="246BFF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207568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硬件开发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55494" y="2121408"/>
            <a:ext cx="4871923" cy="201168"/>
          </a:xfrm>
          <a:prstGeom prst="roundRect">
            <a:avLst>
              <a:gd name="adj" fmla="val 40000"/>
            </a:avLst>
          </a:prstGeom>
          <a:solidFill>
            <a:srgbClr val="F43F5E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244144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软件开发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2188" y="248716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00B5E3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80720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45536" y="285292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17296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动画/交互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828800" y="3218688"/>
            <a:ext cx="4740249" cy="201168"/>
          </a:xfrm>
          <a:prstGeom prst="roundRect">
            <a:avLst>
              <a:gd name="adj" fmla="val 40000"/>
            </a:avLst>
          </a:prstGeom>
          <a:solidFill>
            <a:srgbClr val="5A1BDF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35387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测试(前置)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79008" y="3584448"/>
            <a:ext cx="2633472" cy="201168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iamond 60"/>
          <p:cNvSpPr/>
          <p:nvPr/>
        </p:nvSpPr>
        <p:spPr>
          <a:xfrm>
            <a:off x="3730752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55264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M4 骨架</a:t>
            </a:r>
          </a:p>
        </p:txBody>
      </p:sp>
      <p:sp>
        <p:nvSpPr>
          <p:cNvPr id="63" name="Diamond 62"/>
          <p:cNvSpPr/>
          <p:nvPr/>
        </p:nvSpPr>
        <p:spPr>
          <a:xfrm>
            <a:off x="6100876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5388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M6 预验收</a:t>
            </a:r>
          </a:p>
        </p:txBody>
      </p:sp>
      <p:sp>
        <p:nvSpPr>
          <p:cNvPr id="65" name="Diamond 64"/>
          <p:cNvSpPr/>
          <p:nvPr/>
        </p:nvSpPr>
        <p:spPr>
          <a:xfrm>
            <a:off x="7878470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2982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M7 终验收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并行工程 + 测试 W18 前置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◆ 为里程碑(执行计划口径,合同关键节点以正式合同为准)。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商务与服务范围:价值而非成本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COMMERCIAL &amp; SERVICE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1148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953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1261872"/>
            <a:ext cx="3749039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服务承诺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167335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16276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免费质保期 ≥ 1 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039112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199339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展会驻场 ≥2 人 · A 类响应 ≤15min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24048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235915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远程支持 7×24 · ≤2 小时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277063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272491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免费软件迭代 ≤3 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3136391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09067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关键易损件供应 ≥3 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350215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4564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质保期展会支持 ≥10 次/16 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1097280"/>
            <a:ext cx="3840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10328" y="1097280"/>
            <a:ext cx="3621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1261872"/>
            <a:ext cx="34747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报价结构(占位)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166420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造型与 CMF 设计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2011680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工程与展车制作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2359152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电子电器与机构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706624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软件/HMI/集成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3054096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动画与传播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0" y="340156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展会保障与售后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可按概念/工程/样机分阶段推进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每阶段有可验收交付物;具体投入基于项目范围当面测算。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PROVEN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这套打法,真把别的 Tier 1 送进了主机厂的门。按说服力排序:从带着创新走进宝马,到自有专利获捷豹路虎官方致谢,再到红点奖与百度 Apollo —— 同一套能力可跨客户、跨场景复用。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案例证据链:按说服力排序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EVIDENCE, RANKED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6656" y="1271016"/>
            <a:ext cx="475488" cy="475488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2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73" y="1385133"/>
            <a:ext cx="247253" cy="24725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52728" y="1225295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常熟汽饰 × 宝马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15910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主导 iX-2024 隐藏式电动长滑轨创新,负责对接与提案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宝马创新开发契机 + 量产机会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791456" y="1271016"/>
            <a:ext cx="475488" cy="47548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19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573" y="1385133"/>
            <a:ext cx="247253" cy="24725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367528" y="1225295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 × 捷豹路虎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7528" y="15910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凭 JOMEC 自有专利总成做技术展示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JLR 认可 + 官方感谢信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24688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6656" y="2642616"/>
            <a:ext cx="475488" cy="475488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w-3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773" y="2756733"/>
            <a:ext cx="247253" cy="247253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25968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2024 德国红点奖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52728" y="29626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 申报;iX-2024 两度赴德独立展示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行业级设计认可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27448" y="24688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91456" y="2642616"/>
            <a:ext cx="475488" cy="475488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w-1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573" y="2756733"/>
            <a:ext cx="247253" cy="24725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367528" y="25968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 无人车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67528" y="29626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底盘/造型/工程/硬件/HMI/样车制作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入藏北京汽车博物馆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「 我们让一家 Tier 1,带着创新走进了宝马的门。 」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PPT 讲不出来的说服力。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重点案例:JoySpace+ 与 船舶智慧驾驶舱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FLAGSHIP CASES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JoySpace+ × 均胜电子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1645920"/>
            <a:ext cx="3657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沉浸式智能座舱 · 头部 Tier1 共创范式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207568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02996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赛博机能美学·连续性光导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248716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244144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再生涤纶环保选材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289864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285292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天空之镜水晶极光·飞控旋钮·AI智慧体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310128"/>
            <a:ext cx="100584" cy="1005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264408"/>
            <a:ext cx="3520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折叠方向盘·电子后视镜·星空顶篷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hip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07008"/>
            <a:ext cx="3749039" cy="1371600"/>
          </a:xfrm>
          <a:prstGeom prst="rect">
            <a:avLst/>
          </a:prstGeom>
          <a:effectLst>
            <a:outerShdw blurRad="80000" dist="30000" dir="5400000" rotWithShape="0">
              <a:srgbClr val="17244A">
                <a:alpha val="80000"/>
              </a:srgbClr>
            </a:outerShdw>
          </a:effectLst>
        </p:spPr>
      </p:pic>
      <p:sp>
        <p:nvSpPr>
          <p:cNvPr id="43" name="TextBox 42"/>
          <p:cNvSpPr txBox="1"/>
          <p:nvPr/>
        </p:nvSpPr>
        <p:spPr>
          <a:xfrm>
            <a:off x="4846320" y="2670048"/>
            <a:ext cx="3657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船舶智慧驾驶舱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072384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035808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七屏中枢+数字孪生·180°旋转座椅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364991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0" y="3328415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人脸/手势/无感健康监测/AI语音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3657600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0" y="3621024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滑动方向舵·智慧海图桌·自适应氛围灯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从汽车到船舶,同一套造型+交互+软硬件+样机能力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证明创新方法论可迁移。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战略合作伙伴生态,提升项目技术含量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PARTNER ECOSYSTEM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28016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70432" y="1508760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丰田通商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世界 500 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新技术新材料及开发支持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7752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7480" y="128016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55264" y="1508760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55264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79192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CP-VELA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79192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国际气联认证工程服务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97480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新技术新材料开发支持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72584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82312" y="128016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40096" y="1508760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64024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64024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生态合作(燎原计划)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2312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已达成生态合作伙伴关系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57416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67144" y="128016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24927" y="1508760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24927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48855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科思创 Covestro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8855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全球领先聚合物供应商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聚氨酯蜂窝/红外透波PC材料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生态合作不是背书装点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而是把新材料、新技术真正带进华翔的项目。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YOUR FUTURE &amp; NEXT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12 个月后,华翔将不再是被动接收主机厂创新需求的硬件供应商,而是带着一台经得起拷问的样机、主导评审现场体验话题的创新合作方。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 个月后的宁波华翔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YOUR FUTURE STATE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你将拿到的(可验收)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173736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169164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 台全功能可交互样机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14884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210312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造型数据 + 交互原型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256032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251460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软硬件方案 + 运动机构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2971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292608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台架联调报告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338328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33756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可对外演示脚本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6000" dir="5400000" rotWithShape="0">
              <a:srgbClr val="17244A">
                <a:alpha val="8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17720" y="1097280"/>
            <a:ext cx="45720" cy="27432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竞争位置的转变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17830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从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 被动接收体验需求的硬件供应商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242316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2788920"/>
            <a:ext cx="36576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10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 带着能动样机、主导评审现场体验话题的创新合作方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下一次主机厂问"你们能做体验创新吗"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华翔的回答不是 PPT,是一台能让评委坐进去的样机。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投资逻辑:一次定点的价值,远大于一台样机的投入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VALUE, NOT COST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1887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18872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11887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你买的不是设计工时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11887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 L3 全功能可交互样机 —— 不是 L1 造型舱,也不是 L2 视频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21031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8" y="2103120"/>
            <a:ext cx="79187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21031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你买的不是一次性概念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21031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而是自有专利创新库 —— IP 干净、可复用、规避侵权风险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0175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" y="3017520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0175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你买的不是本土概念能力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175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而是德系量产级标准 + 中国速度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用一台样机的成本,守住或赢得一次主机厂定点的机会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把投入放回它真正的语境。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71433"/>
              </a:gs>
              <a:gs pos="100000">
                <a:srgbClr val="1A124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NEXT STEP · 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先来一场 60 分钟的现场样机演示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不必先谈定点。让华翔团队亲眼看一台 L3 全功能可交互样机能做什么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—— 这是最轻的一步,也是最有说服力的一步。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46120"/>
            <a:ext cx="7863840" cy="96012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319272"/>
            <a:ext cx="54864" cy="82296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364992"/>
            <a:ext cx="74066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联系我们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703320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严 艇 Tim  17740838008 ｜ tim@jomecdesign.com      李成龙 Jason  15000763365 ｜ jason@jomecdesign.com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977639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上海卓迈汽车技术有限公司 ｜ www.jomec-auto.com ｜ JOMEC · SHAPING THE FUTURE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
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64008" cy="5029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60120"/>
            <a:ext cx="7315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JOMEC ｜ 卓迈   ·   智能座舱创新 DEMO 样机解决方案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804672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把硬件优势,变成主机厂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面前的</a:t>
            </a:r>
            <a:r>
              <a:rPr sz="33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体验话语权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38328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 · 整包样机方案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886200"/>
            <a:ext cx="2377440" cy="18288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呈送:宁波华翔</a:t>
            </a:r>
            <a:r>
              <a:rPr sz="11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    面向头部零部件企业(Tier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804672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上海卓迈 JOMEC   |   2026.06   |   机密·仅限指定收件方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目录:六段旅程,一条完整说服链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CONTENTS · THE WINNING PATH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0515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06424"/>
            <a:ext cx="45720" cy="80467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170431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197863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581912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主机厂要求抬升 · L1→L4 能力阶梯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0515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1106424"/>
            <a:ext cx="45720" cy="80467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1170431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1197863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1581912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一站式责任主体 · 德系×中国速度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130552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185416"/>
            <a:ext cx="45720" cy="804672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249424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276856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660904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样机真假 · 量产级工程底座 · 专利库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2130552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2185416"/>
            <a:ext cx="45720" cy="80467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8888" y="2249424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276856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 体验舱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660904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4 场景 · 系统架构 · 30 周计划 · 商务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209544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264408"/>
            <a:ext cx="45720" cy="80467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3328415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355848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3739896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案例证据链 · 红点/宝马/Apollo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3209544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17720" y="3264408"/>
            <a:ext cx="45720" cy="804672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18888" y="3328415"/>
            <a:ext cx="77724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355848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3739896"/>
            <a:ext cx="29718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12 个月后状态 · 投资逻辑 · 下一步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NEW STANDARD FROM OEMs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主机厂正把『用户体验创新』写进定点评判标准,并向内外饰一级供应商传导。对以制造与总成见长的华翔,补齐『前瞻造型—交互—电子软硬件—可落地样机』这条能力链,已不是加分项,而是守住订单的前提。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行业拐点:主机厂要求,正从『供零件』走向『供体验』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BAR IS RISING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43000"/>
            <a:ext cx="1938528" cy="246888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43000"/>
            <a:ext cx="1938528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44168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4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31720"/>
            <a:ext cx="1572768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按图交付合格零部件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3240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成本·质量·交期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6584" y="2057400"/>
            <a:ext cx="31089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87752" y="1143000"/>
            <a:ext cx="1938528" cy="246888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87752" y="1143000"/>
            <a:ext cx="1938528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0632" y="1344168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192024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331720"/>
            <a:ext cx="1572768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交付集成化总成模块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3063240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集成度·可靠性·降本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057400"/>
            <a:ext cx="31089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2584" y="1143000"/>
            <a:ext cx="1938528" cy="246888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72584" y="1143000"/>
            <a:ext cx="1938528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1344168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192024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供体验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5464" y="2331720"/>
            <a:ext cx="1572768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参与定义座舱体验创新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5464" y="3063240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前瞻造型·交互·电子·机构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2057400"/>
            <a:ext cx="31089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7416" y="1143000"/>
            <a:ext cx="1938528" cy="246888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57416" y="1143000"/>
            <a:ext cx="1938528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0296" y="1344168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L4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192024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供创新合作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0296" y="2331720"/>
            <a:ext cx="1572768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成为主机厂共创伙伴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0296" y="3063240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主导话题·带样机进评审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华翔今天正卡在 L2 → L3 的台阶上:制造与模块能力扎实,但『供体验』所需的综合能力,正是缺口。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迈向『供体验』:你要补齐的四块 + 一个保障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GAP &amp; HOW JOMEC FILLS IT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078992"/>
            <a:ext cx="18288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要补的能力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078992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JOMEC 补齐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对你意味着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8138160" cy="493776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26464"/>
            <a:ext cx="45720" cy="3840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371600"/>
            <a:ext cx="23774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前瞻造型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371600"/>
            <a:ext cx="28346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德系履历造型团队 + CAS 快速建模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371600"/>
            <a:ext cx="246888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拿得出让主机厂眼前一亮的造型语言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938528"/>
            <a:ext cx="8138160" cy="493776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1993392"/>
            <a:ext cx="45720" cy="3840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938528"/>
            <a:ext cx="23774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交互 / UI / 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938528"/>
            <a:ext cx="28346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完整交互系统开发(UI/UX/动效/VR)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38528"/>
            <a:ext cx="246888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正中主机厂体验创新的新需求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05456"/>
            <a:ext cx="8138160" cy="493776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560320"/>
            <a:ext cx="45720" cy="3840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505456"/>
            <a:ext cx="23774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电子软硬件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505456"/>
            <a:ext cx="28346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自研车规级控制器 + 嵌入式集成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505456"/>
            <a:ext cx="246888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软硬件自主可控,不被第三方卡脖子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072384"/>
            <a:ext cx="8138160" cy="493776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127248"/>
            <a:ext cx="45720" cy="3840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072384"/>
            <a:ext cx="23774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072384"/>
            <a:ext cx="28346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量产级机构(折叠方向盘达上汽量产)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072384"/>
            <a:ext cx="246888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最难的机构有人兜底,还能上车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39312"/>
            <a:ext cx="8138160" cy="493776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694176"/>
            <a:ext cx="45720" cy="384048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3639312"/>
            <a:ext cx="23774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责任归属(保障)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639312"/>
            <a:ext cx="283464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五位一体单一责任主体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639312"/>
            <a:ext cx="2468880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你只对接一家,不背协同的锅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&amp;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卓迈 JOMEC，国内少数能同时交付造型、交互、电子与量产级机构的创新公司。成立于 2011 年，核心团队来自国内主流车企与科技公司，融合设计、工程、心理学与人因工程，既懂德系高标准，又懂中国量产节奏。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公司概况:造型 + 交互 + 电子 + 量产级机构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8138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五大基地 · 一条龙能力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1591056" cy="1051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417320"/>
            <a:ext cx="1591056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572768"/>
            <a:ext cx="1591056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93392"/>
            <a:ext cx="1408176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前瞻中心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30552" y="1417320"/>
            <a:ext cx="1591056" cy="1051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30552" y="1417320"/>
            <a:ext cx="1591056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0552" y="1572768"/>
            <a:ext cx="1591056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昆山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1992" y="1993392"/>
            <a:ext cx="1408176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创新研发 &amp; 试制中心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58184" y="1417320"/>
            <a:ext cx="1591056" cy="1051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58184" y="1417320"/>
            <a:ext cx="1591056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8184" y="1572768"/>
            <a:ext cx="1591056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柳州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993392"/>
            <a:ext cx="1408176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数字化中心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85816" y="1417320"/>
            <a:ext cx="1591056" cy="1051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85816" y="1417320"/>
            <a:ext cx="1591056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85816" y="1572768"/>
            <a:ext cx="1591056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杭州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7255" y="1993392"/>
            <a:ext cx="1408176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JOMEC×CAA 工作室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13448" y="1417320"/>
            <a:ext cx="1591056" cy="1051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13448" y="1417320"/>
            <a:ext cx="1591056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1572768"/>
            <a:ext cx="1591056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宁波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1993392"/>
            <a:ext cx="1408176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产品生产基地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2697480"/>
            <a:ext cx="3977639" cy="141732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2752344"/>
            <a:ext cx="45720" cy="130759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2834640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开发业务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200400"/>
            <a:ext cx="35661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未来出行造型开发 · 交互设计 · 智能座舱创新开发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2697480"/>
            <a:ext cx="3977639" cy="141732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752344"/>
            <a:ext cx="45720" cy="130759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92040" y="2834640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产品业务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200400"/>
            <a:ext cx="35661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座舱智能总成产品研发及供货 · 量产交付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卓迈使命:塑造更美好的未来生活   |   始终创业 · 求真务实 · 敢为极致 · 共同成长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服务全景:从调研到生产,覆盖创新开发全链条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1591056" cy="2194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591056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600200"/>
            <a:ext cx="493776" cy="493776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493776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286000"/>
            <a:ext cx="140817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交通工具调研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1408176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竞品·趋势·用户·策略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03704" y="1371600"/>
            <a:ext cx="1591056" cy="2194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3704" y="1371600"/>
            <a:ext cx="1591056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52344" y="1600200"/>
            <a:ext cx="493776" cy="493776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2344" y="1600200"/>
            <a:ext cx="493776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5144" y="2286000"/>
            <a:ext cx="140817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交通工具设计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5144" y="2788920"/>
            <a:ext cx="1408176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概念·内外饰·CMF·A级曲面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8184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04488" y="1371600"/>
            <a:ext cx="1591056" cy="2194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04488" y="1371600"/>
            <a:ext cx="1591056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53128" y="1600200"/>
            <a:ext cx="493776" cy="493776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1600200"/>
            <a:ext cx="493776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5928" y="2286000"/>
            <a:ext cx="140817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展车与原型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95928" y="2788920"/>
            <a:ext cx="1408176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CNC·3D打印·油泥·功能样机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58968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5272" y="1371600"/>
            <a:ext cx="1591056" cy="2194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5272" y="1371600"/>
            <a:ext cx="1591056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53912" y="1600200"/>
            <a:ext cx="493776" cy="493776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53912" y="1600200"/>
            <a:ext cx="493776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96712" y="2286000"/>
            <a:ext cx="140817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UX-UI 设计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96712" y="2788920"/>
            <a:ext cx="1408176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HMI·体验·动效·软件·VR/AR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06056" y="1371600"/>
            <a:ext cx="1591056" cy="21945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06056" y="1371600"/>
            <a:ext cx="1591056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54696" y="1600200"/>
            <a:ext cx="493776" cy="493776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54696" y="1600200"/>
            <a:ext cx="493776" cy="4937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97496" y="2286000"/>
            <a:ext cx="1408176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生产制造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97496" y="2788920"/>
            <a:ext cx="1408176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快速原型·功能样件·量产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调研 → 设计 → 原型 → 体验 → 制造:创新不会断在任何一个交接环节。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团队:德系深度 × 中国速度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0972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52144"/>
            <a:ext cx="45720" cy="80467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1325880"/>
            <a:ext cx="457200" cy="45720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1325880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216152"/>
            <a:ext cx="31089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严 艇 Tim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1508760"/>
            <a:ext cx="31089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CEO · 中国美院客座教授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755648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江苏省双创人才;AI 驱动座舱创新方向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10972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1152144"/>
            <a:ext cx="45720" cy="80467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82312" y="1325880"/>
            <a:ext cx="457200" cy="45720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1325880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59" y="1216152"/>
            <a:ext cx="31089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黄 斌 Burt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59" y="1508760"/>
            <a:ext cx="31089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联合创始人 · 造型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59" y="1755648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前泛亚汽车技术中心设计执行总监;25 年经验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148839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203703"/>
            <a:ext cx="45720" cy="804672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512" y="2377439"/>
            <a:ext cx="457200" cy="457200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2377439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267711"/>
            <a:ext cx="31089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Alexander Zeth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2560320"/>
            <a:ext cx="31089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联合创始人 · 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2807207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德籍;前 EDAG 资深设计师;服务宝马/奥迪/大众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2148839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17720" y="2203703"/>
            <a:ext cx="45720" cy="804672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82312" y="2377439"/>
            <a:ext cx="457200" cy="45720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2377439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59" y="2267711"/>
            <a:ext cx="31089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徐康聪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2560320"/>
            <a:ext cx="31089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总工程师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2807207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德国布伦瑞克博士后;两获中国汽车工业科学进步奖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3375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3375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IATF16949 全量产流程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27832" y="33375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27832" y="33375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中国美院 CAA 联合前瞻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52744" y="33375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52744" y="33375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两度赴德:宝马/奔驰/大众/奥迪/Stellantis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既懂德系高标准,又懂中国量产节奏 —— 这是大多数本土与外资团队都给不齐的组合。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组织协同:四大能力中心,收敛于一个责任主体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ONE-STOP ACCOUNTABILITY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1938528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166420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9202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前瞻·内外造型·CMF·CAS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87752" y="123444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87752" y="1234440"/>
            <a:ext cx="1938528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1417320"/>
            <a:ext cx="166420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交互系统开发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9202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UI/UX·动效·VR 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72584" y="123444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72584" y="1234440"/>
            <a:ext cx="1938528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9744" y="1417320"/>
            <a:ext cx="166420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软硬件开发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19202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座舱系统·嵌入式·测试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57416" y="123444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57416" y="1234440"/>
            <a:ext cx="1938528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1417320"/>
            <a:ext cx="166420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展车模型制作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7144" y="19202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原型车·工艺·交付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69748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52344"/>
            <a:ext cx="45720" cy="1170431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88036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协同合作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" y="32918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各团队无缝对接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87752" y="269748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87752" y="2752344"/>
            <a:ext cx="45720" cy="1170431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24912" y="288036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32918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减少沟通壁垒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72584" y="269748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72584" y="2752344"/>
            <a:ext cx="45720" cy="1170431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9744" y="288036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同步工作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2312" y="32918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并行模式推进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57416" y="2697480"/>
            <a:ext cx="1938528" cy="128016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757416" y="2752344"/>
            <a:ext cx="45720" cy="1170431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88036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责任归属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7144" y="3291840"/>
            <a:ext cx="1719072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清晰界定·根源解决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智能座舱 · 一站式 · 解决方案 —— 你只对接一个责任主体,协同出的问题由我们兜底。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DEMO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样机有真假之分,主机厂评审现场见分晓。能摸、能动、能现场联调、过信号干涉测试的 L3 全功能可交互样机,才扛得住工程拷问 —— 这正是 JOMEC 与造型模型公司的根本分野。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重新定义品类:样机有真假之分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REAL vs FAKE DEMO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88720"/>
            <a:ext cx="2651760" cy="54864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25880"/>
            <a:ext cx="2286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静态造型舱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40280"/>
            <a:ext cx="228600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好看的壳子 + 假屏。只能看、能拍照;评委一问『能动吗』就卡住。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3552" y="118872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73552" y="1188720"/>
            <a:ext cx="2651760" cy="54864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1325880"/>
            <a:ext cx="2286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18288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数字孪生 / 视频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240280"/>
            <a:ext cx="228600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屏幕里的炫酷演示。只能播放;摸不到、难取信工程评委。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44184" y="118872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4184" y="1188720"/>
            <a:ext cx="2651760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325880"/>
            <a:ext cx="2286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87DFF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8288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全功能可交互样机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240280"/>
            <a:ext cx="228600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能摸、能动、能现场联调、过信号干涉测试。扛得住工程拷问。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200400"/>
            <a:ext cx="8138160" cy="868680"/>
          </a:xfrm>
          <a:prstGeom prst="roundRect">
            <a:avLst>
              <a:gd name="adj" fmla="val 6000"/>
            </a:avLst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255264"/>
            <a:ext cx="45720" cy="758952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91840"/>
            <a:ext cx="182880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JOMEC 的定义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能力闭环·单一责任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3456432"/>
            <a:ext cx="1078992" cy="365760"/>
          </a:xfrm>
          <a:prstGeom prst="roundRect">
            <a:avLst>
              <a:gd name="adj" fmla="val 40000"/>
            </a:avLst>
          </a:prstGeom>
          <a:solidFill>
            <a:srgbClr val="102044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456432"/>
            <a:ext cx="1078992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22191" y="3456432"/>
            <a:ext cx="1078992" cy="365760"/>
          </a:xfrm>
          <a:prstGeom prst="roundRect">
            <a:avLst>
              <a:gd name="adj" fmla="val 40000"/>
            </a:avLst>
          </a:prstGeom>
          <a:solidFill>
            <a:srgbClr val="102044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1" y="3456432"/>
            <a:ext cx="1078992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交互开发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92624" y="3456432"/>
            <a:ext cx="1078992" cy="365760"/>
          </a:xfrm>
          <a:prstGeom prst="roundRect">
            <a:avLst>
              <a:gd name="adj" fmla="val 40000"/>
            </a:avLst>
          </a:prstGeom>
          <a:solidFill>
            <a:srgbClr val="102044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456432"/>
            <a:ext cx="1078992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软硬件集成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6" y="3456432"/>
            <a:ext cx="1078992" cy="365760"/>
          </a:xfrm>
          <a:prstGeom prst="roundRect">
            <a:avLst>
              <a:gd name="adj" fmla="val 40000"/>
            </a:avLst>
          </a:prstGeom>
          <a:solidFill>
            <a:srgbClr val="102044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63056" y="3456432"/>
            <a:ext cx="1078992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33488" y="3456432"/>
            <a:ext cx="1078992" cy="365760"/>
          </a:xfrm>
          <a:prstGeom prst="roundRect">
            <a:avLst>
              <a:gd name="adj" fmla="val 40000"/>
            </a:avLst>
          </a:prstGeom>
          <a:solidFill>
            <a:srgbClr val="102044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33488" y="3456432"/>
            <a:ext cx="1078992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样机制作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你只对接一个责任主体,协同出的问题由我们兜底 —— 不用在多家供应商之间做裁判。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差异化证据:能动样机背后,是量产级工程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ENGINEERING BASE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88720"/>
            <a:ext cx="2651760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716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测试台架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把风险提前到样机阶段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94560"/>
            <a:ext cx="228600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样机进评审室前,先在台架把问题出完:总线/线束信号干涉/娱乐/氛围灯/机构/多屏/散热/多模态/识别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93008"/>
            <a:ext cx="2286000" cy="365760"/>
          </a:xfrm>
          <a:prstGeom prst="roundRect">
            <a:avLst>
              <a:gd name="adj" fmla="val 40000"/>
            </a:avLst>
          </a:prstGeom>
          <a:solidFill>
            <a:srgbClr val="13294E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93008"/>
            <a:ext cx="22860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9 项联调验证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2" y="118872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1188720"/>
            <a:ext cx="2651760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13716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178308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最难的开闭件已到量产级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194560"/>
            <a:ext cx="228600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折叠方向盘达上汽乘用车量产级并完成装车联调;鸥翼门/侧门应用于百度 Apollo;标准化四阶段流程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6432" y="3493008"/>
            <a:ext cx="2286000" cy="365760"/>
          </a:xfrm>
          <a:prstGeom prst="roundRect">
            <a:avLst>
              <a:gd name="adj" fmla="val 40000"/>
            </a:avLst>
          </a:prstGeom>
          <a:solidFill>
            <a:srgbClr val="13294E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56432" y="3493008"/>
            <a:ext cx="22860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上汽量产级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44184" y="118872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44184" y="1188720"/>
            <a:ext cx="2651760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7064" y="1371600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自研车规控制器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178308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软硬件是自己的,不外包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2194560"/>
            <a:ext cx="228600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已自研 5 类实物控制器:通用/多路通断/RGB 氛围灯/三相电机驱动/小型舵机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7064" y="3493008"/>
            <a:ext cx="2286000" cy="365760"/>
          </a:xfrm>
          <a:prstGeom prst="roundRect">
            <a:avLst>
              <a:gd name="adj" fmla="val 40000"/>
            </a:avLst>
          </a:prstGeom>
          <a:solidFill>
            <a:srgbClr val="13294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27064" y="3493008"/>
            <a:ext cx="22860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5 类自研控制器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反复出现的『量产级』『车规』『通过性能测试』—— 这是 JOMEC 与造型模型公司的根本分野。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降低决策风险:自有专利创新库,即插即用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OWNED-PATENT INNOVATION LIBRARY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43584"/>
            <a:ext cx="45720" cy="1170431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30759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透光表面 ShyTech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307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1307592"/>
            <a:ext cx="82296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华翔主场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64592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去物理按键仍保留全部开关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1993392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900–1200lm/m² · 寿命 50000h · 透光率 92%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2" y="1188720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1243584"/>
            <a:ext cx="45720" cy="1170431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130759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隐藏式电动长滑轨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164592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把『第三空间』做出来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1993392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承重 15kg · 收纳 740×560×270 · 30° 爬坡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44184" y="1188720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44184" y="1243584"/>
            <a:ext cx="45720" cy="1170431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130759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椅背磁吸智联拓展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8776" y="164592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屏幕/平板即吸即用 + 无线充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1993392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90° 旋转 · 磁吸+无线充 · 减少凸露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65376" y="2606040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65376" y="2660904"/>
            <a:ext cx="45720" cy="1170431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272491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重力感应升降杯托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8" y="306324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自动感知适应物品重量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3410712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寿命 ≥10万次 · IPX4 · 20° 不洒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8344" y="2606040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38344" y="2660904"/>
            <a:ext cx="45720" cy="1170431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02936" y="272491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折叠方向盘机构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02936" y="306324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释放驾驶位空间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936" y="3410712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已达上汽量产级 · 与线控转向同步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023360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这些是 JOMEC 自有专利 —— 你拿到的是干净、可申报的创新点,而不是侵权风险。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交付路径:从概念到可演示样机,每阶段都验收到弹药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DELIVERY PATH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2651760" cy="246888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2651760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6304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536192"/>
            <a:ext cx="17373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24028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创新切入点定义 · CAS 造型 · 交互原型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13294E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可对主机厂沟通:方向与亮点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920240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3552" y="1280160"/>
            <a:ext cx="2651760" cy="246888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73552" y="1280160"/>
            <a:ext cx="2651760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56432" y="1463040"/>
            <a:ext cx="548640" cy="54864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6432" y="146304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2232" y="1536192"/>
            <a:ext cx="17373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工程阶段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432" y="224028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运动机构方案 · 线束 3D · 软硬件架构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315468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13294E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315468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可对主机厂沟通:可行性与深度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1920240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44184" y="1280160"/>
            <a:ext cx="2651760" cy="246888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44184" y="1280160"/>
            <a:ext cx="2651760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27064" y="1463040"/>
            <a:ext cx="548640" cy="54864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27064" y="146304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1536192"/>
            <a:ext cx="17373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4" y="224028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台架联调通过 · 全功能可交互样机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7064" y="315468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13294E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315468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可对主机厂沟通:能现场演示的实物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UX 研究流程与 IATF16949 工程流程融合为一条主线,每个节点都翻译成『你能对主机厂说的话』。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NICE EXPERIENCE CABIN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NICE:体验舱整包方案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智能座舱体验舱,就是上述 L3 全功能可交互样机能力的旗舰落地。以下是我们对华翔这个具体项目,已经想到的深度 —— 从体验场景、系统架构、安全可靠,到 30 周交付计划与商务。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NICE 体验舱:健康舒适 + 智能表面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EXPERIENCE CABIN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43000"/>
            <a:ext cx="4572000" cy="30175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25880"/>
            <a:ext cx="42062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主题:</a:t>
            </a: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健康舒适 + 智能表面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929384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874519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可进入 — 支持 4 人同时试乘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368296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31343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可试乘 — 4 套零重力座椅(前排含 180° 旋转)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807208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75234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可交互 — 语音 + 多屏触控 + 实体按键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24612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19125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可循环 — 日连续运行 ≥10 小时无 A 类故障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685031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3016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可迭代 — 预留扩展,支撑全球巡展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57800" y="114300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2377440"/>
            <a:ext cx="33832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 体验舱效果图占位 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2834640"/>
            <a:ext cx="3383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替换为造型渲染图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1:1 可进入 · 可试乘 · 可交互 · 可循环演示 · 可持续迭代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四大体验:一次进入,四重惊艳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FOUR WOW MOMENTS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1938528" cy="26060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1938528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37160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S1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141732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648" y="1417320"/>
            <a:ext cx="54864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B7185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874519"/>
            <a:ext cx="16276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迎宾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走近即点亮——星河迎宾+氛围灯流水+星空天幕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87752" y="1234440"/>
            <a:ext cx="1938528" cy="26060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87752" y="1234440"/>
            <a:ext cx="1938528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52344" y="137160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S2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1732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1417320"/>
            <a:ext cx="54864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B7185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2344" y="1874519"/>
            <a:ext cx="16276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健康舒适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2344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坐下被照顾——零重力+健康可视化+全车加热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2584" y="1234440"/>
            <a:ext cx="1938528" cy="26060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72584" y="1234440"/>
            <a:ext cx="1938528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37176" y="137160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S3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25312" y="141732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25312" y="1417320"/>
            <a:ext cx="54864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7176" y="1874519"/>
            <a:ext cx="16276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智能表面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7176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无屏即屏——IMSE 膜+自发光缝线+材质质感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7416" y="1234440"/>
            <a:ext cx="1938528" cy="26060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57416" y="1234440"/>
            <a:ext cx="1938528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22007" y="1371600"/>
            <a:ext cx="166420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S4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141732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3294E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0144" y="1417320"/>
            <a:ext cx="54864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7" y="1874519"/>
            <a:ext cx="162763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智能空间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7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一键变形——Console 展开+座椅 180° 旋转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每个场景都是『触发 → 系统响应 → 技术亮点 → 复位』的完整闭环,覆盖 ≥2 种交互方式。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 &amp; 安全可靠:量产级方法治理复杂度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ARCHITECTURE &amp; SAFETY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4023360" cy="1207008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43584"/>
            <a:ext cx="45720" cy="109728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3502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六层系统架构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演示/中央控制/显示视频/CAN FD 五域/节点执行/配电安全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188720"/>
            <a:ext cx="4023360" cy="1207008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17720" y="1243584"/>
            <a:ext cx="45720" cy="109728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33502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CAN FD 五域主干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737360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灯光/座椅/机构/舒适/加热健康 · ≥5Mbps · 单节点故障不影响整体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60320"/>
            <a:ext cx="4023360" cy="1207008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15184"/>
            <a:ext cx="45720" cy="109728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70662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硬件安全回路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108960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急停+STO+限位+电流防夹+加热超温自断 · 独立于软件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560320"/>
            <a:ext cx="4023360" cy="1207008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2615184"/>
            <a:ext cx="45720" cy="109728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270662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稳定与兜底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108960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≥10h 连续运行 · 100 次无故障 · 一键复位 ≤30s · 视频备用+离线运行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真实电气工程,而非模型搭建 —— 这套架构让『展会不出事、A 类零故障』的承诺有出处。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 周交付确定性:2026.07 启动 → 2027.01 终验收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30-WEEK ROADMAP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60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60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9519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9519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79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0239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30239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5599" y="1444751"/>
            <a:ext cx="97536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5599" y="1444751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59" y="1444751"/>
            <a:ext cx="731520" cy="237744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59" y="1444751"/>
            <a:ext cx="73152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D0D5E2"/>
                </a:solidFill>
                <a:latin typeface="Arial"/>
                <a:ea typeface="Arial"/>
                <a:cs typeface="Arial"/>
              </a:rPr>
              <a:t>27.01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4708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造型/CAS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1892807"/>
            <a:ext cx="3423513" cy="201168"/>
          </a:xfrm>
          <a:prstGeom prst="roundRect">
            <a:avLst>
              <a:gd name="adj" fmla="val 40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21284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硬件开发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55494" y="2258568"/>
            <a:ext cx="4871923" cy="201168"/>
          </a:xfrm>
          <a:prstGeom prst="roundRect">
            <a:avLst>
              <a:gd name="adj" fmla="val 4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7860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软件开发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2188" y="262432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94436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展车模型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45536" y="299008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3101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动画/交互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3355848"/>
            <a:ext cx="4740249" cy="201168"/>
          </a:xfrm>
          <a:prstGeom prst="roundRect">
            <a:avLst>
              <a:gd name="adj" fmla="val 40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675887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测试(前置)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79008" y="3721607"/>
            <a:ext cx="2633472" cy="201168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3739896" y="175564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55264" y="404164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M4 骨架</a:t>
            </a:r>
          </a:p>
        </p:txBody>
      </p:sp>
      <p:sp>
        <p:nvSpPr>
          <p:cNvPr id="38" name="Diamond 37"/>
          <p:cNvSpPr/>
          <p:nvPr/>
        </p:nvSpPr>
        <p:spPr>
          <a:xfrm>
            <a:off x="6110020" y="175564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5388" y="404164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M6 预验收</a:t>
            </a:r>
          </a:p>
        </p:txBody>
      </p:sp>
      <p:sp>
        <p:nvSpPr>
          <p:cNvPr id="40" name="Diamond 39"/>
          <p:cNvSpPr/>
          <p:nvPr/>
        </p:nvSpPr>
        <p:spPr>
          <a:xfrm>
            <a:off x="7887614" y="175564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2982" y="404164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M7 终验收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并行工程 + 测试 W18 前置;◆ 为里程碑(执行计划口径,合同关键节点以正式合同为准)。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商务与服务范围:价值而非成本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COMMERCIAL &amp; SERVICE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43000"/>
            <a:ext cx="4114800" cy="30175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97864"/>
            <a:ext cx="45720" cy="2907791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80160"/>
            <a:ext cx="374903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服务承诺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173736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免费质保期 ≥ 1 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30552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0848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展会驻场 ≥2 人 · A 类响应 ≤15min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523744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478024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远程支持 7×24 · ≤2 小时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2916936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71216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免费软件迭代 ≤3 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310128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264408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关键易损件供应 ≥3 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3703320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质保期展会支持 ≥10 次/16 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1143000"/>
            <a:ext cx="3840480" cy="30175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00600" y="1197864"/>
            <a:ext cx="45720" cy="2907791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报价结构(占位)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173736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造型与 CMF 设计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1755648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1755648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121408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工程与展车制作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2139696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2139696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2505456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电子电器与机构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2523744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2523744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889504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软件/HMI/集成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2907792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43800" y="2907792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273552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动画与传播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3291840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3291840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657600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展会保障与售后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675887"/>
            <a:ext cx="914400" cy="256032"/>
          </a:xfrm>
          <a:prstGeom prst="rect">
            <a:avLst/>
          </a:prstGeom>
          <a:solidFill>
            <a:srgbClr val="13294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3675887"/>
            <a:ext cx="91440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可按概念 / 工程 / 样机分阶段推进,每阶段有明确可验收交付物;具体投入基于项目范围当面测算。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PROVEN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这套打法,真把别的 Tier 1 送进了主机厂的门。下面按说服力排序:从带着创新走进宝马,到自有专利获捷豹路虎官方致谢,再到红点奖与百度 Apollo —— 同一套能力,可跨客户、跨场景复用。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案例证据链:按说服力排序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EVIDENCE, RANKED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43000"/>
            <a:ext cx="4023360" cy="1261872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197864"/>
            <a:ext cx="45720" cy="1152143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27101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常熟汽饰 × 宝马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655064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主导 iX-2024 隐藏式电动长滑轨等创新,全面负责对接与提案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075688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宝马创新开发契机 + 量产潜在机会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143000"/>
            <a:ext cx="4023360" cy="1261872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1197864"/>
            <a:ext cx="45720" cy="1152143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27101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椅背磁吸 × 捷豹路虎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655064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凭 JOMEC 自有专利总成做技术展示(BYOD 方案)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075688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JLR 认可 + 落地机会 + 官方感谢信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60320"/>
            <a:ext cx="4023360" cy="1261872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615184"/>
            <a:ext cx="45720" cy="1152143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68833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2024 德国红点奖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72384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JOMEC 负责申报;iX-2024 受邀两度赴德独立展示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93008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行业级设计认可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2560320"/>
            <a:ext cx="4023360" cy="1261872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2615184"/>
            <a:ext cx="45720" cy="1152143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268833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百度 Apollo 无人车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3072384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底盘/造型/工程/硬件/HMI/样车制作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493008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入藏北京汽车博物馆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「 我们让一家 Tier 1,带着创新走进了宝马的门。 」  —— 这是 PPT 讲不出来的说服力。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重点案例:JoySpace+ 与 船舶智慧驾驶舱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FLAGSHIP CASES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4023360" cy="28346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43584"/>
            <a:ext cx="45720" cy="272491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258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JoySpace+ × 均胜电子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37360"/>
            <a:ext cx="3657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沉浸式智能座舱 · 头部 Tier1 共创范式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194560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1488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赛博机能美学 · 连续性光导语言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633472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587752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再生涤纶环保选材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72384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026664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天空之镜水晶极光 · 飞控旋钮 · AI 智慧体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11296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465576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折叠方向盘 · 电子后视镜 · 星空顶篷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188720"/>
            <a:ext cx="4023360" cy="28346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1243584"/>
            <a:ext cx="45720" cy="272491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船舶智慧驾驶舱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1737360"/>
            <a:ext cx="3657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座舱创新跨场景延伸 · 能力可迁移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194560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1488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七屏智能中枢 + 数字孪生(国内首创)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33472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587752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人脸/手势/无感健康监测/AI 语音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72384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3026664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滑动方向舵 · 智慧海图桌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511296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3465576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180° 旋转座椅 · 自适应氛围灯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从汽车到船舶 —— 同一套造型+交互+软硬件+样机能力,证明创新方法论可迁移。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战略合作伙伴生态,提升项目技术含量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PARTNER 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938528" cy="5486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97864" y="1554480"/>
            <a:ext cx="548640" cy="54864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丰田通商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606040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世界 500 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926080"/>
            <a:ext cx="1719072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新技术新材料及开发支持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87752" y="137160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87752" y="1371600"/>
            <a:ext cx="1938528" cy="5486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82696" y="1554480"/>
            <a:ext cx="548640" cy="54864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82696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9192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CP-VELA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9192" y="2606040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国际气联认证工程服务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926080"/>
            <a:ext cx="1719072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新技术新材料开发支持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2584" y="137160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72584" y="1371600"/>
            <a:ext cx="1938528" cy="54864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67528" y="1554480"/>
            <a:ext cx="548640" cy="548640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67528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4024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百度 Apollo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4024" y="2606040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生态合作(燎原计划)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2926080"/>
            <a:ext cx="1719072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已达成生态合作伙伴关系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7416" y="137160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57416" y="1371600"/>
            <a:ext cx="1938528" cy="54864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452359" y="1554480"/>
            <a:ext cx="548640" cy="54864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59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48855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科思创 Covestro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8855" y="2606040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全球领先聚合物供应商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67144" y="2926080"/>
            <a:ext cx="1719072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聚氨酯蜂窝/红外透波 PC 等创新材料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生态合作不是背书装点,而是把新材料、新技术真正带进华翔的项目。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&amp;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12 个月后,华翔将不再是被动接收主机厂创新需求的硬件供应商,而是带着一台经得起拷问的样机、主导评审现场体验话题的创新合作方。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个月后的宁波华翔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STATE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4023360" cy="283464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43584"/>
            <a:ext cx="45720" cy="272491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258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你将拿到的(可验收)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874519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182880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 台全功能可交互样机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31343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267712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造型数据 + 交互原型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52344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2706624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软硬件方案 + 运动机构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191256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6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台架联调报告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630168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584448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可对外演示脚本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1188720"/>
            <a:ext cx="4023360" cy="2834640"/>
          </a:xfrm>
          <a:prstGeom prst="roundRect">
            <a:avLst>
              <a:gd name="adj" fmla="val 6000"/>
            </a:avLst>
          </a:prstGeom>
          <a:solidFill>
            <a:srgbClr val="0E1F3E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17720" y="1243584"/>
            <a:ext cx="45720" cy="2724912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竞争位置的转变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874519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000" b="0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 被动接收体验需求的硬件供应商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51460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880360"/>
            <a:ext cx="36576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带着能动样机、主导评审现场体验话题的创新合作方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下一次主机厂问『你们能做体验创新吗』,华翔的回答不是 PPT,是一台能让评委坐进去的样机。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41248" cy="786384"/>
          </a:xfrm>
          <a:prstGeom prst="rect">
            <a:avLst/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0"/>
            <a:ext cx="32004" cy="786384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841248" cy="7863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4B5E8C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91440"/>
            <a:ext cx="6949440" cy="4206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投资逻辑:一次定点的价值,远大于一台样机的投入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02920"/>
            <a:ext cx="6949440" cy="2377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VALUE, NOT COST</a:t>
            </a:r>
          </a:p>
        </p:txBody>
      </p:sp>
      <p:sp>
        <p:nvSpPr>
          <p:cNvPr id="8" name="Oval 7"/>
          <p:cNvSpPr/>
          <p:nvPr/>
        </p:nvSpPr>
        <p:spPr>
          <a:xfrm>
            <a:off x="8339327" y="201168"/>
            <a:ext cx="384048" cy="384048"/>
          </a:xfrm>
          <a:prstGeom prst="ellipse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0" y="274320"/>
            <a:ext cx="237744" cy="237744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8138160" cy="8229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9304"/>
            <a:ext cx="45720" cy="7132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34440"/>
            <a:ext cx="301752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你买的不是设计工时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234440"/>
            <a:ext cx="457200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而是 L3 全功能可交互样机 —— 不是 L1 造型舱,也不是 L2 视频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94560"/>
            <a:ext cx="8138160" cy="8229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49424"/>
            <a:ext cx="45720" cy="71323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94560"/>
            <a:ext cx="301752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你买的不是一次性概念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194560"/>
            <a:ext cx="457200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而是自有专利创新库 —— IP 干净、可复用、规避侵权风险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154680"/>
            <a:ext cx="8138160" cy="82296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209544"/>
            <a:ext cx="45720" cy="713232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54680"/>
            <a:ext cx="301752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你买的不是本土概念能力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154680"/>
            <a:ext cx="457200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而是德系量产级标准 + 中国速度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34256"/>
            <a:ext cx="8138160" cy="402336"/>
          </a:xfrm>
          <a:prstGeom prst="roundRect">
            <a:avLst>
              <a:gd name="adj" fmla="val 30000"/>
            </a:avLst>
          </a:prstGeom>
          <a:solidFill>
            <a:srgbClr val="13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34256"/>
            <a:ext cx="82296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用一台样机的成本,守住或赢得一次主机厂定点的机会 —— 把投入放回它真正的语境。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28032"/>
            <a:ext cx="8138160" cy="10972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55464"/>
            <a:ext cx="548640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AEBAD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55464"/>
            <a:ext cx="41148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NEXT STEP · 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先来一场 60 分钟的现场样机演示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不必先谈定点。让华翔团队亲眼看一台 L3 全功能可交互样机能做什么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—— 这是最轻的一步,也是最有说服力的一步。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7863840" cy="960120"/>
          </a:xfrm>
          <a:prstGeom prst="roundRect">
            <a:avLst>
              <a:gd name="adj" fmla="val 6000"/>
            </a:avLst>
          </a:prstGeom>
          <a:solidFill>
            <a:srgbClr val="10204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300984"/>
            <a:ext cx="45720" cy="850392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64992"/>
            <a:ext cx="74066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联系我们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严 艇 Tim  17740838008 ｜ tim@jomecdesign.com      李成龙 Jason  15000763365 ｜ jason@jomecdesign.com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上海卓迈汽车技术有限公司  ｜  www.jomec-auto.com  ｜  JOMEC · SHAPING THE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
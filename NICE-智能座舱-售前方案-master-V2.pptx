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64008" cy="5029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960120"/>
            <a:ext cx="7315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JOMEC ｜ 卓迈   ·   智能座舱创新 DEMO 样机解决方案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8046720" cy="12801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把硬件优势,变成主机厂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面前的</a:t>
            </a:r>
            <a:r>
              <a:rPr sz="330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体验话语权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383280"/>
            <a:ext cx="78638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NICE 智能座舱体验舱 · 整包样机方案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886200"/>
            <a:ext cx="2377440" cy="18288"/>
          </a:xfrm>
          <a:prstGeom prst="rect">
            <a:avLst/>
          </a:prstGeom>
          <a:solidFill>
            <a:srgbClr val="2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8046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呈送:宁波华翔</a:t>
            </a:r>
            <a:r>
              <a:rPr sz="11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    面向头部零部件企业(Tier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26280"/>
            <a:ext cx="804672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上海卓迈 JOMEC   |   2026.06   |   机密·仅限指定收件方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目录:六段旅程,一条完整说服链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CONTENTS · THE WINNING PATH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1097280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109728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22376" y="1280160"/>
            <a:ext cx="566928" cy="566928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128016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1280160"/>
            <a:ext cx="29718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你的处境与机会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17320" y="1645919"/>
            <a:ext cx="30175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主机厂要求抬升 · L1→L4 能力阶梯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17720" y="1097280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27448" y="1097280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837176" y="1280160"/>
            <a:ext cx="566928" cy="566928"/>
          </a:xfrm>
          <a:prstGeom prst="ellipse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37176" y="128016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1280160"/>
            <a:ext cx="29718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我们是谁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32120" y="1645919"/>
            <a:ext cx="30175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一站式责任主体 · 德系×中国速度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2194560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2648" y="2194560"/>
            <a:ext cx="38039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22376" y="2377440"/>
            <a:ext cx="566928" cy="566928"/>
          </a:xfrm>
          <a:prstGeom prst="ellipse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237744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17320" y="2377440"/>
            <a:ext cx="29718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样机解决方案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17320" y="2743200"/>
            <a:ext cx="30175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样机真假 · 量产级工程底座 · 专利库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617720" y="2194560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27448" y="219456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837176" y="2377440"/>
            <a:ext cx="566928" cy="566928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237744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32120" y="2377440"/>
            <a:ext cx="29718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落到 NICE 体验舱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32120" y="2743200"/>
            <a:ext cx="30175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4 场景 · 系统架构 · 30 周计划 · 商务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02920" y="3291839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12648" y="3291839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22376" y="3474719"/>
            <a:ext cx="566928" cy="566928"/>
          </a:xfrm>
          <a:prstGeom prst="ellipse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2376" y="3474719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17320" y="3474720"/>
            <a:ext cx="29718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验证过的赢法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17320" y="3840479"/>
            <a:ext cx="30175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案例证据链 · 红点/宝马/Apollo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617720" y="3291839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727448" y="3291839"/>
            <a:ext cx="380390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837176" y="3474719"/>
            <a:ext cx="566928" cy="566928"/>
          </a:xfrm>
          <a:prstGeom prst="ellipse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837176" y="3474719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32120" y="3474720"/>
            <a:ext cx="29718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你将得到什么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32120" y="3840479"/>
            <a:ext cx="30175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12 个月后状态 · 投资逻辑 · 下一步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64008" cy="14173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76809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NEW STANDARD FROM OEMs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691640"/>
            <a:ext cx="7863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你的处境与机会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926080"/>
            <a:ext cx="7772400" cy="868680"/>
          </a:xfrm>
          <a:prstGeom prst="roundRect">
            <a:avLst>
              <a:gd name="adj" fmla="val 8000"/>
            </a:avLst>
          </a:prstGeom>
          <a:solidFill>
            <a:srgbClr val="112A5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740664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主机厂正把『用户体验创新』写进定点评判标准,并向内外饰一级供应商传导。对以制造与总成见长的华翔,补齐『前瞻造型—交互—电子软硬件—可落地样机』这条能力链,已不是加分项,而是守住订单的前提。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行业拐点:主机厂要求,从『供零件』走向『供体验』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THE BAR IS RISING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987552"/>
            <a:ext cx="8138160" cy="566928"/>
          </a:xfrm>
          <a:prstGeom prst="roundRect">
            <a:avLst>
              <a:gd name="adj" fmla="val 12000"/>
            </a:avLst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1060704"/>
            <a:ext cx="54864" cy="420623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" y="987552"/>
            <a:ext cx="777240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趋势 · </a:t>
            </a: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老轮机长贴着机舱壁一听就知道哪个缸不对——主机厂的『耳朵』也在变:从听质量,到听你懂不懂体验。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1737360"/>
            <a:ext cx="193852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2648" y="1737360"/>
            <a:ext cx="171907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1901952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L1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2395728"/>
            <a:ext cx="157276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供零件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2761488"/>
            <a:ext cx="1572768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按图交付合格零部件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429000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成本·质量·交期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87752" y="1737360"/>
            <a:ext cx="193852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697480" y="1737360"/>
            <a:ext cx="171907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70632" y="1901952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L2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70632" y="2395728"/>
            <a:ext cx="157276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供模块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70632" y="2761488"/>
            <a:ext cx="1572768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交付集成化总成模块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70632" y="3429000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集成度·可靠性·降本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72584" y="1737360"/>
            <a:ext cx="193852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782312" y="1737360"/>
            <a:ext cx="171907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672584" y="1737360"/>
            <a:ext cx="1938528" cy="210312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55464" y="1901952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L3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55464" y="2395728"/>
            <a:ext cx="157276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供体验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55464" y="2761488"/>
            <a:ext cx="1572768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参与定义座舱体验创新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55464" y="3429000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前瞻造型·交互·电子·机构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57416" y="1737360"/>
            <a:ext cx="193852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67144" y="1737360"/>
            <a:ext cx="171907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757416" y="1737360"/>
            <a:ext cx="1938528" cy="210312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40296" y="1901952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A1BDF"/>
                </a:solidFill>
                <a:latin typeface="Arial"/>
                <a:ea typeface="Arial"/>
                <a:cs typeface="Arial"/>
              </a:rPr>
              <a:t>L4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40296" y="2395728"/>
            <a:ext cx="157276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供创新合作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40296" y="2761488"/>
            <a:ext cx="1572768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成为主机厂共创伙伴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40296" y="3429000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主导话题·带样机进评审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华翔今天正卡在 L2 → L3 的台阶上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制造与模块能力扎实,但『供体验』所需的综合能力,正是缺口。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迈向『供体验』:你要补齐的四块 + 一个保障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THE GAP &amp; HOW JOMEC FILLS IT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1024128"/>
            <a:ext cx="21945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要补的能力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1024128"/>
            <a:ext cx="27432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JOMEC 补齐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102412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对你意味着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1325880"/>
            <a:ext cx="8138160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2648" y="1325880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1325880"/>
            <a:ext cx="45720" cy="45720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1325880"/>
            <a:ext cx="237744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前瞻造型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1325880"/>
            <a:ext cx="283464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德系履历造型团队 + CAS 快速建模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1325880"/>
            <a:ext cx="246888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拿得出让主机厂眼前一亮的造型语言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1856231"/>
            <a:ext cx="8138160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2648" y="1856231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1856231"/>
            <a:ext cx="45720" cy="45720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3232" y="1856231"/>
            <a:ext cx="237744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交互 / UI / UX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0" y="1856231"/>
            <a:ext cx="283464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完整交互系统开发(UI/UX/动效/VR)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1856231"/>
            <a:ext cx="246888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正中主机厂体验创新的新需求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2386584"/>
            <a:ext cx="8138160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2648" y="2386584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02920" y="2386584"/>
            <a:ext cx="45720" cy="45720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3232" y="2386584"/>
            <a:ext cx="237744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电子软硬件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0" y="2386584"/>
            <a:ext cx="283464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自研车规级控制器 + 嵌入式集成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2386584"/>
            <a:ext cx="246888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软硬件自主可控,不被第三方卡脖子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2916935"/>
            <a:ext cx="8138160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2648" y="2916935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2916935"/>
            <a:ext cx="45720" cy="45720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3232" y="2916935"/>
            <a:ext cx="237744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运动机构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2916935"/>
            <a:ext cx="283464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量产级机构(折叠方向盘达上汽量产)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2916935"/>
            <a:ext cx="246888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最难的机构有人兜底,还能上车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02920" y="3447287"/>
            <a:ext cx="8138160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2648" y="3447287"/>
            <a:ext cx="79187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2920" y="3447287"/>
            <a:ext cx="45720" cy="4572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3232" y="3447287"/>
            <a:ext cx="237744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责任归属(保障)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0" y="3447287"/>
            <a:ext cx="283464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五位一体单一责任主体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26480" y="3447287"/>
            <a:ext cx="246888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你只对接一家,不背协同的锅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64008" cy="14173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76809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COMPANY &amp;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691640"/>
            <a:ext cx="7863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我们是谁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926080"/>
            <a:ext cx="7772400" cy="868680"/>
          </a:xfrm>
          <a:prstGeom prst="roundRect">
            <a:avLst>
              <a:gd name="adj" fmla="val 8000"/>
            </a:avLst>
          </a:prstGeom>
          <a:solidFill>
            <a:srgbClr val="112A5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740664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卓迈 JOMEC,国内少数能同时交付造型、交互、电子与量产级机构的创新公司。成立于 2011 年,核心团队来自国内主流车企与科技公司,融合设计、工程、心理学与人因工程,既懂德系高标准,又懂中国量产节奏。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公司概况:造型 + 交互 + 电子 + 量产级机构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COMPANY PROFILE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1005840"/>
            <a:ext cx="81381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五大基地 · 一条龙能力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1325880"/>
            <a:ext cx="155448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2648" y="1325880"/>
            <a:ext cx="133502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1536192"/>
            <a:ext cx="155448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上海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1938528"/>
            <a:ext cx="1371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前瞻中心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130552" y="1325880"/>
            <a:ext cx="155448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40280" y="1325880"/>
            <a:ext cx="133502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30552" y="1536192"/>
            <a:ext cx="155448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昆山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21992" y="1938528"/>
            <a:ext cx="1371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创新研发&amp;试制中心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58184" y="1325880"/>
            <a:ext cx="155448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867912" y="1325880"/>
            <a:ext cx="133502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58184" y="1536192"/>
            <a:ext cx="155448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柳州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9624" y="1938528"/>
            <a:ext cx="1371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数字化中心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385816" y="1325880"/>
            <a:ext cx="155448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95544" y="1325880"/>
            <a:ext cx="133502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85816" y="1536192"/>
            <a:ext cx="155448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杭州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77255" y="1938528"/>
            <a:ext cx="1371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JOMEC×CAA 工作室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013448" y="1325880"/>
            <a:ext cx="155448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123176" y="1325880"/>
            <a:ext cx="133502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13448" y="1536192"/>
            <a:ext cx="155448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宁波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04888" y="1938528"/>
            <a:ext cx="1371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产品生产基地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2651760"/>
            <a:ext cx="3977639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2648" y="2651760"/>
            <a:ext cx="3758183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" y="2816352"/>
            <a:ext cx="356616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开发业务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3154680"/>
            <a:ext cx="356616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未来出行造型开发 · 交互设计 · 智能座舱创新开发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663440" y="2651760"/>
            <a:ext cx="3977639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773168" y="2651760"/>
            <a:ext cx="3758183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892040" y="2816352"/>
            <a:ext cx="356616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产品业务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92040" y="3154680"/>
            <a:ext cx="356616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座舱智能总成产品研发及供货 · 量产交付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卓迈使命:塑造更美好的未来生活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始终创业 · 求真务实 · 敢为极致 · 共同成长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服务全景:从调研到生产,覆盖创新开发全链条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OUR SERVICES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1325880"/>
            <a:ext cx="157276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1325880"/>
            <a:ext cx="135331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4984" y="1554480"/>
            <a:ext cx="548640" cy="548640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1554480"/>
            <a:ext cx="548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" y="2240280"/>
            <a:ext cx="14630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交通工具调研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" y="2743200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竞品·趋势·用户·策略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7400" y="1737360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8A95AB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03704" y="1325880"/>
            <a:ext cx="157276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13432" y="1325880"/>
            <a:ext cx="135331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715768" y="1554480"/>
            <a:ext cx="548640" cy="548640"/>
          </a:xfrm>
          <a:prstGeom prst="ellipse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15768" y="1554480"/>
            <a:ext cx="548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58568" y="2240280"/>
            <a:ext cx="14630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交通工具设计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58568" y="2743200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概念·内外饰·CMF·A级曲面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58184" y="1737360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8A95AB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04488" y="1325880"/>
            <a:ext cx="157276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14216" y="1325880"/>
            <a:ext cx="135331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416552" y="1554480"/>
            <a:ext cx="548640" cy="548640"/>
          </a:xfrm>
          <a:prstGeom prst="ellipse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16552" y="1554480"/>
            <a:ext cx="548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59352" y="2240280"/>
            <a:ext cx="14630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展车与原型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9352" y="2743200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CNC·3D打印·油泥·功能样机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58968" y="1737360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8A95AB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05272" y="1325880"/>
            <a:ext cx="157276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715000" y="1325880"/>
            <a:ext cx="135331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17336" y="1554480"/>
            <a:ext cx="548640" cy="548640"/>
          </a:xfrm>
          <a:prstGeom prst="ellipse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17336" y="1554480"/>
            <a:ext cx="548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0136" y="2240280"/>
            <a:ext cx="14630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UX-UI 设计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0136" y="2743200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HMI·体验·动效·软件·VR/AR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59752" y="1737360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8A95AB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06056" y="1325880"/>
            <a:ext cx="157276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15783" y="1325880"/>
            <a:ext cx="135331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818119" y="1554480"/>
            <a:ext cx="548640" cy="548640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818119" y="1554480"/>
            <a:ext cx="548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60920" y="2240280"/>
            <a:ext cx="14630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生产制造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60920" y="2743200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快速原型·功能样件·量产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调研 → 设计 → 原型 → 体验 → 制造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创新不会断在任何一个交接环节。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团队:德系深度 × 中国速度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TEAM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1051560"/>
            <a:ext cx="40233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105156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76656" y="1271016"/>
            <a:ext cx="475488" cy="475488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1271016"/>
            <a:ext cx="475488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2728" y="1170431"/>
            <a:ext cx="310896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严 艇 Tim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52728" y="1444751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CEO · 中国美院客座教授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52728" y="1673352"/>
            <a:ext cx="31546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江苏省双创人才;AI 驱动座舱创新方向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17720" y="1051560"/>
            <a:ext cx="40233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727448" y="1051560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91456" y="1271016"/>
            <a:ext cx="475488" cy="475488"/>
          </a:xfrm>
          <a:prstGeom prst="ellipse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91456" y="1271016"/>
            <a:ext cx="475488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67528" y="1170431"/>
            <a:ext cx="310896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黄 斌 Burt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67528" y="1444751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联合创始人 · 造型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67528" y="1673352"/>
            <a:ext cx="31546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前泛亚汽车技术中心设计执行总监;25 年经验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2011680"/>
            <a:ext cx="40233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2648" y="2011680"/>
            <a:ext cx="380390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76656" y="2231136"/>
            <a:ext cx="475488" cy="475488"/>
          </a:xfrm>
          <a:prstGeom prst="ellipse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6656" y="2231136"/>
            <a:ext cx="475488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52728" y="2130552"/>
            <a:ext cx="310896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Alexander Zeth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52728" y="2404872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联合创始人 · 设计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52728" y="2633472"/>
            <a:ext cx="31546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德籍;前 EDAG 资深设计师;服务宝马/奥迪/大众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617720" y="2011680"/>
            <a:ext cx="40233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727448" y="2011680"/>
            <a:ext cx="38039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791456" y="2231136"/>
            <a:ext cx="475488" cy="475488"/>
          </a:xfrm>
          <a:prstGeom prst="ellipse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91456" y="2231136"/>
            <a:ext cx="475488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67528" y="2130552"/>
            <a:ext cx="310896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徐康聪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67528" y="2404872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总工程师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67528" y="2633472"/>
            <a:ext cx="31546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德国布伦瑞克博士后;两获中国汽车工业科学进步奖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02920" y="310896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F4F7FC"/>
          </a:solidFill>
          <a:ln w="9525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3108960"/>
            <a:ext cx="260604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IATF16949 全量产流程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27832" y="310896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F4F7FC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227832" y="3108960"/>
            <a:ext cx="260604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中国美院 CAA 联合前瞻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952744" y="310896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F4F7FC"/>
          </a:solidFill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952744" y="3108960"/>
            <a:ext cx="260604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两度赴德:宝马/奔驰/大众/奥迪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既懂德系高标准,又懂中国量产节奏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这是大多数本土与外资团队都给不齐的组合。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组织协同:四大能力中心,收敛于一个责任主体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ONE-STOP ACCOUNTABILITY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1097280"/>
            <a:ext cx="1938528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1097280"/>
            <a:ext cx="171907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2648" y="1280160"/>
            <a:ext cx="1719072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造型设计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1719072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前瞻·内外造型·CMF·CAS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87752" y="1097280"/>
            <a:ext cx="1938528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97480" y="1097280"/>
            <a:ext cx="171907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97480" y="1280160"/>
            <a:ext cx="1719072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交互系统开发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79192" y="1719072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UI/UX·动效·VR 内容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72584" y="1097280"/>
            <a:ext cx="1938528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782312" y="1097280"/>
            <a:ext cx="171907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82312" y="1280160"/>
            <a:ext cx="1719072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软硬件开发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64024" y="1719072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座舱系统·嵌入式·测试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57416" y="1097280"/>
            <a:ext cx="1938528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867144" y="1097280"/>
            <a:ext cx="171907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67144" y="1280160"/>
            <a:ext cx="1719072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展车模型制作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48855" y="1719072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原型车·工艺·交付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2423160"/>
            <a:ext cx="1938528" cy="114300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2648" y="2606040"/>
            <a:ext cx="17190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协同合作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" y="2999232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各团队无缝对接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87752" y="2423160"/>
            <a:ext cx="1938528" cy="114300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697480" y="2606040"/>
            <a:ext cx="17190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效率提升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79192" y="2999232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减少沟通壁垒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672584" y="2423160"/>
            <a:ext cx="1938528" cy="114300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82312" y="2606040"/>
            <a:ext cx="17190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同步工作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64024" y="2999232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并行模式推进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757416" y="2423160"/>
            <a:ext cx="1938528" cy="114300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67144" y="2606040"/>
            <a:ext cx="17190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责任归属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48855" y="2999232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清晰界定·根源解决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智能座舱 · 一站式 · 解决方案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你只对接一个责任主体,协同出的问题由我们兜底。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64008" cy="14173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76809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DEMO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691640"/>
            <a:ext cx="7863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样机解决方案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926080"/>
            <a:ext cx="7772400" cy="868680"/>
          </a:xfrm>
          <a:prstGeom prst="roundRect">
            <a:avLst>
              <a:gd name="adj" fmla="val 8000"/>
            </a:avLst>
          </a:prstGeom>
          <a:solidFill>
            <a:srgbClr val="112A5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740664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样机有真假之分,主机厂评审现场见分晓。能摸、能动、能现场联调、过信号干涉测试的 L3 全功能可交互样机,才扛得住工程拷问 —— 这正是 JOMEC 与造型模型公司的根本分野。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重新定义品类:样机有真假之分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REAL vs FAKE DEMO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987552"/>
            <a:ext cx="8138160" cy="566928"/>
          </a:xfrm>
          <a:prstGeom prst="roundRect">
            <a:avLst>
              <a:gd name="adj" fmla="val 12000"/>
            </a:avLst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1060704"/>
            <a:ext cx="54864" cy="420623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" y="987552"/>
            <a:ext cx="777240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评审现场 · </a:t>
            </a: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好看的壳子 + 假屏,评委一问『能动吗』就卡住;唯有能摸能动、过信号干涉测试的样机,才取信工程评委。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1755648"/>
            <a:ext cx="26517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2648" y="1755648"/>
            <a:ext cx="2432304" cy="45720"/>
          </a:xfrm>
          <a:prstGeom prst="rect">
            <a:avLst/>
          </a:prstGeom>
          <a:solidFill>
            <a:srgbClr val="C2C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1901952"/>
            <a:ext cx="22860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8A95AB"/>
                </a:solidFill>
                <a:latin typeface="Arial"/>
                <a:ea typeface="Arial"/>
                <a:cs typeface="Arial"/>
              </a:rPr>
              <a:t>L1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2331720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静态造型舱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2697480"/>
            <a:ext cx="22860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好看的壳子 + 假屏。只能看、能拍照;一问能动吗就卡住。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73552" y="1755648"/>
            <a:ext cx="26517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83280" y="1755648"/>
            <a:ext cx="2432304" cy="45720"/>
          </a:xfrm>
          <a:prstGeom prst="rect">
            <a:avLst/>
          </a:prstGeom>
          <a:solidFill>
            <a:srgbClr val="C2C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56432" y="1901952"/>
            <a:ext cx="22860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8A95AB"/>
                </a:solidFill>
                <a:latin typeface="Arial"/>
                <a:ea typeface="Arial"/>
                <a:cs typeface="Arial"/>
              </a:rPr>
              <a:t>L2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56432" y="2331720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数字孪生 / 视频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56432" y="2697480"/>
            <a:ext cx="22860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屏幕里的炫酷演示。只能播放;摸不到、难取信评委。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44184" y="1755648"/>
            <a:ext cx="26517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53912" y="1755648"/>
            <a:ext cx="24323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044184" y="1755648"/>
            <a:ext cx="2651760" cy="16002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27064" y="1901952"/>
            <a:ext cx="22860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L3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27064" y="2331720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全功能可交互样机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7064" y="2697480"/>
            <a:ext cx="22860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能摸、能动、能现场联调、过信号干涉测试。扛工程拷问。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JOMEC 的定义:能力闭环 · 单一责任主体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造型→交互→软硬件→机构→样机,协同出的问题我们兜底。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差异化证据:能动样机背后,是量产级工程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THE ENGINEERING BASE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109728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1097280"/>
            <a:ext cx="24323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1252728"/>
            <a:ext cx="457200" cy="457200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1252728"/>
            <a:ext cx="4572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2728" y="1280160"/>
            <a:ext cx="1828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测试台架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1828800"/>
            <a:ext cx="22860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把风险提前到样机阶段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2194560"/>
            <a:ext cx="2286000" cy="12344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样机进评审室前,先在台架把问题出完:总线/信号干涉/娱乐/氛围灯/机构/多屏/散热/多模态/识别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3429000"/>
            <a:ext cx="2286000" cy="347472"/>
          </a:xfrm>
          <a:prstGeom prst="roundRect">
            <a:avLst>
              <a:gd name="adj" fmla="val 40000"/>
            </a:avLst>
          </a:prstGeom>
          <a:solidFill>
            <a:srgbClr val="F4F7FC"/>
          </a:solidFill>
          <a:ln w="9525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3429000"/>
            <a:ext cx="228600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9 项联调验证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73552" y="109728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3280" y="1097280"/>
            <a:ext cx="24323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456432" y="1252728"/>
            <a:ext cx="457200" cy="457200"/>
          </a:xfrm>
          <a:prstGeom prst="ellipse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56432" y="1252728"/>
            <a:ext cx="4572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23360" y="1280160"/>
            <a:ext cx="1828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运动机构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56432" y="1828800"/>
            <a:ext cx="22860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最难的开闭件已到量产级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56432" y="2194560"/>
            <a:ext cx="2286000" cy="12344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折叠方向盘达上汽乘用车量产级并完成装车联调;鸥翼门/侧门应用于百度 Apollo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456432" y="3429000"/>
            <a:ext cx="2286000" cy="347472"/>
          </a:xfrm>
          <a:prstGeom prst="roundRect">
            <a:avLst>
              <a:gd name="adj" fmla="val 40000"/>
            </a:avLst>
          </a:prstGeom>
          <a:solidFill>
            <a:srgbClr val="F4F7FC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56432" y="3429000"/>
            <a:ext cx="228600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上汽量产级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44184" y="109728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53912" y="1097280"/>
            <a:ext cx="24323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227064" y="1252728"/>
            <a:ext cx="457200" cy="457200"/>
          </a:xfrm>
          <a:prstGeom prst="ellipse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27064" y="1252728"/>
            <a:ext cx="4572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93992" y="1280160"/>
            <a:ext cx="1828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自研车规控制器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7064" y="1828800"/>
            <a:ext cx="22860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软硬件是自己的,不外包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27064" y="2194560"/>
            <a:ext cx="2286000" cy="12344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已自研 5 类实物控制器:通用/多路通断/RGB 氛围灯/三相电机驱动/小型舵机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27064" y="3429000"/>
            <a:ext cx="2286000" cy="347472"/>
          </a:xfrm>
          <a:prstGeom prst="roundRect">
            <a:avLst>
              <a:gd name="adj" fmla="val 40000"/>
            </a:avLst>
          </a:prstGeom>
          <a:solidFill>
            <a:srgbClr val="F4F7FC"/>
          </a:solidFill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27064" y="3429000"/>
            <a:ext cx="228600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5 类自研控制器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反复出现的『量产级』『车规』『通过性能测试』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这是 JOMEC 与造型模型公司的根本分野。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降低决策风险:自有专利创新库,即插即用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OWNED-PATENT LIBRARY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105156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1051560"/>
            <a:ext cx="24323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1179576"/>
            <a:ext cx="1645919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透光表面 ShyTech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240280" y="1179576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40280" y="1179576"/>
            <a:ext cx="777240" cy="2743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华翔主场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1527048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去物理按键仍保留全部开关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" y="1837943"/>
            <a:ext cx="2377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900–1200lm/m²·寿命5万h·透光92%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73552" y="105156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383280" y="1051560"/>
            <a:ext cx="24323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38144" y="1179576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隐藏式电动长滑轨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38144" y="1527048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把『第三空间』做出来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38144" y="1837943"/>
            <a:ext cx="2377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承重15kg·收纳740×560×270·30°爬坡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44184" y="105156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53912" y="1051560"/>
            <a:ext cx="24323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08776" y="1179576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椅背磁吸智联拓展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08776" y="1527048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屏幕/平板即吸即用+无线充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08776" y="1837943"/>
            <a:ext cx="2377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90°旋转·磁吸+无线充·减少凸露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865376" y="251460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75104" y="2514600"/>
            <a:ext cx="243230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29968" y="2642616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重力感应升降杯托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29968" y="2990088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自动感知适应物品重量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29968" y="3300984"/>
            <a:ext cx="2377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寿命≥10万次·IPX4·20°不洒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38344" y="251460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148072" y="2514600"/>
            <a:ext cx="24323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02936" y="2642616"/>
            <a:ext cx="23774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折叠方向盘机构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02936" y="2990088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释放驾驶位空间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02936" y="3300984"/>
            <a:ext cx="2377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已达上汽量产级·与线控转向同步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02920" y="3950208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7240" y="3950208"/>
            <a:ext cx="758952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这些是 JOMEC 自有专利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你拿到的是干净、可申报的创新点,而不是侵权风险。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交付路径:从概念到可演示样机,每阶段都验收到弹药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DELIVERY PATH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1143000"/>
            <a:ext cx="265176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1143000"/>
            <a:ext cx="24323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76656" y="1316736"/>
            <a:ext cx="566928" cy="566928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1316736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1389888"/>
            <a:ext cx="173736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概念阶段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2148840"/>
            <a:ext cx="22860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创新切入点定义 · CAS 造型 · 交互原型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3108960"/>
            <a:ext cx="2286000" cy="502920"/>
          </a:xfrm>
          <a:prstGeom prst="roundRect">
            <a:avLst>
              <a:gd name="adj" fmla="val 15000"/>
            </a:avLst>
          </a:prstGeom>
          <a:solidFill>
            <a:srgbClr val="F4F7FC"/>
          </a:solidFill>
          <a:ln w="9525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3108960"/>
            <a:ext cx="21031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可沟通:方向与亮点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1828800"/>
            <a:ext cx="2743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8A95AB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73552" y="1143000"/>
            <a:ext cx="265176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3280" y="1143000"/>
            <a:ext cx="24323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447288" y="1316736"/>
            <a:ext cx="566928" cy="566928"/>
          </a:xfrm>
          <a:prstGeom prst="ellipse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47288" y="1316736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42232" y="1389888"/>
            <a:ext cx="173736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工程阶段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56432" y="2148840"/>
            <a:ext cx="22860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运动机构方案 · 线束 3D · 软硬件架构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56432" y="3108960"/>
            <a:ext cx="2286000" cy="502920"/>
          </a:xfrm>
          <a:prstGeom prst="roundRect">
            <a:avLst>
              <a:gd name="adj" fmla="val 15000"/>
            </a:avLst>
          </a:prstGeom>
          <a:solidFill>
            <a:srgbClr val="F4F7FC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47872" y="3108960"/>
            <a:ext cx="21031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可沟通:可行性与深度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79592" y="1828800"/>
            <a:ext cx="2743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8A95AB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44184" y="1143000"/>
            <a:ext cx="265176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53912" y="1143000"/>
            <a:ext cx="24323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217920" y="1316736"/>
            <a:ext cx="566928" cy="566928"/>
          </a:xfrm>
          <a:prstGeom prst="ellipse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17920" y="1316736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12864" y="1389888"/>
            <a:ext cx="173736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样机阶段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7064" y="2148840"/>
            <a:ext cx="22860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台架联调通过 · 全功能可交互样机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27064" y="3108960"/>
            <a:ext cx="2286000" cy="502920"/>
          </a:xfrm>
          <a:prstGeom prst="roundRect">
            <a:avLst>
              <a:gd name="adj" fmla="val 15000"/>
            </a:avLst>
          </a:prstGeom>
          <a:solidFill>
            <a:srgbClr val="F4F7FC"/>
          </a:solidFill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18504" y="3108960"/>
            <a:ext cx="21031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可沟通:能现场演示的实物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UX 研究流程与 IATF16949 工程流程融合为一条主线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每个节点都翻译成『你能对主机厂说的话』。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64008" cy="14173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76809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NICE EXPERIENCE CABIN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691640"/>
            <a:ext cx="7863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落到 NICE:体验舱整包方案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926080"/>
            <a:ext cx="7772400" cy="868680"/>
          </a:xfrm>
          <a:prstGeom prst="roundRect">
            <a:avLst>
              <a:gd name="adj" fmla="val 8000"/>
            </a:avLst>
          </a:prstGeom>
          <a:solidFill>
            <a:srgbClr val="112A5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740664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NICE 智能座舱体验舱,就是上述 L3 全功能可交互样机能力的旗舰落地。以下是我们对华翔这个具体项目已经想到的深度 —— 从体验场景、系统架构、安全可靠,到 30 周交付计划与商务。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NICE 体验舱:健康舒适 + 智能表面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THE EXPERIENCE CABIN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1097280"/>
            <a:ext cx="45720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1097280"/>
            <a:ext cx="435254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1280160"/>
            <a:ext cx="42062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主题: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健康舒适 + 智能表面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" y="182880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1783080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可进入 — 支持 4 人同时试乘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" y="2231136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2185416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可试乘 — 4 套零重力座椅(前排含 180° 旋转)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2633472"/>
            <a:ext cx="109728" cy="109728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" y="2587752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可交互 — 语音 + 多屏触控 + 实体按键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" y="3035808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2990088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可循环 — 日连续运行 ≥10 小时无 A 类故障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" y="3438144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2688" y="3392424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可迭代 — 预留扩展,支撑全球巡展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257800" y="1097280"/>
            <a:ext cx="3383280" cy="27432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57800" y="2240280"/>
            <a:ext cx="338328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〔 体验舱效果图占位 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2697480"/>
            <a:ext cx="3383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替换为造型渲染图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1:1 可进入 · 可试乘 · 可交互 · 可循环演示 · 可持续迭代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四大体验:一次进入,四重惊艳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FOUR WOW MOMENTS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1097280"/>
            <a:ext cx="1938528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1097280"/>
            <a:ext cx="171907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9224" y="1243584"/>
            <a:ext cx="475488" cy="475488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" y="1243584"/>
            <a:ext cx="475488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16152" y="1280160"/>
            <a:ext cx="1161288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迎宾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" y="1874519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4F7FC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1874519"/>
            <a:ext cx="5029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F43F5E"/>
                </a:solidFill>
                <a:latin typeface="Arial"/>
                <a:ea typeface="Arial"/>
                <a:cs typeface="Arial"/>
              </a:rPr>
              <a:t>P0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228600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走近即点亮——星河迎宾+氛围灯流水+星空天幕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587752" y="1097280"/>
            <a:ext cx="1938528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697480" y="1097280"/>
            <a:ext cx="171907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734056" y="1243584"/>
            <a:ext cx="475488" cy="475488"/>
          </a:xfrm>
          <a:prstGeom prst="ellipse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34056" y="1243584"/>
            <a:ext cx="475488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00984" y="1280160"/>
            <a:ext cx="1161288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健康舒适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52344" y="1874519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4F7FC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52344" y="1874519"/>
            <a:ext cx="5029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F43F5E"/>
                </a:solidFill>
                <a:latin typeface="Arial"/>
                <a:ea typeface="Arial"/>
                <a:cs typeface="Arial"/>
              </a:rPr>
              <a:t>P0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52344" y="228600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坐下被照顾——零重力+健康可视化+全车加热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672584" y="1097280"/>
            <a:ext cx="1938528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782312" y="1097280"/>
            <a:ext cx="171907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18888" y="1243584"/>
            <a:ext cx="475488" cy="475488"/>
          </a:xfrm>
          <a:prstGeom prst="ellipse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18888" y="1243584"/>
            <a:ext cx="475488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85816" y="1280160"/>
            <a:ext cx="1161288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智能表面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37176" y="1874519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4F7FC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37176" y="1874519"/>
            <a:ext cx="5029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P1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37176" y="228600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无屏即屏——IMSE膜+自发光缝线+材质质感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757416" y="1097280"/>
            <a:ext cx="1938528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867144" y="1097280"/>
            <a:ext cx="171907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903720" y="1243584"/>
            <a:ext cx="475488" cy="475488"/>
          </a:xfrm>
          <a:prstGeom prst="ellipse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903720" y="1243584"/>
            <a:ext cx="475488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70648" y="1280160"/>
            <a:ext cx="1161288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智能空间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922007" y="1874519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4F7FC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22007" y="1874519"/>
            <a:ext cx="5029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P1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22007" y="228600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一键变形——Console展开+座椅180°旋转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每个场景都是『触发→系统响应→技术亮点→复位』完整闭环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覆盖 ≥2 种交互方式。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系统架构 &amp; 安全可靠:量产级方法治理复杂度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ARCHITECTURE &amp; SAFETY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10972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109728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1243584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六层系统架构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1627631"/>
            <a:ext cx="3657600" cy="5943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演示/中央控制/显示视频/CAN FD 五域/节点执行/配电安全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617720" y="10972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27448" y="1097280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00600" y="1243584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CAN FD 五域主干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600" y="1627631"/>
            <a:ext cx="3657600" cy="5943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灯光/座椅/机构/舒适/加热健康 · ≥5Mbps · 单节点故障不影响整体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24688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2648" y="2468880"/>
            <a:ext cx="38039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2615184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硬件安全回路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2999232"/>
            <a:ext cx="3657600" cy="5943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急停+STO+限位+电流防夹+加热超温自断 · 独立于软件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17720" y="24688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727448" y="2468880"/>
            <a:ext cx="380390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00600" y="2615184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稳定与兜底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0600" y="2999232"/>
            <a:ext cx="3657600" cy="5943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≥10h 连续运行 · 100 次无故障 · 一键复位 ≤30s · 视频备用+离线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真实电气工程,而非模型搭建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这套架构让『展会不出事、A 类零故障』的承诺有出处。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30 周交付确定性:2026.07 启动 → 2027.01 终验收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30-WEEK ROADMAP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28800" y="1325880"/>
            <a:ext cx="975360" cy="237744"/>
          </a:xfrm>
          <a:prstGeom prst="rect">
            <a:avLst/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0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4160" y="1325880"/>
            <a:ext cx="975360" cy="237744"/>
          </a:xfrm>
          <a:prstGeom prst="rect">
            <a:avLst/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04160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79519" y="1325880"/>
            <a:ext cx="975360" cy="237744"/>
          </a:xfrm>
          <a:prstGeom prst="rect">
            <a:avLst/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79519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54879" y="1325880"/>
            <a:ext cx="975360" cy="237744"/>
          </a:xfrm>
          <a:prstGeom prst="rect">
            <a:avLst/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79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30239" y="1325880"/>
            <a:ext cx="975360" cy="237744"/>
          </a:xfrm>
          <a:prstGeom prst="rect">
            <a:avLst/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30239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05599" y="1325880"/>
            <a:ext cx="975360" cy="237744"/>
          </a:xfrm>
          <a:prstGeom prst="rect">
            <a:avLst/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05599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80959" y="1325880"/>
            <a:ext cx="731520" cy="237744"/>
          </a:xfrm>
          <a:prstGeom prst="rect">
            <a:avLst/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80959" y="1325880"/>
            <a:ext cx="73152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27.01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170992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造型/CAS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28800" y="1755648"/>
            <a:ext cx="3423513" cy="201168"/>
          </a:xfrm>
          <a:prstGeom prst="roundRect">
            <a:avLst>
              <a:gd name="adj" fmla="val 40000"/>
            </a:avLst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207568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硬件开发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355494" y="2121408"/>
            <a:ext cx="4871923" cy="201168"/>
          </a:xfrm>
          <a:prstGeom prst="roundRect">
            <a:avLst>
              <a:gd name="adj" fmla="val 4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244144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软件开发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882188" y="2487168"/>
            <a:ext cx="5266944" cy="201168"/>
          </a:xfrm>
          <a:prstGeom prst="roundRect">
            <a:avLst>
              <a:gd name="adj" fmla="val 40000"/>
            </a:avLst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280720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展车模型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145536" y="2852928"/>
            <a:ext cx="5266944" cy="201168"/>
          </a:xfrm>
          <a:prstGeom prst="roundRect">
            <a:avLst>
              <a:gd name="adj" fmla="val 4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317296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动画/交互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828800" y="3218688"/>
            <a:ext cx="4740249" cy="201168"/>
          </a:xfrm>
          <a:prstGeom prst="roundRect">
            <a:avLst>
              <a:gd name="adj" fmla="val 40000"/>
            </a:avLst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353872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测试(前置)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779008" y="3584448"/>
            <a:ext cx="2633472" cy="201168"/>
          </a:xfrm>
          <a:prstGeom prst="roundRect">
            <a:avLst>
              <a:gd name="adj" fmla="val 4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Diamond 59"/>
          <p:cNvSpPr/>
          <p:nvPr/>
        </p:nvSpPr>
        <p:spPr>
          <a:xfrm>
            <a:off x="3739896" y="1618488"/>
            <a:ext cx="128016" cy="128016"/>
          </a:xfrm>
          <a:prstGeom prst="diamond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55264" y="3913632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M4 骨架</a:t>
            </a:r>
          </a:p>
        </p:txBody>
      </p:sp>
      <p:sp>
        <p:nvSpPr>
          <p:cNvPr id="62" name="Diamond 61"/>
          <p:cNvSpPr/>
          <p:nvPr/>
        </p:nvSpPr>
        <p:spPr>
          <a:xfrm>
            <a:off x="6110020" y="1618488"/>
            <a:ext cx="128016" cy="128016"/>
          </a:xfrm>
          <a:prstGeom prst="diamond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25388" y="3913632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M6 预验收</a:t>
            </a:r>
          </a:p>
        </p:txBody>
      </p:sp>
      <p:sp>
        <p:nvSpPr>
          <p:cNvPr id="64" name="Diamond 63"/>
          <p:cNvSpPr/>
          <p:nvPr/>
        </p:nvSpPr>
        <p:spPr>
          <a:xfrm>
            <a:off x="7887614" y="1618488"/>
            <a:ext cx="128016" cy="128016"/>
          </a:xfrm>
          <a:prstGeom prst="diamond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02982" y="3913632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M7 终验收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并行工程 + 测试 W18 前置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◆ 为里程碑(执行计划口径,合同关键节点以正式合同为准)。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商务与服务范围:价值而非成本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COMMERCIAL &amp; SERVICE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1097280"/>
            <a:ext cx="41148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1097280"/>
            <a:ext cx="389534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1261872"/>
            <a:ext cx="3749039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服务承诺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" y="1673352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162763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免费质保期 ≥ 1 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" y="2039112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199339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展会驻场 ≥2 人 · A 类响应 ≤15min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2404872"/>
            <a:ext cx="109728" cy="109728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235915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远程支持 7×24 · ≤2 小时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" y="2770632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272491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免费软件迭代 ≤3 次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" y="3136391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309067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关键易损件供应 ≥3 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" y="3502152"/>
            <a:ext cx="109728" cy="109728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345643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质保期展会支持 ≥10 次/16 天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00600" y="1097280"/>
            <a:ext cx="384048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910328" y="1097280"/>
            <a:ext cx="362102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0" y="1261872"/>
            <a:ext cx="34747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报价结构(占位)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0" y="1664208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造型与 CMF 设计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43800" y="1682496"/>
            <a:ext cx="914400" cy="246888"/>
          </a:xfrm>
          <a:prstGeom prst="rect">
            <a:avLst/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43800" y="1682496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0" y="2011680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工程与展车制作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43800" y="2029968"/>
            <a:ext cx="914400" cy="246888"/>
          </a:xfrm>
          <a:prstGeom prst="rect">
            <a:avLst/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43800" y="2029968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0" y="2359152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电子电器与机构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43800" y="2377440"/>
            <a:ext cx="914400" cy="246888"/>
          </a:xfrm>
          <a:prstGeom prst="rect">
            <a:avLst/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543800" y="2377440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0" y="2706624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软件/HMI/集成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543800" y="2724912"/>
            <a:ext cx="914400" cy="246888"/>
          </a:xfrm>
          <a:prstGeom prst="rect">
            <a:avLst/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43800" y="2724912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0" y="3054096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动画与传播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543800" y="3072384"/>
            <a:ext cx="914400" cy="246888"/>
          </a:xfrm>
          <a:prstGeom prst="rect">
            <a:avLst/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43800" y="3072384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3401568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展会保障与售后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543800" y="3419856"/>
            <a:ext cx="914400" cy="246888"/>
          </a:xfrm>
          <a:prstGeom prst="rect">
            <a:avLst/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43800" y="3419856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可按概念/工程/样机分阶段推进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每阶段有可验收交付物;具体投入基于项目范围当面测算。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64008" cy="14173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76809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PROVEN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691640"/>
            <a:ext cx="7863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验证过的赢法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926080"/>
            <a:ext cx="7772400" cy="868680"/>
          </a:xfrm>
          <a:prstGeom prst="roundRect">
            <a:avLst>
              <a:gd name="adj" fmla="val 8000"/>
            </a:avLst>
          </a:prstGeom>
          <a:solidFill>
            <a:srgbClr val="112A5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740664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这套打法,真把别的 Tier 1 送进了主机厂的门。下面按说服力排序:从带着创新走进宝马,到自有专利获捷豹路虎官方致谢,再到红点奖与百度 Apollo —— 同一套能力,可跨客户、跨场景复用。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案例证据链:按说服力排序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EVIDENCE, RANKED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10972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1097280"/>
            <a:ext cx="38039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1225295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常熟汽饰 × 宝马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1591056"/>
            <a:ext cx="3657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主导 iX-2024 隐藏式电动长滑轨创新,负责对接与提案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1993391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宝马创新开发契机 + 量产机会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0972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27448" y="109728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00600" y="1225295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椅背磁吸 × 捷豹路虎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1591056"/>
            <a:ext cx="3657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凭 JOMEC 自有专利总成做技术展示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1993391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JLR 认可 + 官方感谢信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24688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2648" y="2468880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2596896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2024 德国红点奖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2962656"/>
            <a:ext cx="3657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JOMEC 申报;iX-2024 两度赴德独立展示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3364992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行业级设计认可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17720" y="24688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727448" y="2468880"/>
            <a:ext cx="380390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00600" y="2596896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百度 Apollo 无人车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600" y="2962656"/>
            <a:ext cx="3657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底盘/造型/工程/硬件/HMI/样车制作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00600" y="3364992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5A1BDF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入藏北京汽车博物馆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「 我们让一家 Tier 1,带着创新走进了宝马的门。 」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这是 PPT 讲不出来的说服力。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重点案例:JoySpace+ 与 船舶智慧驾驶舱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FLAGSHIP CASES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109728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109728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1261872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JoySpace+ × 均胜电子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1645920"/>
            <a:ext cx="3657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沉浸式智能座舱 · 头部 Tier1 共创范式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2075688"/>
            <a:ext cx="100584" cy="1005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2029968"/>
            <a:ext cx="3520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赛博机能美学·连续性光导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2487168"/>
            <a:ext cx="100584" cy="1005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2441448"/>
            <a:ext cx="3520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再生涤纶环保选材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2898648"/>
            <a:ext cx="100584" cy="1005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2852928"/>
            <a:ext cx="3520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天空之镜水晶极光·飞控旋钮·AI智慧体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3310128"/>
            <a:ext cx="100584" cy="1005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3264408"/>
            <a:ext cx="3520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折叠方向盘·电子后视镜·星空顶篷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17720" y="109728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727448" y="1097280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46320" y="1261872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船舶智慧驾驶舱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1645920"/>
            <a:ext cx="3657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座舱创新跨场景延伸 · 能力可迁移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46320" y="2075688"/>
            <a:ext cx="100584" cy="100584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0" y="2029968"/>
            <a:ext cx="3520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七屏智能中枢+数字孪生(国内首创)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46320" y="2487168"/>
            <a:ext cx="100584" cy="100584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0" y="2441448"/>
            <a:ext cx="3520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人脸/手势/无感健康监测/AI语音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846320" y="2898648"/>
            <a:ext cx="100584" cy="100584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0" y="2852928"/>
            <a:ext cx="3520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滑动方向舵·智慧海图桌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46320" y="3310128"/>
            <a:ext cx="100584" cy="100584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0" y="3264408"/>
            <a:ext cx="3520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180°旋转座椅·自适应氛围灯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从汽车到船舶,同一套造型+交互+软硬件+样机能力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证明创新方法论可迁移。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战略合作伙伴生态,提升项目技术含量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PARTNER ECOSYSTEM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1280160"/>
            <a:ext cx="1938528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1280160"/>
            <a:ext cx="171907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97864" y="1508760"/>
            <a:ext cx="548640" cy="548640"/>
          </a:xfrm>
          <a:prstGeom prst="ellipse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7864" y="1508760"/>
            <a:ext cx="548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224028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丰田通商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260604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世界 500 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" y="2907792"/>
            <a:ext cx="1719072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新技术新材料及开发支持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87752" y="1280160"/>
            <a:ext cx="1938528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7480" y="1280160"/>
            <a:ext cx="171907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282696" y="1508760"/>
            <a:ext cx="548640" cy="548640"/>
          </a:xfrm>
          <a:prstGeom prst="ellipse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82696" y="1508760"/>
            <a:ext cx="548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79192" y="224028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CP-VELA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79192" y="260604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国际气联认证工程服务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97480" y="2907792"/>
            <a:ext cx="1719072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新技术新材料开发支持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72584" y="1280160"/>
            <a:ext cx="1938528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782312" y="1280160"/>
            <a:ext cx="171907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367528" y="1508760"/>
            <a:ext cx="548640" cy="548640"/>
          </a:xfrm>
          <a:prstGeom prst="ellipse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67528" y="1508760"/>
            <a:ext cx="548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64024" y="224028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百度 Apollo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64024" y="260604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生态合作(燎原计划)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82312" y="2907792"/>
            <a:ext cx="1719072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已达成生态合作伙伴关系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757416" y="1280160"/>
            <a:ext cx="1938528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67144" y="1280160"/>
            <a:ext cx="171907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452359" y="1508760"/>
            <a:ext cx="548640" cy="548640"/>
          </a:xfrm>
          <a:prstGeom prst="ellipse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52359" y="1508760"/>
            <a:ext cx="548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科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224028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科思创 Covestro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260604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全球领先聚合物供应商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67144" y="2907792"/>
            <a:ext cx="1719072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聚氨酯蜂窝/红外透波PC材料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生态合作不是背书装点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而是把新材料、新技术真正带进华翔的项目。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64008" cy="14173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76809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YOUR FUTURE &amp; NEXT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691640"/>
            <a:ext cx="7863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你将得到什么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926080"/>
            <a:ext cx="7772400" cy="868680"/>
          </a:xfrm>
          <a:prstGeom prst="roundRect">
            <a:avLst>
              <a:gd name="adj" fmla="val 8000"/>
            </a:avLst>
          </a:prstGeom>
          <a:solidFill>
            <a:srgbClr val="112A5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740664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12 个月后,华翔将不再是被动接收主机厂创新需求的硬件供应商,而是带着一台经得起拷问的样机、主导评审现场体验话题的创新合作方。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 个月后的宁波华翔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YOUR FUTURE STATE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109728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109728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1261872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你将拿到的(可验收)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173736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169164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1 台全功能可交互样机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214884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210312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造型数据 + 交互原型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256032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" y="251460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软硬件方案 + 运动机构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297180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292608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台架联调报告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338328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2688" y="333756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可对外演示脚本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17720" y="109728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17720" y="1097280"/>
            <a:ext cx="45720" cy="27432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1261872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竞争位置的转变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1783080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从</a:t>
            </a: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 被动接收体验需求的硬件供应商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6320" y="2423160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46320" y="2788920"/>
            <a:ext cx="36576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到</a:t>
            </a:r>
            <a:r>
              <a:rPr sz="10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 带着能动样机、主导评审现场体验话题的创新合作方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下一次主机厂问『你们能做体验创新吗』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华翔的回答不是 PPT,是一台能让评委坐进去的样机。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22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36576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94944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投资逻辑:一次定点的价值,远大于一台样机的投入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94944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6A8E0"/>
                </a:solidFill>
                <a:latin typeface="Arial"/>
                <a:ea typeface="Arial"/>
                <a:cs typeface="Arial"/>
              </a:rPr>
              <a:t>VALUE, NOT COST</a:t>
            </a:r>
          </a:p>
        </p:txBody>
      </p:sp>
      <p:sp>
        <p:nvSpPr>
          <p:cNvPr id="9" name="Oval 8"/>
          <p:cNvSpPr/>
          <p:nvPr/>
        </p:nvSpPr>
        <p:spPr>
          <a:xfrm>
            <a:off x="736092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722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5352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99832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46136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85048" y="182880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722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5352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9832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46136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38744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329184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092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5352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99832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6136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92440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8744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85048" y="475488"/>
            <a:ext cx="45720" cy="45720"/>
          </a:xfrm>
          <a:prstGeom prst="ellipse">
            <a:avLst/>
          </a:prstGeom>
          <a:solidFill>
            <a:srgbClr val="2E4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841248"/>
            <a:ext cx="9144000" cy="2286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1188720"/>
            <a:ext cx="81381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1188720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1188720"/>
            <a:ext cx="301752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你买的不是设计工时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1920" y="1188720"/>
            <a:ext cx="457200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而是 L3 全功能可交互样机 —— 不是 L1 造型舱,也不是 L2 视频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2103120"/>
            <a:ext cx="81381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" y="2103120"/>
            <a:ext cx="79187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2103120"/>
            <a:ext cx="301752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你买的不是一次性概念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2103120"/>
            <a:ext cx="457200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而是自有专利创新库 —— IP 干净、可复用、规避侵权风险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3017520"/>
            <a:ext cx="81381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2648" y="3017520"/>
            <a:ext cx="79187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3017520"/>
            <a:ext cx="301752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你买的不是本土概念能力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31920" y="3017520"/>
            <a:ext cx="457200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而是德系量产级标准 + 中国速度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3968496"/>
            <a:ext cx="8138160" cy="603504"/>
          </a:xfrm>
          <a:prstGeom prst="roundRect">
            <a:avLst>
              <a:gd name="adj" fmla="val 12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3968496"/>
            <a:ext cx="758952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用一台样机的成本,守住或赢得一次主机厂定点的机会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把投入放回它真正的语境。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DDE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8A95AB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4873752"/>
            <a:ext cx="4114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NEXT STEP · 下一步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先来一场 60 分钟的现场样机演示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不必先谈定点。让华翔团队亲眼看一台 L3 全功能可交互样机能做什么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—— 这是最轻的一步,也是最有说服力的一步。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46120"/>
            <a:ext cx="7863840" cy="960120"/>
          </a:xfrm>
          <a:prstGeom prst="roundRect">
            <a:avLst>
              <a:gd name="adj" fmla="val 8000"/>
            </a:avLst>
          </a:prstGeom>
          <a:solidFill>
            <a:srgbClr val="112A54"/>
          </a:solidFill>
          <a:ln w="9525">
            <a:solidFill>
              <a:srgbClr val="2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246120"/>
            <a:ext cx="54864" cy="9601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64992"/>
            <a:ext cx="74066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联系我们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703320"/>
            <a:ext cx="74066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严 艇 Tim  17740838008 ｜ tim@jomecdesign.com      李成龙 Jason  15000763365 ｜ jason@jomecdesign.com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977639"/>
            <a:ext cx="74066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上海卓迈汽车技术有限公司 ｜ www.jomec-auto.com ｜ JOMEC · SHAPING THE FUTURE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